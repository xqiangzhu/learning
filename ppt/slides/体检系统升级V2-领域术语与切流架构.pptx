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体检系统升级 V2 · CONTEXT.md</a:t>
            </a:r>
          </a:p>
          <a:p>
            <a:r>
              <a:t>领域术语表与切流发布架构</a:t>
            </a:r>
          </a:p>
          <a:p>
            <a:r>
              <a:t>口径来源：CONTEXT.md（体检系统升级V2 领域术语表）。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TO READ</a:t>
            </a:r>
          </a:p>
          <a:p>
            <a:r>
              <a:t>这份 PPT 讲什么</a:t>
            </a:r>
          </a:p>
          <a:p>
            <a:r>
              <a:t>只收录领域术语定义，不含临时实现细节；术语与 ADR 一一对应，评审时统一说法。</a:t>
            </a:r>
          </a:p>
          <a:p>
            <a:r>
              <a:t>一个核心判断：所谓「双端 / 双站」不是物理异地双机房，而是网络共生、逻辑完全隔离的蓝绿发布集群。</a:t>
            </a:r>
          </a:p>
          <a:p>
            <a:r>
              <a:t>一条流量主线：L0 做 100:0 ↔ 0:100 的整站原子拨动，不做渐进式金丝雀；验证全部走站点直连内部域名。</a:t>
            </a:r>
          </a:p>
          <a:p>
            <a:r>
              <a:t>三条配套铁律：数据库只增不改（膨胀与收缩）、任务与 MQ 消费单活、前端 HTML 零缓存并自愈重载。</a:t>
            </a:r>
          </a:p>
          <a:p>
            <a:r>
              <a:t>阅读顺序：站点 → 网关与路由 → 数据库演进 → 发布过渡机制 → 术语速查 / ADR 索引 / 落地检查清单。</a:t>
            </a:r>
          </a:p>
          <a:p>
            <a:r>
              <a:t>【备注】术语口径以 CONTEXT.md 为准；实现细节以 ADR 与发布手册为准。</a:t>
            </a:r>
          </a:p>
          <a:p>
            <a:r>
              <a:t>口径来源：CONTEXT.md（体检系统升级V2 领域术语表）。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AGENDA</a:t>
            </a:r>
          </a:p>
          <a:p>
            <a:r>
              <a:t>目录</a:t>
            </a:r>
          </a:p>
          <a:p>
            <a:r>
              <a:t>基础设施 · 站点（Site / Cluster Zone）：超算区（蓝区）· 南湾区（绿区）· 逻辑双站</a:t>
            </a:r>
          </a:p>
          <a:p>
            <a:r>
              <a:t>网关与流量路由（Routing &amp; Ingress）：L0 统一入口 · L1 站点接入层 · 区域亲和路由 · 整站全量原子切流</a:t>
            </a:r>
          </a:p>
          <a:p>
            <a:r>
              <a:t>数据库与演进模型（Database Evolution）：膨胀与收缩 Expand &amp; Contract · 破坏性变更一票否决</a:t>
            </a:r>
          </a:p>
          <a:p>
            <a:r>
              <a:t>发布与过渡机制（Cutover Mechanics）：连接排空 · 跨站会话共享 · 单活任务/消费者 · HTML 零缓存自愈 · 发版窗口承压</a:t>
            </a:r>
          </a:p>
          <a:p>
            <a:r>
              <a:t>速查与落地（Reference &amp; Checklist）：术语速查表 · ADR 索引 · 落地检查清单</a:t>
            </a:r>
          </a:p>
          <a:p>
            <a:r>
              <a:t>口径来源：CONTEXT.md（体检系统升级V2 领域术语表）。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ARCHITECTURE IN ONE PAGE</a:t>
            </a:r>
          </a:p>
          <a:p>
            <a:r>
              <a:t>一页看懂：网络共生、逻辑隔离的蓝绿双站</a:t>
            </a:r>
          </a:p>
          <a:p>
            <a:r>
              <a:t>同一机房同一内网的两套应用集群，通过独立注册中心 + 区域标签隔离；数据层与缓存集中共享，任务与消费单活。</a:t>
            </a:r>
          </a:p>
          <a:p>
            <a:r>
              <a:t>口径来源：CONTEXT.md（体检系统升级V2 领域术语表）。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基础设施 · 站点</a:t>
            </a:r>
          </a:p>
          <a:p>
            <a:r>
              <a:t>先厘清「双站到底是什么」：不是异地双机房，而是同内网里的两套蓝绿集群。</a:t>
            </a:r>
          </a:p>
          <a:p>
            <a:r>
              <a:t>口径来源：CONTEXT.md（体检系统升级V2 领域术语表）。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站点 · SITE / CLUSTER ZONE</a:t>
            </a:r>
          </a:p>
          <a:p>
            <a:r>
              <a:t>蓝区与绿区：同机房同内网的两套集群</a:t>
            </a:r>
          </a:p>
          <a:p>
            <a:r>
              <a:t>超算区 / 蓝区（Supercomputing Zone）：原有应用集群，10.142 网段；与南湾区同机房、同一内网；承载常态主业务流量；挂载全量数据层；统一 Redis 集中部署在本站（跨站会话共享）</a:t>
            </a:r>
          </a:p>
          <a:p>
            <a:r>
              <a:t>南湾区 / 绿区（Nanwan Zone）：新建应用集群，10.20 网段；同属同机房同一内网拓扑；RTT 与超算对等，延迟忽略不计；独立注册中心集群，服务发现互不干扰；切流后独自承接 100% 生产流量</a:t>
            </a:r>
          </a:p>
          <a:p>
            <a:r>
              <a:t>【备注】两站通过各自独立的注册中心集群隔离服务发现 —— 网络共生，逻辑隔离。</a:t>
            </a:r>
          </a:p>
          <a:p>
            <a:r>
              <a:t>口径来源：CONTEXT.md（体检系统升级V2 领域术语表）。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站点 · SITE / CLUSTER ZONE</a:t>
            </a:r>
          </a:p>
          <a:p>
            <a:r>
              <a:t>逻辑双站 / 蓝绿集群：四个维度的准确口径</a:t>
            </a:r>
          </a:p>
          <a:p>
            <a:r>
              <a:t>Logical Dual Clusters —— 评审时最容易说错的一个词，按下面四行统一说法。</a:t>
            </a:r>
          </a:p>
          <a:p>
            <a:r>
              <a:t>本质 | 网络共生、逻辑完全隔离的蓝绿发布集群；不是物理异地双机房</a:t>
            </a:r>
          </a:p>
          <a:p>
            <a:r>
              <a:t>目的 | 实现环境隔离与快速切流；不追求物理异地双机房形态</a:t>
            </a:r>
          </a:p>
          <a:p>
            <a:r>
              <a:t>网络位置 | 同机房、同一内网拓扑；RTT 与超算对等，跨站网络延迟忽略不计</a:t>
            </a:r>
          </a:p>
          <a:p>
            <a:r>
              <a:t>隔离手段 | 各自独立的注册中心集群隔离服务发现 + CLUSTER_ZONE 区域亲和路由</a:t>
            </a:r>
          </a:p>
          <a:p>
            <a:r>
              <a:t>【备注】推论：网络层不阻断跨站调用，隔离责任落在「注册中心 + 标签路由」上（详见 ADR 0003）。</a:t>
            </a:r>
          </a:p>
          <a:p>
            <a:r>
              <a:t>口径来源：CONTEXT.md（体检系统升级V2 领域术语表）。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网关与流量路由</a:t>
            </a:r>
          </a:p>
          <a:p>
            <a:r>
              <a:t>两层网关决定「流量去哪个站、站内前后端如何闭合」，标签路由决定「不许跨站串门」。</a:t>
            </a:r>
          </a:p>
          <a:p>
            <a:r>
              <a:t>口径来源：CONTEXT.md（体检系统升级V2 领域术语表）。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路由 · ROUTING &amp; INGRESS</a:t>
            </a:r>
          </a:p>
          <a:p>
            <a:r>
              <a:t>两层网关：L0 管去向，L1 管闭合</a:t>
            </a:r>
          </a:p>
          <a:p>
            <a:r>
              <a:t>L0 统一入口（L0 Ingress Gateway）：部署于前置的高可用入口反向代理层；承担整站全量流量的「总开关」角色；控制超算与南湾的权重分配；严格执行 100:0 或 0:100 原子切换；不提供中间态权重（无金丝雀）</a:t>
            </a:r>
          </a:p>
          <a:p>
            <a:r>
              <a:t>L1 站点接入层（L1 Site Ingress）：站点内部的前置接入层；分发本站静态前端资源；反向代理后端 API 请求；铁律：本站前端必调本站后端；上线验证可直连本站内部域名</a:t>
            </a:r>
          </a:p>
          <a:p>
            <a:r>
              <a:t>【备注】L0 只做「全量拨向哪一站」；站内前后端的对应关系由 L1 保证，两层职责不混用。</a:t>
            </a:r>
          </a:p>
          <a:p>
            <a:r>
              <a:t>口径来源：CONTEXT.md（体检系统升级V2 领域术语表）。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路由 · ROUTING &amp; INGRESS｜ADR 0003</a:t>
            </a:r>
          </a:p>
          <a:p>
            <a:r>
              <a:t>区域亲和路由：Zone-Affinity Routing</a:t>
            </a:r>
          </a:p>
          <a:p>
            <a:r>
              <a:t>同内网意味着网络层默认可达，跨站「串门」只能靠元数据标签与注册中心隔离来杜绝。</a:t>
            </a:r>
          </a:p>
          <a:p>
            <a:r>
              <a:t>① 注入标签：微服务实例启动时注入所属集群元数据标签 CLUSTER_ZONE</a:t>
            </a:r>
          </a:p>
          <a:p>
            <a:r>
              <a:t>② 同区调用：RPC 客户端严格只调用同一区域的服务实例</a:t>
            </a:r>
          </a:p>
          <a:p>
            <a:r>
              <a:t>③ 隔离生效：杜绝同内网跨站串门调用，蓝绿两站互不干扰</a:t>
            </a:r>
          </a:p>
          <a:p>
            <a:r>
              <a:t>【强调】红线：出现跨区 RPC 调用即视为隔离失效 —— 会让「原子切流」失去意义，用户在两个版本之间被混调。</a:t>
            </a:r>
          </a:p>
          <a:p>
            <a:r>
              <a:t>【备注】决策依据：ADR 0003 cross-cluster-service-isolation（跨集群服务隔离）。</a:t>
            </a:r>
          </a:p>
          <a:p>
            <a:r>
              <a:t>口径来源：CONTEXT.md（体检系统升级V2 领域术语表）。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路由 · ROUTING &amp; INGRESS｜ADR 0005</a:t>
            </a:r>
          </a:p>
          <a:p>
            <a:r>
              <a:t>整站全量原子切流：Atomic All-or-Nothing Cutover</a:t>
            </a:r>
          </a:p>
          <a:p>
            <a:r>
              <a:t>切换前（100 : 0）：超算区承载常态主业务流量；南湾区待命：任务与消费挂起；版本 N 在线上运行</a:t>
            </a:r>
          </a:p>
          <a:p>
            <a:r>
              <a:t>瞬时拨动（No Canary）：不采用渐进式金丝雀权重；流量只在 100:0 与 0:100 之间瞬时拨动；无中间态、无按用户比例灰度</a:t>
            </a:r>
          </a:p>
          <a:p>
            <a:r>
              <a:t>切换后（0 : 100）：南湾区承接全量生产流量；上线验证依托站点直连内部域名；版本 N+1 生效</a:t>
            </a:r>
          </a:p>
          <a:p>
            <a:r>
              <a:t>【强调】目的：杜绝用户在两个版本间反复横跳；代价：接流站必须独自扛住 100% 流量（见「发版窗口承压」）。</a:t>
            </a:r>
          </a:p>
          <a:p>
            <a:r>
              <a:t>【备注】决策依据：ADR 0005 atomic-cutover-no-canary（原子切流、不做金丝雀）。</a:t>
            </a:r>
          </a:p>
          <a:p>
            <a:r>
              <a:t>口径来源：CONTEXT.md（体检系统升级V2 领域术语表）。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数据库与演进模型</a:t>
            </a:r>
          </a:p>
          <a:p>
            <a:r>
              <a:t>共享单数据库是原子切流的前提，也是最大的回滚风险点：所以 Schema 只能先膨胀、后收缩。</a:t>
            </a:r>
          </a:p>
          <a:p>
            <a:r>
              <a:t>口径来源：CONTEXT.md（体检系统升级V2 领域术语表）。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数据库 · DATABASE EVOLUTION｜ADR 0002</a:t>
            </a:r>
          </a:p>
          <a:p>
            <a:r>
              <a:t>膨胀与收缩：Expand and Contract</a:t>
            </a:r>
          </a:p>
          <a:p>
            <a:r>
              <a:t>针对共享单数据库系统的两阶段架构演进模式，用「时间差」换「可回滚」。</a:t>
            </a:r>
          </a:p>
          <a:p>
            <a:r>
              <a:t>Expand 膨胀：只新增，不修改：发布新版时只新增字段或表，同时兼顾新旧两个版本的读写；老字段保持原样可用。</a:t>
            </a:r>
          </a:p>
          <a:p>
            <a:r>
              <a:t>Soak 稳定期：至少一个周期：新版本稳定运行至少一个周期后再动手清理；这段时间就是回滚窗口。</a:t>
            </a:r>
          </a:p>
          <a:p>
            <a:r>
              <a:t>Contract 收缩：物理下线老字段：确认无需回滚后，物理下线并删除老字段，收敛数据模型。</a:t>
            </a:r>
          </a:p>
          <a:p>
            <a:r>
              <a:t>【强调】验收口径：回滚至旧版本代码时，数据库仍可无痛读写 —— 这是 Expand 阶段「兼顾新旧版本」的唯一目的。</a:t>
            </a:r>
          </a:p>
          <a:p>
            <a:r>
              <a:t>【备注】决策依据：ADR 0002 database-expand-and-contract（数据库膨胀与收缩）。</a:t>
            </a:r>
          </a:p>
          <a:p>
            <a:r>
              <a:t>口径来源：CONTEXT.md（体检系统升级V2 领域术语表）。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数据库 · DATABASE EVOLUTION</a:t>
            </a:r>
          </a:p>
          <a:p>
            <a:r>
              <a:t>破坏性变更一票否决：Destructive DDL Ban</a:t>
            </a:r>
          </a:p>
          <a:p>
            <a:r>
              <a:t>线上发版前严格禁止以下三类 DDL —— 任何一条都会让「回滚到旧版本代码」直接失败。</a:t>
            </a:r>
          </a:p>
          <a:p>
            <a:r>
              <a:t>字段重命名（RENAME COLUMN）：旧版本代码按老名字读写；发版即报错、回滚也报错；替代：新增新名字段，兼容新旧版本</a:t>
            </a:r>
          </a:p>
          <a:p>
            <a:r>
              <a:t>存量表加非空字段（ADD NOT NULL）：存量行没有值，写入即失败；旧版本 INSERT 不带新列；替代：新增可空字段，应用层写默认值</a:t>
            </a:r>
          </a:p>
          <a:p>
            <a:r>
              <a:t>即时删表 / 删列（DROP TABLE/COLUMN）：跳过稳定期直接物理下线；回滚窗口被一次性销毁；替代：留到稳定期后的 Contract 阶段</a:t>
            </a:r>
          </a:p>
          <a:p>
            <a:r>
              <a:t>【强调】口径：破坏性 DDL 不是「谨慎执行」，而是「发版前一票否决」；清理动作只允许出现在稳定期之后的 Contract 阶段。</a:t>
            </a:r>
          </a:p>
          <a:p>
            <a:r>
              <a:t>【备注】替代做法列为 Expand &amp; Contract 模式的直接推论（ADR 0002）。</a:t>
            </a:r>
          </a:p>
          <a:p>
            <a:r>
              <a:t>口径来源：CONTEXT.md（体检系统升级V2 领域术语表）。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发布与过渡机制</a:t>
            </a:r>
          </a:p>
          <a:p>
            <a:r>
              <a:t>原子拨动只是一瞬间；真正决定发版成败的是拨动前后的这五个过渡机制。</a:t>
            </a:r>
          </a:p>
          <a:p>
            <a:r>
              <a:t>口径来源：CONTEXT.md（体检系统升级V2 领域术语表）。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发布过渡 · CUTOVER MECHANICS</a:t>
            </a:r>
          </a:p>
          <a:p>
            <a:r>
              <a:t>切流时序：拨动前后各发生什么</a:t>
            </a:r>
          </a:p>
          <a:p>
            <a:r>
              <a:t>按 CONTEXT.md 的术语关系推导的顺序示意，用于评审对齐；具体 SOP 以发布手册与演练脚本为准。</a:t>
            </a:r>
          </a:p>
          <a:p>
            <a:r>
              <a:t>T1 L0 原子拨动：整站全量原子切流：权重 100:0 → 0:100 瞬时拨动，不设中间态。</a:t>
            </a:r>
          </a:p>
          <a:p>
            <a:r>
              <a:t>T2 用户无感接管：跨站会话共享：统一 Redis（超算站）共享 Token，切流瞬间免于重新登录。</a:t>
            </a:r>
          </a:p>
          <a:p>
            <a:r>
              <a:t>T3 单活任务切换：新接流站激活 MQ 拉取消费与定时任务调度，原接流站自动挂起，杜绝重复记账。</a:t>
            </a:r>
          </a:p>
          <a:p>
            <a:r>
              <a:t>T4 旧站连接排空：切断新请求流入后，允许在途写事务与长请求自然收敛结束，等待活跃连接归零。</a:t>
            </a:r>
          </a:p>
          <a:p>
            <a:r>
              <a:t>T5 旧站方可动工：活跃连接归零后才允许关闭或更新应用，避免事务中断与数据悬空。</a:t>
            </a:r>
          </a:p>
          <a:p>
            <a:r>
              <a:t>T6 窗口承压观察：接流站以精简合署节点扛全量：P95 恶化 &lt;20% 为门禁，超限触发扩容预案。</a:t>
            </a:r>
          </a:p>
          <a:p>
            <a:r>
              <a:t>【强调】前端并行生效：HTML 零缓存 + Chunk 加载异常捕获，发现版本落后即自动优雅重载，避免老页面调新接口白屏（ADR 0004）。</a:t>
            </a:r>
          </a:p>
          <a:p>
            <a:r>
              <a:t>【备注】T1–T6 为按术语依赖关系推导的示意顺序，非 CONTEXT.md 原文编号。</a:t>
            </a:r>
          </a:p>
          <a:p>
            <a:r>
              <a:t>口径来源：CONTEXT.md（体检系统升级V2 领域术语表）。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发布过渡 · CUTOVER MECHANICS</a:t>
            </a:r>
          </a:p>
          <a:p>
            <a:r>
              <a:t>拨动瞬间的三大保障：会话、任务、前端</a:t>
            </a:r>
          </a:p>
          <a:p>
            <a:r>
              <a:t>跨站会话共享（Cross-site Shared Session）：统一 Redis 集中部署在超算站；实现分布式 Token 共享；切流瞬间用户免于重新登录</a:t>
            </a:r>
          </a:p>
          <a:p>
            <a:r>
              <a:t>单活任务 / 消费者管控（Single-Active Task &amp; MQ Consumer）：同一时刻仅接流集群激活；MQ 拉取消费 + 定时任务调度；待命端自动挂起；杜绝并发竞争消费与重复记账</a:t>
            </a:r>
          </a:p>
          <a:p>
            <a:r>
              <a:t>HTML 零缓存与自愈重载（Zero-Cache HTML &amp; Self-Healing Reload）：Web 入口文件禁止一切强缓存；框架集成 Chunk 加载异常捕获；切流 / 版本落后时自动优雅重载；避免老页面调新接口白屏</a:t>
            </a:r>
          </a:p>
          <a:p>
            <a:r>
              <a:t>【备注】三者共同保证「瞬时拨动」对用户与数据都是无感的：会话不断、账不重复、页面不白屏。</a:t>
            </a:r>
          </a:p>
          <a:p>
            <a:r>
              <a:t>口径来源：CONTEXT.md（体检系统升级V2 领域术语表）。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发布过渡 · CUTOVER MECHANICS</a:t>
            </a:r>
          </a:p>
          <a:p>
            <a:r>
              <a:t>发版窗口承压：Release-Window Capacity Acceptance</a:t>
            </a:r>
          </a:p>
          <a:p>
            <a:r>
              <a:t>不做金丝雀的代价 —— 接流站要在发版窗口内独自承接 100% 生产流量，这是已接受的风险。</a:t>
            </a:r>
          </a:p>
          <a:p>
            <a:r>
              <a:t>已接受的风险（Accepted Risk）：承接 100% 生产流量的站点；以精简合署节点承载；发版窗口内允许性能降级；属于事前明示、已被接受的风险</a:t>
            </a:r>
          </a:p>
          <a:p>
            <a:r>
              <a:t>门禁与预案（Gate &amp; Fallback）：P95 恶化上限 &lt;20%（量化门禁）；全链路演练验证通过（准入门禁）；超限触发扩容预案；与「整站全量原子切流」配套生效</a:t>
            </a:r>
          </a:p>
          <a:p>
            <a:r>
              <a:t>【备注】结论：风险可以接受，但必须有量化门禁（P95 &lt;20%）与演练证据，超限就走扩容预案。</a:t>
            </a:r>
          </a:p>
          <a:p>
            <a:r>
              <a:t>口径来源：CONTEXT.md（体检系统升级V2 领域术语表）。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REFERENCE 1/2</a:t>
            </a:r>
          </a:p>
          <a:p>
            <a:r>
              <a:t>术语速查表（1/2）：站点 · 网关与流量路由</a:t>
            </a:r>
          </a:p>
          <a:p>
            <a:r>
              <a:t>超算区 / 蓝区 | Supercomputing Zone | 原有集群（10.142 网段），同机房同内网，承载常态主业务流量，挂载全量数据层 | site</a:t>
            </a:r>
          </a:p>
          <a:p>
            <a:r>
              <a:t>南湾区 / 绿区 | Nanwan Zone | 新建集群（10.20 网段），同机房同内网、RTT 对等；独立注册中心隔离服务发现 | site</a:t>
            </a:r>
          </a:p>
          <a:p>
            <a:r>
              <a:t>逻辑双站 / 蓝绿集群 | Logical Dual Clusters | 网络共生、逻辑完全隔离的蓝绿发布集群，用于环境隔离与快速切流，非物理异地双机房 | site</a:t>
            </a:r>
          </a:p>
          <a:p>
            <a:r>
              <a:t>L0 统一入口 | L0 Ingress Gateway | 前置高可用入口反代，整站全量流量总开关，权重严格 100:0 或 0:100 原子切换 | route</a:t>
            </a:r>
          </a:p>
          <a:p>
            <a:r>
              <a:t>L1 站点接入层 | L1 Site Ingress | 站内前置接入层，分发本站静态资源并反代 API：本站前端必调本站后端 | route</a:t>
            </a:r>
          </a:p>
          <a:p>
            <a:r>
              <a:t>区域亲和路由 | Zone-Affinity Routing | 实例启动注入 CLUSTER_ZONE 标签，RPC 严格同区调用，杜绝跨站串门（ADR 0003） | route</a:t>
            </a:r>
          </a:p>
          <a:p>
            <a:r>
              <a:t>整站全量原子切流 | Atomic All-or-Nothing Cutover | 不做金丝雀，流量在 100:0 与 0:100 间瞬时拨动；验证依托站点直连内部域名（ADR 0005） | route</a:t>
            </a:r>
          </a:p>
          <a:p>
            <a:r>
              <a:t>口径来源：CONTEXT.md（体检系统升级V2 领域术语表）。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REFERENCE 2/2</a:t>
            </a:r>
          </a:p>
          <a:p>
            <a:r>
              <a:t>术语速查表（2/2）：数据库演进 · 发布与过渡机制</a:t>
            </a:r>
          </a:p>
          <a:p>
            <a:r>
              <a:t>膨胀与收缩 | Expand and Contract | 先只新增字段/表以兼顾新旧版本，稳定至少一个周期后再物理下线老字段（ADR 0002） | db</a:t>
            </a:r>
          </a:p>
          <a:p>
            <a:r>
              <a:t>破坏性变更一票否决 | Destructive DDL Ban | 发版前禁止字段重命名、存量表直接加非空字段、即时删表删列 | db</a:t>
            </a:r>
          </a:p>
          <a:p>
            <a:r>
              <a:t>连接排空 | Connection Draining | 切断新请求后允许在途写事务与长请求收敛，活跃连接归零才可关闭或更新应用 | cut</a:t>
            </a:r>
          </a:p>
          <a:p>
            <a:r>
              <a:t>跨站会话共享 | Cross-site Shared Session | 统一 Redis 集中部署在超算站，共享分布式 Token，切流瞬间免于重新登录 | cut</a:t>
            </a:r>
          </a:p>
          <a:p>
            <a:r>
              <a:t>单活任务 / 消费者管控 | Single-Active Task &amp; MQ Consumer | 仅接流集群激活 MQ 消费与定时任务调度，待命端挂起，杜绝重复记账（ADR 0001） | cut</a:t>
            </a:r>
          </a:p>
          <a:p>
            <a:r>
              <a:t>HTML 零缓存与自愈重载 | Zero-Cache HTML &amp; Self-Healing Reload | 入口 HTML 禁一切强缓存；Chunk 异常捕获后自动优雅重载，避免白屏（ADR 0004） | cut</a:t>
            </a:r>
          </a:p>
          <a:p>
            <a:r>
              <a:t>发版窗口承压 | Release-Window Capacity Acceptance | 接流站以精简合署节点扛全量、允许性能降级；P95 恶化 &lt;20% + 全链路演练为门禁 | cut</a:t>
            </a:r>
          </a:p>
          <a:p>
            <a:r>
              <a:t>口径来源：CONTEXT.md（体检系统升级V2 领域术语表）。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DECISIONS</a:t>
            </a:r>
          </a:p>
          <a:p>
            <a:r>
              <a:t>ADR 索引：术语背后的决策记录</a:t>
            </a:r>
          </a:p>
          <a:p>
            <a:r>
              <a:t>术语只说「是什么」，ADR 说「为什么这么定」。评审时遇到分歧，回到对应 ADR。</a:t>
            </a:r>
          </a:p>
          <a:p>
            <a:r>
              <a:t>0001 | single-active-jobs-and-mq｜单活任务与 MQ 消费者 | 单活任务 / 消费者管控、切流时序 T3</a:t>
            </a:r>
          </a:p>
          <a:p>
            <a:r>
              <a:t>0002 | database-expand-and-contract｜数据库膨胀与收缩 | 膨胀与收缩、破坏性变更一票否决</a:t>
            </a:r>
          </a:p>
          <a:p>
            <a:r>
              <a:t>0003 | cross-cluster-service-isolation｜跨集群服务隔离 | 区域亲和路由、逻辑双站 / 蓝绿集群</a:t>
            </a:r>
          </a:p>
          <a:p>
            <a:r>
              <a:t>0004 | frontend-cache-and-api-compatibility｜前端缓存与 API 兼容 | HTML 零缓存与自愈重载</a:t>
            </a:r>
          </a:p>
          <a:p>
            <a:r>
              <a:t>0005 | atomic-cutover-no-canary｜原子切流、不做金丝雀 | 整站全量原子切流、发版窗口承压</a:t>
            </a:r>
          </a:p>
          <a:p>
            <a:r>
              <a:t>【备注】ADR 原文位于源工程 docs/adr/ 目录；本页主题按文件名与 CONTEXT.md 的引用整理。</a:t>
            </a:r>
          </a:p>
          <a:p>
            <a:r>
              <a:t>口径来源：CONTEXT.md（体检系统升级V2 领域术语表）。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CHECKLIST</a:t>
            </a:r>
          </a:p>
          <a:p>
            <a:r>
              <a:t>落地检查清单：发版评审逐项打勾</a:t>
            </a:r>
          </a:p>
          <a:p>
            <a:r>
              <a:t>每条都对应一个术语口径；任何一条不满足，原子切流的前提就不成立。</a:t>
            </a:r>
          </a:p>
          <a:p>
            <a:r>
              <a:t>路由与隔离：L0 权重只有 100:0 / 0:100，无中间态；上线验证走站点直连内部域名，不依赖 L0 分流；每个实例启动都注入 CLUSTER_ZONE 标签；RPC 客户端无跨区调用（区域亲和生效）；蓝绿各自独立注册中心，互不注册</a:t>
            </a:r>
          </a:p>
          <a:p>
            <a:r>
              <a:t>数据库：本次 DDL 只新增字段 / 表（Expand）；无字段重命名、无存量表加非空字段；无即时删表删列；老字段留到 Contract 阶段；回滚到旧版本代码可无痛读写数据库；稳定期 ≥ 一个周期后才安排收缩</a:t>
            </a:r>
          </a:p>
          <a:p>
            <a:r>
              <a:t>发布执行：切流后等在途事务收敛、活跃连接归零再动工；MQ 消费与定时任务仅一站激活，待命站挂起；Token / 会话走统一 Redis，切流不重登；HTML 入口零缓存 + Chunk 自愈重载已接入；全链路演练通过，P95 恶化 &lt;20%，扩容预案就绪</a:t>
            </a:r>
          </a:p>
          <a:p>
            <a:r>
              <a:t>【备注】清单为术语口径的可执行化整理（推导项），用于评审自检；不替代发布手册的正式 SOP。</a:t>
            </a:r>
          </a:p>
          <a:p>
            <a:r>
              <a:t>口径来源：CONTEXT.md（体检系统升级V2 领域术语表）。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谢谢 · 讨论与质询</a:t>
            </a:r>
          </a:p>
          <a:p>
            <a:r>
              <a:t>100:0 = L0 原子切换 无中间态权重</a:t>
            </a:r>
          </a:p>
          <a:p>
            <a:r>
              <a:t>&lt;20% = 发版窗口 P95 恶化上限门禁</a:t>
            </a:r>
          </a:p>
          <a:p>
            <a:r>
              <a:t>≥1 周期 = Expand 稳定期 后才 Contract</a:t>
            </a:r>
          </a:p>
          <a:p>
            <a:r>
              <a:t>口径来源：CONTEXT.md（体检系统升级V2 领域术语表）。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deco-ring"/>
          <p:cNvSpPr/>
          <p:nvPr/>
        </p:nvSpPr>
        <p:spPr>
          <a:xfrm>
            <a:off x="8808415" y="-3063239"/>
            <a:ext cx="5120640" cy="5120640"/>
          </a:xfrm>
          <a:prstGeom prst="ellipse">
            <a:avLst/>
          </a:prstGeom>
          <a:solidFill>
            <a:srgbClr val="17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o-ring"/>
          <p:cNvSpPr/>
          <p:nvPr/>
        </p:nvSpPr>
        <p:spPr>
          <a:xfrm>
            <a:off x="9677095" y="-2194560"/>
            <a:ext cx="3383280" cy="3383280"/>
          </a:xfrm>
          <a:prstGeom prst="ellipse">
            <a:avLst/>
          </a:prstGeom>
          <a:solidFill>
            <a:srgbClr val="1B3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o-ring"/>
          <p:cNvSpPr/>
          <p:nvPr/>
        </p:nvSpPr>
        <p:spPr>
          <a:xfrm>
            <a:off x="10454335" y="-1417320"/>
            <a:ext cx="1828800" cy="1828800"/>
          </a:xfrm>
          <a:prstGeom prst="ellipse">
            <a:avLst/>
          </a:prstGeom>
          <a:solidFill>
            <a:srgbClr val="0F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298448"/>
            <a:ext cx="9046159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1200" b="1" i="0" spc="150">
                <a:solidFill>
                  <a:srgbClr val="12A5B8"/>
                </a:solidFill>
                <a:latin typeface="Microsoft YaHei"/>
                <a:ea typeface="Microsoft YaHei"/>
                <a:cs typeface="Microsoft YaHei"/>
              </a:rPr>
              <a:t>体检系统升级 V2 · CONTEXT.md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55648"/>
            <a:ext cx="9777679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领域术语表与切流发布架构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761488"/>
            <a:ext cx="1051560" cy="50292"/>
          </a:xfrm>
          <a:prstGeom prst="rect">
            <a:avLst/>
          </a:prstGeom>
          <a:solidFill>
            <a:srgbClr val="12A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999232"/>
            <a:ext cx="9411919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CBD6E2"/>
                </a:solidFill>
                <a:latin typeface="Microsoft YaHei"/>
                <a:ea typeface="Microsoft YaHei"/>
                <a:cs typeface="Microsoft YaHei"/>
              </a:rPr>
              <a:t>统一语言 Ubiquitous Language｜蓝绿双站 · 整站全量原子切流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4041648"/>
            <a:ext cx="1874519" cy="493776"/>
          </a:xfrm>
          <a:prstGeom prst="roundRect">
            <a:avLst>
              <a:gd name="adj" fmla="val 50000"/>
            </a:avLst>
          </a:prstGeom>
          <a:solidFill>
            <a:srgbClr val="17324F"/>
          </a:solidFill>
          <a:ln w="12700">
            <a:solidFill>
              <a:srgbClr val="0F5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4041648"/>
            <a:ext cx="1874519" cy="49377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6000"/>
              </a:lnSpc>
            </a:pPr>
            <a:r>
              <a:rPr sz="11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 个术语域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70631" y="4041648"/>
            <a:ext cx="1874519" cy="493776"/>
          </a:xfrm>
          <a:prstGeom prst="roundRect">
            <a:avLst>
              <a:gd name="adj" fmla="val 50000"/>
            </a:avLst>
          </a:prstGeom>
          <a:solidFill>
            <a:srgbClr val="17324F"/>
          </a:solidFill>
          <a:ln w="12700">
            <a:solidFill>
              <a:srgbClr val="0F5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70631" y="4041648"/>
            <a:ext cx="1874519" cy="49377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6000"/>
              </a:lnSpc>
            </a:pPr>
            <a:r>
              <a:rPr sz="11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14 个核心术语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82895" y="4041648"/>
            <a:ext cx="1874519" cy="493776"/>
          </a:xfrm>
          <a:prstGeom prst="roundRect">
            <a:avLst>
              <a:gd name="adj" fmla="val 50000"/>
            </a:avLst>
          </a:prstGeom>
          <a:solidFill>
            <a:srgbClr val="17324F"/>
          </a:solidFill>
          <a:ln w="12700">
            <a:solidFill>
              <a:srgbClr val="0F5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82895" y="4041648"/>
            <a:ext cx="1874519" cy="49377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6000"/>
              </a:lnSpc>
            </a:pPr>
            <a:r>
              <a:rPr sz="11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 篇 ADR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57607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1000" b="0" i="0">
                <a:solidFill>
                  <a:srgbClr val="8FA3B8"/>
                </a:solidFill>
                <a:latin typeface="Microsoft YaHei"/>
                <a:ea typeface="Microsoft YaHei"/>
                <a:cs typeface="Microsoft YaHei"/>
              </a:rPr>
              <a:t>来源：CONTEXT.md · 关联决策：ADR 0001–0005 · 生成日期 2026-10-20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739128"/>
            <a:ext cx="4937760" cy="118872"/>
          </a:xfrm>
          <a:prstGeom prst="rect">
            <a:avLst/>
          </a:prstGeom>
          <a:solidFill>
            <a:srgbClr val="2E6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937760" y="6739128"/>
            <a:ext cx="2286000" cy="118872"/>
          </a:xfrm>
          <a:prstGeom prst="rect">
            <a:avLst/>
          </a:prstGeom>
          <a:solidFill>
            <a:srgbClr val="12A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223760" y="6739128"/>
            <a:ext cx="4967935" cy="118872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658368" y="6437376"/>
            <a:ext cx="10874959" cy="0"/>
          </a:xfrm>
          <a:prstGeom prst="line">
            <a:avLst/>
          </a:prstGeom>
          <a:ln w="9525">
            <a:solidFill>
              <a:srgbClr val="1732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58368" y="6492240"/>
            <a:ext cx="977767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850" b="0" i="0">
                <a:solidFill>
                  <a:srgbClr val="8FA3B8"/>
                </a:solidFill>
                <a:latin typeface="Microsoft YaHei"/>
                <a:ea typeface="Microsoft YaHei"/>
                <a:cs typeface="Microsoft YaHei"/>
              </a:rPr>
              <a:t>体检系统升级 V2 · 领域术语表（Ubiquitous Language）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36047" y="649224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6000"/>
              </a:lnSpc>
            </a:pPr>
            <a:r>
              <a:rPr sz="850" b="0" i="0">
                <a:solidFill>
                  <a:srgbClr val="8FA3B8"/>
                </a:solidFill>
                <a:latin typeface="Microsoft YaHei"/>
                <a:ea typeface="Microsoft YaHei"/>
                <a:cs typeface="Microsoft YaHei"/>
              </a:rPr>
              <a:t>01 / 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02336"/>
            <a:ext cx="1087495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1000" b="1" i="0" spc="110">
                <a:solidFill>
                  <a:srgbClr val="12A5B8"/>
                </a:solidFill>
                <a:latin typeface="Microsoft YaHei"/>
                <a:ea typeface="Microsoft YaHei"/>
                <a:cs typeface="Microsoft YaHei"/>
              </a:rPr>
              <a:t>HOW TO READ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"/>
            <a:ext cx="10874959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这份 PPT 讲什么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170432"/>
            <a:ext cx="603504" cy="41148"/>
          </a:xfrm>
          <a:prstGeom prst="rect">
            <a:avLst/>
          </a:prstGeom>
          <a:solidFill>
            <a:srgbClr val="12A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371600" y="1191463"/>
            <a:ext cx="10161727" cy="0"/>
          </a:xfrm>
          <a:prstGeom prst="line">
            <a:avLst/>
          </a:prstGeom>
          <a:ln w="9525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1280160"/>
            <a:ext cx="10692079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只收录领域术语定义，不含临时实现细节；术语与 ADR 一一对应，评审时统一说法。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938528"/>
            <a:ext cx="475488" cy="731520"/>
          </a:xfrm>
          <a:prstGeom prst="roundRect">
            <a:avLst>
              <a:gd name="adj" fmla="val 22000"/>
            </a:avLst>
          </a:prstGeom>
          <a:solidFill>
            <a:srgbClr val="E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938528"/>
            <a:ext cx="475488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6000"/>
              </a:lnSpc>
            </a:pPr>
            <a:r>
              <a:rPr sz="1400" b="1" i="0">
                <a:solidFill>
                  <a:srgbClr val="0B7C8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956816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1450" b="1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一个核心判断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1938528"/>
            <a:ext cx="7692847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所谓「双端 / 双站」不是物理异地双机房，而是网络共生、逻辑完全隔离的蓝绿发布集群。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389888" y="2825496"/>
            <a:ext cx="10143439" cy="0"/>
          </a:xfrm>
          <a:prstGeom prst="line">
            <a:avLst/>
          </a:prstGeom>
          <a:ln w="9525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58368" y="2999232"/>
            <a:ext cx="475488" cy="731520"/>
          </a:xfrm>
          <a:prstGeom prst="roundRect">
            <a:avLst>
              <a:gd name="adj" fmla="val 22000"/>
            </a:avLst>
          </a:prstGeom>
          <a:solidFill>
            <a:srgbClr val="E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999232"/>
            <a:ext cx="475488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6000"/>
              </a:lnSpc>
            </a:pPr>
            <a:r>
              <a:rPr sz="1400" b="1" i="0">
                <a:solidFill>
                  <a:srgbClr val="0B7C8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9888" y="301752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1450" b="1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一条流量主线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2999232"/>
            <a:ext cx="7692847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L0 做 100:0 ↔ 0:100 的整站原子拨动，不做渐进式金丝雀；验证全部走站点直连内部域名。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389888" y="3886200"/>
            <a:ext cx="10143439" cy="0"/>
          </a:xfrm>
          <a:prstGeom prst="line">
            <a:avLst/>
          </a:prstGeom>
          <a:ln w="9525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58368" y="4059936"/>
            <a:ext cx="475488" cy="731520"/>
          </a:xfrm>
          <a:prstGeom prst="roundRect">
            <a:avLst>
              <a:gd name="adj" fmla="val 22000"/>
            </a:avLst>
          </a:prstGeom>
          <a:solidFill>
            <a:srgbClr val="E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4059936"/>
            <a:ext cx="475488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6000"/>
              </a:lnSpc>
            </a:pPr>
            <a:r>
              <a:rPr sz="1400" b="1" i="0">
                <a:solidFill>
                  <a:srgbClr val="0B7C8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89888" y="4078224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1450" b="1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三条配套铁律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4059936"/>
            <a:ext cx="7692847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数据库只增不改（膨胀与收缩）、任务与 MQ 消费单活、前端 HTML 零缓存并自愈重载。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389888" y="4946904"/>
            <a:ext cx="10143439" cy="0"/>
          </a:xfrm>
          <a:prstGeom prst="line">
            <a:avLst/>
          </a:prstGeom>
          <a:ln w="9525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58368" y="5120640"/>
            <a:ext cx="475488" cy="731520"/>
          </a:xfrm>
          <a:prstGeom prst="roundRect">
            <a:avLst>
              <a:gd name="adj" fmla="val 22000"/>
            </a:avLst>
          </a:prstGeom>
          <a:solidFill>
            <a:srgbClr val="E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5120640"/>
            <a:ext cx="475488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6000"/>
              </a:lnSpc>
            </a:pPr>
            <a:r>
              <a:rPr sz="1400" b="1" i="0">
                <a:solidFill>
                  <a:srgbClr val="0B7C8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9888" y="5138928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1450" b="1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阅读顺序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0" y="5120640"/>
            <a:ext cx="7692847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站点 → 网关与路由 → 数据库演进 → 发布过渡机制 → 术语速查 / ADR 索引 / 落地检查清单。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144768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※ 术语口径以 CONTEXT.md 为准；实现细节以 ADR 与发布手册为准。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58368" y="6437376"/>
            <a:ext cx="10874959" cy="0"/>
          </a:xfrm>
          <a:prstGeom prst="line">
            <a:avLst/>
          </a:prstGeom>
          <a:ln w="9525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58368" y="6492240"/>
            <a:ext cx="977767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8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体检系统升级 V2 · 领域术语表（Ubiquitous Language）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36047" y="649224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6000"/>
              </a:lnSpc>
            </a:pPr>
            <a:r>
              <a:rPr sz="8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02 / 23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02336"/>
            <a:ext cx="1087495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1000" b="1" i="0" spc="110">
                <a:solidFill>
                  <a:srgbClr val="12A5B8"/>
                </a:solidFill>
                <a:latin typeface="Microsoft YaHei"/>
                <a:ea typeface="Microsoft YaHei"/>
                <a:cs typeface="Microsoft YaHei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"/>
            <a:ext cx="10874959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目录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170432"/>
            <a:ext cx="603504" cy="41148"/>
          </a:xfrm>
          <a:prstGeom prst="rect">
            <a:avLst/>
          </a:prstGeom>
          <a:solidFill>
            <a:srgbClr val="12A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371600" y="1191463"/>
            <a:ext cx="10161727" cy="0"/>
          </a:xfrm>
          <a:prstGeom prst="line">
            <a:avLst/>
          </a:prstGeom>
          <a:ln w="9525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58368" y="1554480"/>
            <a:ext cx="603504" cy="621792"/>
          </a:xfrm>
          <a:prstGeom prst="roundRect">
            <a:avLst>
              <a:gd name="adj" fmla="val 20000"/>
            </a:avLst>
          </a:prstGeom>
          <a:solidFill>
            <a:srgbClr val="0E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554480"/>
            <a:ext cx="603504" cy="6217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6000"/>
              </a:lnSpc>
            </a:pPr>
            <a:r>
              <a:rPr sz="1700" b="1" i="0">
                <a:solidFill>
                  <a:srgbClr val="12A5B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17904" y="1609344"/>
            <a:ext cx="512064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1450" b="1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基础设施 · 站点</a:t>
            </a:r>
            <a:r>
              <a:rPr sz="1000" b="0" i="0">
                <a:solidFill>
                  <a:srgbClr val="12A5B8"/>
                </a:solidFill>
                <a:latin typeface="Microsoft YaHei"/>
                <a:ea typeface="Microsoft YaHei"/>
                <a:cs typeface="Microsoft YaHei"/>
              </a:rPr>
              <a:t>   Site / Cluster Zone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17904" y="1938528"/>
            <a:ext cx="8223199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超算区（蓝区）· 南湾区（绿区）· 逻辑双站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362895" y="1700784"/>
            <a:ext cx="1170432" cy="310896"/>
          </a:xfrm>
          <a:prstGeom prst="roundRect">
            <a:avLst>
              <a:gd name="adj" fmla="val 50000"/>
            </a:avLst>
          </a:prstGeom>
          <a:solidFill>
            <a:srgbClr val="E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62895" y="1700784"/>
            <a:ext cx="1170432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6000"/>
              </a:lnSpc>
            </a:pPr>
            <a:r>
              <a:rPr sz="950" b="1" i="0">
                <a:solidFill>
                  <a:srgbClr val="0B7C8B"/>
                </a:solidFill>
                <a:latin typeface="Microsoft YaHei"/>
                <a:ea typeface="Microsoft YaHei"/>
                <a:cs typeface="Microsoft YaHei"/>
              </a:rPr>
              <a:t>3 个术语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517904" y="2313432"/>
            <a:ext cx="10015423" cy="0"/>
          </a:xfrm>
          <a:prstGeom prst="line">
            <a:avLst/>
          </a:prstGeom>
          <a:ln w="9525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58368" y="2414016"/>
            <a:ext cx="603504" cy="621792"/>
          </a:xfrm>
          <a:prstGeom prst="roundRect">
            <a:avLst>
              <a:gd name="adj" fmla="val 20000"/>
            </a:avLst>
          </a:prstGeom>
          <a:solidFill>
            <a:srgbClr val="0E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414016"/>
            <a:ext cx="603504" cy="6217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6000"/>
              </a:lnSpc>
            </a:pPr>
            <a:r>
              <a:rPr sz="1700" b="1" i="0">
                <a:solidFill>
                  <a:srgbClr val="12A5B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17904" y="2468880"/>
            <a:ext cx="512064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1450" b="1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网关与流量路由</a:t>
            </a:r>
            <a:r>
              <a:rPr sz="1000" b="0" i="0">
                <a:solidFill>
                  <a:srgbClr val="12A5B8"/>
                </a:solidFill>
                <a:latin typeface="Microsoft YaHei"/>
                <a:ea typeface="Microsoft YaHei"/>
                <a:cs typeface="Microsoft YaHei"/>
              </a:rPr>
              <a:t>   Routing &amp; Ingress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17904" y="2798064"/>
            <a:ext cx="8223199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L0 统一入口 · L1 站点接入层 · 区域亲和路由 · 整站全量原子切流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362895" y="2560320"/>
            <a:ext cx="1170432" cy="310896"/>
          </a:xfrm>
          <a:prstGeom prst="roundRect">
            <a:avLst>
              <a:gd name="adj" fmla="val 50000"/>
            </a:avLst>
          </a:prstGeom>
          <a:solidFill>
            <a:srgbClr val="E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62895" y="2560320"/>
            <a:ext cx="1170432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6000"/>
              </a:lnSpc>
            </a:pPr>
            <a:r>
              <a:rPr sz="950" b="1" i="0">
                <a:solidFill>
                  <a:srgbClr val="0B7C8B"/>
                </a:solidFill>
                <a:latin typeface="Microsoft YaHei"/>
                <a:ea typeface="Microsoft YaHei"/>
                <a:cs typeface="Microsoft YaHei"/>
              </a:rPr>
              <a:t>4 个术语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517904" y="3172968"/>
            <a:ext cx="10015423" cy="0"/>
          </a:xfrm>
          <a:prstGeom prst="line">
            <a:avLst/>
          </a:prstGeom>
          <a:ln w="9525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58368" y="3273552"/>
            <a:ext cx="603504" cy="621792"/>
          </a:xfrm>
          <a:prstGeom prst="roundRect">
            <a:avLst>
              <a:gd name="adj" fmla="val 20000"/>
            </a:avLst>
          </a:prstGeom>
          <a:solidFill>
            <a:srgbClr val="0E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3273552"/>
            <a:ext cx="603504" cy="6217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6000"/>
              </a:lnSpc>
            </a:pPr>
            <a:r>
              <a:rPr sz="1700" b="1" i="0">
                <a:solidFill>
                  <a:srgbClr val="12A5B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17904" y="3328416"/>
            <a:ext cx="512064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1450" b="1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数据库与演进模型</a:t>
            </a:r>
            <a:r>
              <a:rPr sz="1000" b="0" i="0">
                <a:solidFill>
                  <a:srgbClr val="12A5B8"/>
                </a:solidFill>
                <a:latin typeface="Microsoft YaHei"/>
                <a:ea typeface="Microsoft YaHei"/>
                <a:cs typeface="Microsoft YaHei"/>
              </a:rPr>
              <a:t>   Database Evolution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17904" y="3657600"/>
            <a:ext cx="8223199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膨胀与收缩 Expand &amp; Contract · 破坏性变更一票否决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362895" y="3419856"/>
            <a:ext cx="1170432" cy="310896"/>
          </a:xfrm>
          <a:prstGeom prst="roundRect">
            <a:avLst>
              <a:gd name="adj" fmla="val 50000"/>
            </a:avLst>
          </a:prstGeom>
          <a:solidFill>
            <a:srgbClr val="E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362895" y="3419856"/>
            <a:ext cx="1170432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6000"/>
              </a:lnSpc>
            </a:pPr>
            <a:r>
              <a:rPr sz="950" b="1" i="0">
                <a:solidFill>
                  <a:srgbClr val="0B7C8B"/>
                </a:solidFill>
                <a:latin typeface="Microsoft YaHei"/>
                <a:ea typeface="Microsoft YaHei"/>
                <a:cs typeface="Microsoft YaHei"/>
              </a:rPr>
              <a:t>2 个术语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517904" y="4032503"/>
            <a:ext cx="10015423" cy="0"/>
          </a:xfrm>
          <a:prstGeom prst="line">
            <a:avLst/>
          </a:prstGeom>
          <a:ln w="9525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58368" y="4133087"/>
            <a:ext cx="603504" cy="621792"/>
          </a:xfrm>
          <a:prstGeom prst="roundRect">
            <a:avLst>
              <a:gd name="adj" fmla="val 20000"/>
            </a:avLst>
          </a:prstGeom>
          <a:solidFill>
            <a:srgbClr val="0E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" y="4133087"/>
            <a:ext cx="603504" cy="6217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6000"/>
              </a:lnSpc>
            </a:pPr>
            <a:r>
              <a:rPr sz="1700" b="1" i="0">
                <a:solidFill>
                  <a:srgbClr val="12A5B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17904" y="4187951"/>
            <a:ext cx="512064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1450" b="1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发布与过渡机制</a:t>
            </a:r>
            <a:r>
              <a:rPr sz="1000" b="0" i="0">
                <a:solidFill>
                  <a:srgbClr val="12A5B8"/>
                </a:solidFill>
                <a:latin typeface="Microsoft YaHei"/>
                <a:ea typeface="Microsoft YaHei"/>
                <a:cs typeface="Microsoft YaHei"/>
              </a:rPr>
              <a:t>   Cutover Mechanics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17904" y="4517136"/>
            <a:ext cx="8223199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连接排空 · 跨站会话共享 · 单活任务/消费者 · HTML 零缓存自愈 · 发版窗口承压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362895" y="4279392"/>
            <a:ext cx="1170432" cy="310896"/>
          </a:xfrm>
          <a:prstGeom prst="roundRect">
            <a:avLst>
              <a:gd name="adj" fmla="val 50000"/>
            </a:avLst>
          </a:prstGeom>
          <a:solidFill>
            <a:srgbClr val="E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362895" y="4279392"/>
            <a:ext cx="1170432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6000"/>
              </a:lnSpc>
            </a:pPr>
            <a:r>
              <a:rPr sz="950" b="1" i="0">
                <a:solidFill>
                  <a:srgbClr val="0B7C8B"/>
                </a:solidFill>
                <a:latin typeface="Microsoft YaHei"/>
                <a:ea typeface="Microsoft YaHei"/>
                <a:cs typeface="Microsoft YaHei"/>
              </a:rPr>
              <a:t>5 个术语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517904" y="4892039"/>
            <a:ext cx="10015423" cy="0"/>
          </a:xfrm>
          <a:prstGeom prst="line">
            <a:avLst/>
          </a:prstGeom>
          <a:ln w="9525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658368" y="4992624"/>
            <a:ext cx="603504" cy="621792"/>
          </a:xfrm>
          <a:prstGeom prst="roundRect">
            <a:avLst>
              <a:gd name="adj" fmla="val 20000"/>
            </a:avLst>
          </a:prstGeom>
          <a:solidFill>
            <a:srgbClr val="0E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" y="4992624"/>
            <a:ext cx="603504" cy="6217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6000"/>
              </a:lnSpc>
            </a:pPr>
            <a:r>
              <a:rPr sz="1700" b="1" i="0">
                <a:solidFill>
                  <a:srgbClr val="12A5B8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17904" y="5047488"/>
            <a:ext cx="512064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1450" b="1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速查与落地</a:t>
            </a:r>
            <a:r>
              <a:rPr sz="1000" b="0" i="0">
                <a:solidFill>
                  <a:srgbClr val="12A5B8"/>
                </a:solidFill>
                <a:latin typeface="Microsoft YaHei"/>
                <a:ea typeface="Microsoft YaHei"/>
                <a:cs typeface="Microsoft YaHei"/>
              </a:rPr>
              <a:t>   Reference &amp; Checklist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17904" y="5376672"/>
            <a:ext cx="8223199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术语速查表 · ADR 索引 · 落地检查清单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362895" y="5138928"/>
            <a:ext cx="1170432" cy="310896"/>
          </a:xfrm>
          <a:prstGeom prst="roundRect">
            <a:avLst>
              <a:gd name="adj" fmla="val 50000"/>
            </a:avLst>
          </a:prstGeom>
          <a:solidFill>
            <a:srgbClr val="E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362895" y="5138928"/>
            <a:ext cx="1170432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6000"/>
              </a:lnSpc>
            </a:pPr>
            <a:r>
              <a:rPr sz="950" b="1" i="0">
                <a:solidFill>
                  <a:srgbClr val="0B7C8B"/>
                </a:solidFill>
                <a:latin typeface="Microsoft YaHei"/>
                <a:ea typeface="Microsoft YaHei"/>
                <a:cs typeface="Microsoft YaHei"/>
              </a:rPr>
              <a:t>3 页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58368" y="6437376"/>
            <a:ext cx="10874959" cy="0"/>
          </a:xfrm>
          <a:prstGeom prst="line">
            <a:avLst/>
          </a:prstGeom>
          <a:ln w="9525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58368" y="6492240"/>
            <a:ext cx="977767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8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体检系统升级 V2 · 领域术语表（Ubiquitous Language）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436047" y="649224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6000"/>
              </a:lnSpc>
            </a:pPr>
            <a:r>
              <a:rPr sz="8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03 / 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02336"/>
            <a:ext cx="1087495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1000" b="1" i="0" spc="110">
                <a:solidFill>
                  <a:srgbClr val="12A5B8"/>
                </a:solidFill>
                <a:latin typeface="Microsoft YaHei"/>
                <a:ea typeface="Microsoft YaHei"/>
                <a:cs typeface="Microsoft YaHei"/>
              </a:rPr>
              <a:t>ARCHITECTURE IN ONE PAGE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"/>
            <a:ext cx="10874959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一页看懂：网络共生、逻辑隔离的蓝绿双站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170432"/>
            <a:ext cx="603504" cy="41148"/>
          </a:xfrm>
          <a:prstGeom prst="rect">
            <a:avLst/>
          </a:prstGeom>
          <a:solidFill>
            <a:srgbClr val="12A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371600" y="1191463"/>
            <a:ext cx="10161727" cy="0"/>
          </a:xfrm>
          <a:prstGeom prst="line">
            <a:avLst/>
          </a:prstGeom>
          <a:ln w="9525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1280160"/>
            <a:ext cx="10692079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同一机房同一内网的两套应用集群，通过独立注册中心 + 区域标签隔离；数据层与缓存集中共享，任务与消费单活。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095847" y="2441144"/>
            <a:ext cx="0" cy="126874"/>
          </a:xfrm>
          <a:prstGeom prst="line">
            <a:avLst/>
          </a:prstGeom>
          <a:ln w="15875">
            <a:solidFill>
              <a:srgbClr val="17324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108362" y="3039267"/>
            <a:ext cx="0" cy="652497"/>
          </a:xfrm>
          <a:prstGeom prst="line">
            <a:avLst/>
          </a:prstGeom>
          <a:ln w="15875">
            <a:solidFill>
              <a:srgbClr val="17324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916465" y="3283219"/>
            <a:ext cx="383794" cy="164592"/>
          </a:xfrm>
          <a:prstGeom prst="roundRect">
            <a:avLst>
              <a:gd name="adj" fmla="val 50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16465" y="3283219"/>
            <a:ext cx="383794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6000"/>
              </a:lnSpc>
            </a:pPr>
            <a:r>
              <a:rPr sz="850" b="1" i="0">
                <a:solidFill>
                  <a:srgbClr val="17324F"/>
                </a:solidFill>
                <a:latin typeface="Microsoft YaHei"/>
                <a:ea typeface="Microsoft YaHei"/>
                <a:cs typeface="Microsoft YaHei"/>
              </a:rPr>
              <a:t>100%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373655" y="3039267"/>
            <a:ext cx="0" cy="652497"/>
          </a:xfrm>
          <a:prstGeom prst="line">
            <a:avLst/>
          </a:prstGeom>
          <a:ln w="15875">
            <a:solidFill>
              <a:srgbClr val="6B7A8D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118067" y="3283219"/>
            <a:ext cx="511175" cy="164592"/>
          </a:xfrm>
          <a:prstGeom prst="roundRect">
            <a:avLst>
              <a:gd name="adj" fmla="val 50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18067" y="3283219"/>
            <a:ext cx="511175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6000"/>
              </a:lnSpc>
            </a:pPr>
            <a:r>
              <a:rPr sz="850" b="1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0% 待命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978359" y="3909263"/>
            <a:ext cx="271874" cy="0"/>
          </a:xfrm>
          <a:prstGeom prst="line">
            <a:avLst/>
          </a:prstGeom>
          <a:ln w="15875">
            <a:solidFill>
              <a:srgbClr val="17324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325214" y="3909263"/>
            <a:ext cx="271874" cy="0"/>
          </a:xfrm>
          <a:prstGeom prst="line">
            <a:avLst/>
          </a:prstGeom>
          <a:ln w="15875">
            <a:solidFill>
              <a:srgbClr val="17324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509916" y="4126763"/>
            <a:ext cx="0" cy="72499"/>
          </a:xfrm>
          <a:prstGeom prst="line">
            <a:avLst/>
          </a:prstGeom>
          <a:ln w="15875">
            <a:solidFill>
              <a:srgbClr val="6B7A8D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856770" y="4126763"/>
            <a:ext cx="0" cy="72499"/>
          </a:xfrm>
          <a:prstGeom prst="line">
            <a:avLst/>
          </a:prstGeom>
          <a:ln w="15875">
            <a:solidFill>
              <a:srgbClr val="6B7A8D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525235" y="4779260"/>
            <a:ext cx="0" cy="217499"/>
          </a:xfrm>
          <a:prstGeom prst="line">
            <a:avLst/>
          </a:prstGeom>
          <a:ln w="15875">
            <a:solidFill>
              <a:srgbClr val="6B7A8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666459" y="4779260"/>
            <a:ext cx="0" cy="217499"/>
          </a:xfrm>
          <a:prstGeom prst="line">
            <a:avLst/>
          </a:prstGeom>
          <a:ln w="15875">
            <a:solidFill>
              <a:srgbClr val="6B7A8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39617" y="2096770"/>
            <a:ext cx="308124" cy="0"/>
          </a:xfrm>
          <a:prstGeom prst="line">
            <a:avLst/>
          </a:prstGeom>
          <a:ln w="15875">
            <a:solidFill>
              <a:srgbClr val="1732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220240" y="2024270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8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常态流量路径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39617" y="2278019"/>
            <a:ext cx="308124" cy="0"/>
          </a:xfrm>
          <a:prstGeom prst="line">
            <a:avLst/>
          </a:prstGeom>
          <a:ln w="15875">
            <a:solidFill>
              <a:srgbClr val="6B7A8D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220240" y="2205520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8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待命 / 服务发现（控制面）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36466" y="2024270"/>
            <a:ext cx="3715611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6000"/>
              </a:lnSpc>
            </a:pPr>
            <a:r>
              <a:rPr sz="850" b="1" i="0">
                <a:solidFill>
                  <a:srgbClr val="0B7C8B"/>
                </a:solidFill>
                <a:latin typeface="Microsoft YaHei"/>
                <a:ea typeface="Microsoft YaHei"/>
                <a:cs typeface="Microsoft YaHei"/>
              </a:rPr>
              <a:t>两站同机房 · 同一内网拓扑 · RTT 对等（延迟忽略不计）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917727" y="2006145"/>
            <a:ext cx="2356241" cy="434998"/>
          </a:xfrm>
          <a:prstGeom prst="roundRect">
            <a:avLst>
              <a:gd name="adj" fmla="val 30000"/>
            </a:avLst>
          </a:prstGeom>
          <a:solidFill>
            <a:srgbClr val="0E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00023" y="2063753"/>
            <a:ext cx="2191649" cy="3527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6000"/>
              </a:lnSpc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用户 / 客户端</a:t>
            </a:r>
          </a:p>
          <a:p>
            <a:pPr algn="ctr">
              <a:lnSpc>
                <a:spcPct val="112000"/>
              </a:lnSpc>
              <a:spcBef>
                <a:spcPts val="200"/>
              </a:spcBef>
            </a:pPr>
            <a:r>
              <a:rPr sz="800" b="0" i="0">
                <a:solidFill>
                  <a:srgbClr val="CBD6E2"/>
                </a:solidFill>
                <a:latin typeface="Microsoft YaHei"/>
                <a:ea typeface="Microsoft YaHei"/>
                <a:cs typeface="Microsoft YaHei"/>
              </a:rPr>
              <a:t>浏览器 · App · 第三方接入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017737" y="2568018"/>
            <a:ext cx="8156219" cy="471248"/>
          </a:xfrm>
          <a:prstGeom prst="roundRect">
            <a:avLst>
              <a:gd name="adj" fmla="val 16000"/>
            </a:avLst>
          </a:prstGeom>
          <a:solidFill>
            <a:srgbClr val="17324F"/>
          </a:solidFill>
          <a:ln w="19050">
            <a:solidFill>
              <a:srgbClr val="12A5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00033" y="2625626"/>
            <a:ext cx="7991627" cy="3889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6000"/>
              </a:lnSpc>
            </a:pPr>
            <a:r>
              <a:rPr sz="11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L0 统一入口 · 整站全量流量总开关</a:t>
            </a:r>
          </a:p>
          <a:p>
            <a:pPr algn="ctr">
              <a:lnSpc>
                <a:spcPct val="112000"/>
              </a:lnSpc>
              <a:spcBef>
                <a:spcPts val="200"/>
              </a:spcBef>
            </a:pPr>
            <a:r>
              <a:rPr sz="900" b="0" i="0">
                <a:solidFill>
                  <a:srgbClr val="9FE3EC"/>
                </a:solidFill>
                <a:latin typeface="Microsoft YaHei"/>
                <a:ea typeface="Microsoft YaHei"/>
                <a:cs typeface="Microsoft YaHei"/>
              </a:rPr>
              <a:t>前置高可用入口反向代理层｜权重严格 100:0 或 0:100 原子切换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9617" y="3184266"/>
            <a:ext cx="5165605" cy="1594994"/>
          </a:xfrm>
          <a:prstGeom prst="roundRect">
            <a:avLst>
              <a:gd name="adj" fmla="val 5000"/>
            </a:avLst>
          </a:prstGeom>
          <a:solidFill>
            <a:srgbClr val="E9F1FA"/>
          </a:solidFill>
          <a:ln w="15875">
            <a:solidFill>
              <a:srgbClr val="2E6F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0201" y="3254675"/>
            <a:ext cx="4964437" cy="149441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1150" b="1" i="0">
                <a:solidFill>
                  <a:srgbClr val="2E6FB7"/>
                </a:solidFill>
                <a:latin typeface="Microsoft YaHei"/>
                <a:ea typeface="Microsoft YaHei"/>
                <a:cs typeface="Microsoft YaHei"/>
              </a:rPr>
              <a:t>超算区 / 蓝区 · 10.142 网段</a:t>
            </a:r>
          </a:p>
          <a:p>
            <a:pPr algn="l">
              <a:lnSpc>
                <a:spcPct val="112000"/>
              </a:lnSpc>
              <a:spcBef>
                <a:spcPts val="200"/>
              </a:spcBef>
            </a:pPr>
            <a:r>
              <a:rPr sz="90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原有应用集群 · 常态主业务流量 · 挂载全量数据层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75241" y="3691764"/>
            <a:ext cx="1903117" cy="43499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E6F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57537" y="3749371"/>
            <a:ext cx="1738525" cy="3527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6000"/>
              </a:lnSpc>
            </a:pPr>
            <a:r>
              <a:rPr sz="1000" b="1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L1 站点接入层</a:t>
            </a:r>
          </a:p>
          <a:p>
            <a:pPr algn="l">
              <a:lnSpc>
                <a:spcPct val="112000"/>
              </a:lnSpc>
              <a:spcBef>
                <a:spcPts val="200"/>
              </a:spcBef>
            </a:pPr>
            <a:r>
              <a:rPr sz="80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本站静态资源分发 + API 反向代理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250233" y="3691764"/>
            <a:ext cx="2519365" cy="43499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E6F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32529" y="3749371"/>
            <a:ext cx="2354773" cy="3527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6000"/>
              </a:lnSpc>
            </a:pPr>
            <a:r>
              <a:rPr sz="1000" b="1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应用集群  CLUSTER_ZONE=blue</a:t>
            </a:r>
          </a:p>
          <a:p>
            <a:pPr algn="l">
              <a:lnSpc>
                <a:spcPct val="112000"/>
              </a:lnSpc>
              <a:spcBef>
                <a:spcPts val="200"/>
              </a:spcBef>
            </a:pPr>
            <a:r>
              <a:rPr sz="80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本站前端必调本站后端 · RPC 严格同区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250233" y="4199262"/>
            <a:ext cx="2519365" cy="416873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B7C4D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32529" y="4256869"/>
            <a:ext cx="2354773" cy="33457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6000"/>
              </a:lnSpc>
            </a:pPr>
            <a:r>
              <a:rPr sz="950" b="1" i="0">
                <a:solidFill>
                  <a:srgbClr val="0B7C8B"/>
                </a:solidFill>
                <a:latin typeface="Microsoft YaHei"/>
                <a:ea typeface="Microsoft YaHei"/>
                <a:cs typeface="Microsoft YaHei"/>
              </a:rPr>
              <a:t>独立注册中心集群（蓝）</a:t>
            </a:r>
          </a:p>
          <a:p>
            <a:pPr algn="l">
              <a:lnSpc>
                <a:spcPct val="112000"/>
              </a:lnSpc>
              <a:spcBef>
                <a:spcPts val="200"/>
              </a:spcBef>
            </a:pPr>
            <a:r>
              <a:rPr sz="7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服务发现与绿区互不干扰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86472" y="3184266"/>
            <a:ext cx="5165605" cy="1594994"/>
          </a:xfrm>
          <a:prstGeom prst="roundRect">
            <a:avLst>
              <a:gd name="adj" fmla="val 5000"/>
            </a:avLst>
          </a:prstGeom>
          <a:solidFill>
            <a:srgbClr val="E7F6EF"/>
          </a:solidFill>
          <a:ln w="15875">
            <a:solidFill>
              <a:srgbClr val="2E9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87056" y="3254675"/>
            <a:ext cx="4964437" cy="149441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1150" b="1" i="0">
                <a:solidFill>
                  <a:srgbClr val="2E9E6B"/>
                </a:solidFill>
                <a:latin typeface="Microsoft YaHei"/>
                <a:ea typeface="Microsoft YaHei"/>
                <a:cs typeface="Microsoft YaHei"/>
              </a:rPr>
              <a:t>南湾区 / 绿区 · 10.20 网段</a:t>
            </a:r>
          </a:p>
          <a:p>
            <a:pPr algn="l">
              <a:lnSpc>
                <a:spcPct val="112000"/>
              </a:lnSpc>
              <a:spcBef>
                <a:spcPts val="200"/>
              </a:spcBef>
            </a:pPr>
            <a:r>
              <a:rPr sz="90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新建应用集群 · 同机房同内网 · RTT 与超算对等（延迟忽略不计）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22096" y="3691764"/>
            <a:ext cx="1903117" cy="43499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E9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04392" y="3749371"/>
            <a:ext cx="1738525" cy="3527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6000"/>
              </a:lnSpc>
            </a:pPr>
            <a:r>
              <a:rPr sz="1000" b="1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L1 站点接入层</a:t>
            </a:r>
          </a:p>
          <a:p>
            <a:pPr algn="l">
              <a:lnSpc>
                <a:spcPct val="112000"/>
              </a:lnSpc>
              <a:spcBef>
                <a:spcPts val="200"/>
              </a:spcBef>
            </a:pPr>
            <a:r>
              <a:rPr sz="80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本站静态资源分发 + API 反向代理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597088" y="3691764"/>
            <a:ext cx="2519365" cy="43499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E9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79384" y="3749371"/>
            <a:ext cx="2354773" cy="3527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6000"/>
              </a:lnSpc>
            </a:pPr>
            <a:r>
              <a:rPr sz="1000" b="1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应用集群  CLUSTER_ZONE=green</a:t>
            </a:r>
          </a:p>
          <a:p>
            <a:pPr algn="l">
              <a:lnSpc>
                <a:spcPct val="112000"/>
              </a:lnSpc>
              <a:spcBef>
                <a:spcPts val="200"/>
              </a:spcBef>
            </a:pPr>
            <a:r>
              <a:rPr sz="80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切流后承接 100% 生产流量（窗口承压）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597088" y="4199262"/>
            <a:ext cx="2519365" cy="416873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B7C4D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679384" y="4256869"/>
            <a:ext cx="2354773" cy="33457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6000"/>
              </a:lnSpc>
            </a:pPr>
            <a:r>
              <a:rPr sz="950" b="1" i="0">
                <a:solidFill>
                  <a:srgbClr val="0B7C8B"/>
                </a:solidFill>
                <a:latin typeface="Microsoft YaHei"/>
                <a:ea typeface="Microsoft YaHei"/>
                <a:cs typeface="Microsoft YaHei"/>
              </a:rPr>
              <a:t>独立注册中心集群（绿）</a:t>
            </a:r>
          </a:p>
          <a:p>
            <a:pPr algn="l">
              <a:lnSpc>
                <a:spcPct val="112000"/>
              </a:lnSpc>
              <a:spcBef>
                <a:spcPts val="200"/>
              </a:spcBef>
            </a:pPr>
            <a:r>
              <a:rPr sz="7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服务发现与蓝区互不干扰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02105" y="4797385"/>
            <a:ext cx="3987485" cy="2174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6000"/>
              </a:lnSpc>
            </a:pPr>
            <a:r>
              <a:rPr sz="1000" b="1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共享层 · 两站共用（网络共生，数据不分裂）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39617" y="4996759"/>
            <a:ext cx="3371237" cy="779372"/>
          </a:xfrm>
          <a:prstGeom prst="roundRect">
            <a:avLst>
              <a:gd name="adj" fmla="val 7000"/>
            </a:avLst>
          </a:prstGeom>
          <a:solidFill>
            <a:srgbClr val="EDF2F8"/>
          </a:solidFill>
          <a:ln w="12700">
            <a:solidFill>
              <a:srgbClr val="B9C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40201" y="5067168"/>
            <a:ext cx="3170069" cy="6787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6000"/>
              </a:lnSpc>
            </a:pPr>
            <a:r>
              <a:rPr sz="1050" b="1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共享单数据库 · 全量数据层</a:t>
            </a:r>
          </a:p>
          <a:p>
            <a:pPr algn="l">
              <a:lnSpc>
                <a:spcPct val="112000"/>
              </a:lnSpc>
              <a:spcBef>
                <a:spcPts val="200"/>
              </a:spcBef>
            </a:pPr>
            <a:r>
              <a:rPr sz="8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膨胀与收缩（Expand &amp; Contract）：只增不改，稳定≥1 周期后再收缩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410228" y="4996759"/>
            <a:ext cx="3371237" cy="779372"/>
          </a:xfrm>
          <a:prstGeom prst="roundRect">
            <a:avLst>
              <a:gd name="adj" fmla="val 7000"/>
            </a:avLst>
          </a:prstGeom>
          <a:solidFill>
            <a:srgbClr val="EDF2F8"/>
          </a:solidFill>
          <a:ln w="12700">
            <a:solidFill>
              <a:srgbClr val="B9C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10812" y="5067168"/>
            <a:ext cx="3170069" cy="6787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6000"/>
              </a:lnSpc>
            </a:pPr>
            <a:r>
              <a:rPr sz="1050" b="1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统一 Redis（集中部署在超算站）</a:t>
            </a:r>
          </a:p>
          <a:p>
            <a:pPr algn="l">
              <a:lnSpc>
                <a:spcPct val="112000"/>
              </a:lnSpc>
              <a:spcBef>
                <a:spcPts val="200"/>
              </a:spcBef>
            </a:pPr>
            <a:r>
              <a:rPr sz="8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跨站会话共享：分布式 Token 共享，切流瞬间免于重新登录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980840" y="4996759"/>
            <a:ext cx="3371237" cy="779372"/>
          </a:xfrm>
          <a:prstGeom prst="roundRect">
            <a:avLst>
              <a:gd name="adj" fmla="val 7000"/>
            </a:avLst>
          </a:prstGeom>
          <a:solidFill>
            <a:srgbClr val="EDF2F8"/>
          </a:solidFill>
          <a:ln w="12700">
            <a:solidFill>
              <a:srgbClr val="B9C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081424" y="5067168"/>
            <a:ext cx="3170069" cy="6787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6000"/>
              </a:lnSpc>
            </a:pPr>
            <a:r>
              <a:rPr sz="1050" b="1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MQ 消费 + 定时任务（单活）</a:t>
            </a:r>
          </a:p>
          <a:p>
            <a:pPr algn="l">
              <a:lnSpc>
                <a:spcPct val="112000"/>
              </a:lnSpc>
              <a:spcBef>
                <a:spcPts val="200"/>
              </a:spcBef>
            </a:pPr>
            <a:r>
              <a:rPr sz="8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仅接流集群激活，待命端自动挂起，杜绝并发竞争与重复记账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658368" y="6437376"/>
            <a:ext cx="10874959" cy="0"/>
          </a:xfrm>
          <a:prstGeom prst="line">
            <a:avLst/>
          </a:prstGeom>
          <a:ln w="9525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658368" y="6492240"/>
            <a:ext cx="977767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8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体检系统升级 V2 · 领域术语表（Ubiquitous Language）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436047" y="649224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6000"/>
              </a:lnSpc>
            </a:pPr>
            <a:r>
              <a:rPr sz="8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04 / 23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deco-ring"/>
          <p:cNvSpPr/>
          <p:nvPr/>
        </p:nvSpPr>
        <p:spPr>
          <a:xfrm>
            <a:off x="8808415" y="-3063239"/>
            <a:ext cx="5120640" cy="5120640"/>
          </a:xfrm>
          <a:prstGeom prst="ellipse">
            <a:avLst/>
          </a:prstGeom>
          <a:solidFill>
            <a:srgbClr val="17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o-ring"/>
          <p:cNvSpPr/>
          <p:nvPr/>
        </p:nvSpPr>
        <p:spPr>
          <a:xfrm>
            <a:off x="9677095" y="-2194560"/>
            <a:ext cx="3383280" cy="3383280"/>
          </a:xfrm>
          <a:prstGeom prst="ellipse">
            <a:avLst/>
          </a:prstGeom>
          <a:solidFill>
            <a:srgbClr val="1B3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o-ring"/>
          <p:cNvSpPr/>
          <p:nvPr/>
        </p:nvSpPr>
        <p:spPr>
          <a:xfrm>
            <a:off x="10454335" y="-1417320"/>
            <a:ext cx="1828800" cy="1828800"/>
          </a:xfrm>
          <a:prstGeom prst="ellipse">
            <a:avLst/>
          </a:prstGeom>
          <a:solidFill>
            <a:srgbClr val="0F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3" y="841248"/>
            <a:ext cx="3108960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800" b="1" i="0">
                <a:solidFill>
                  <a:srgbClr val="1D3E6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249424"/>
            <a:ext cx="9594799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基础设施 · 站点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962656"/>
            <a:ext cx="9594799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1250" b="1" i="0" spc="90">
                <a:solidFill>
                  <a:srgbClr val="12A5B8"/>
                </a:solidFill>
                <a:latin typeface="Microsoft YaHei"/>
                <a:ea typeface="Microsoft YaHei"/>
                <a:cs typeface="Microsoft YaHei"/>
              </a:rPr>
              <a:t>Site / Cluster Zone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3401568"/>
            <a:ext cx="822960" cy="45720"/>
          </a:xfrm>
          <a:prstGeom prst="rect">
            <a:avLst/>
          </a:prstGeom>
          <a:solidFill>
            <a:srgbClr val="12A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3621024"/>
            <a:ext cx="8497519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CBD6E2"/>
                </a:solidFill>
                <a:latin typeface="Microsoft YaHei"/>
                <a:ea typeface="Microsoft YaHei"/>
                <a:cs typeface="Microsoft YaHei"/>
              </a:rPr>
              <a:t>先厘清「双站到底是什么」：不是异地双机房，而是同内网里的两套蓝绿集群。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4590288"/>
            <a:ext cx="1305305" cy="402336"/>
          </a:xfrm>
          <a:prstGeom prst="roundRect">
            <a:avLst>
              <a:gd name="adj" fmla="val 50000"/>
            </a:avLst>
          </a:prstGeom>
          <a:solidFill>
            <a:srgbClr val="17324F"/>
          </a:solidFill>
          <a:ln w="12700">
            <a:solidFill>
              <a:srgbClr val="0F5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4590288"/>
            <a:ext cx="1305305" cy="4023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6000"/>
              </a:lnSpc>
            </a:pPr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超算区 / 蓝区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83129" y="4590288"/>
            <a:ext cx="1305305" cy="402336"/>
          </a:xfrm>
          <a:prstGeom prst="roundRect">
            <a:avLst>
              <a:gd name="adj" fmla="val 50000"/>
            </a:avLst>
          </a:prstGeom>
          <a:solidFill>
            <a:srgbClr val="17324F"/>
          </a:solidFill>
          <a:ln w="12700">
            <a:solidFill>
              <a:srgbClr val="0F5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83129" y="4590288"/>
            <a:ext cx="1305305" cy="4023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6000"/>
              </a:lnSpc>
            </a:pPr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南湾区 / 绿区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07891" y="4590288"/>
            <a:ext cx="1724406" cy="402336"/>
          </a:xfrm>
          <a:prstGeom prst="roundRect">
            <a:avLst>
              <a:gd name="adj" fmla="val 50000"/>
            </a:avLst>
          </a:prstGeom>
          <a:solidFill>
            <a:srgbClr val="17324F"/>
          </a:solidFill>
          <a:ln w="12700">
            <a:solidFill>
              <a:srgbClr val="0F5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07891" y="4590288"/>
            <a:ext cx="1724406" cy="4023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6000"/>
              </a:lnSpc>
            </a:pPr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逻辑双站 / 蓝绿集群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739128"/>
            <a:ext cx="4937760" cy="118872"/>
          </a:xfrm>
          <a:prstGeom prst="rect">
            <a:avLst/>
          </a:prstGeom>
          <a:solidFill>
            <a:srgbClr val="2E6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937760" y="6739128"/>
            <a:ext cx="2286000" cy="118872"/>
          </a:xfrm>
          <a:prstGeom prst="rect">
            <a:avLst/>
          </a:prstGeom>
          <a:solidFill>
            <a:srgbClr val="12A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223760" y="6739128"/>
            <a:ext cx="4967935" cy="118872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658368" y="6437376"/>
            <a:ext cx="10874959" cy="0"/>
          </a:xfrm>
          <a:prstGeom prst="line">
            <a:avLst/>
          </a:prstGeom>
          <a:ln w="9525">
            <a:solidFill>
              <a:srgbClr val="1732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58368" y="6492240"/>
            <a:ext cx="977767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850" b="0" i="0">
                <a:solidFill>
                  <a:srgbClr val="8FA3B8"/>
                </a:solidFill>
                <a:latin typeface="Microsoft YaHei"/>
                <a:ea typeface="Microsoft YaHei"/>
                <a:cs typeface="Microsoft YaHei"/>
              </a:rPr>
              <a:t>体检系统升级 V2 · 领域术语表（Ubiquitous Language）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36047" y="649224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6000"/>
              </a:lnSpc>
            </a:pPr>
            <a:r>
              <a:rPr sz="850" b="0" i="0">
                <a:solidFill>
                  <a:srgbClr val="8FA3B8"/>
                </a:solidFill>
                <a:latin typeface="Microsoft YaHei"/>
                <a:ea typeface="Microsoft YaHei"/>
                <a:cs typeface="Microsoft YaHei"/>
              </a:rPr>
              <a:t>05 / 23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02336"/>
            <a:ext cx="1087495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1000" b="1" i="0" spc="110">
                <a:solidFill>
                  <a:srgbClr val="12A5B8"/>
                </a:solidFill>
                <a:latin typeface="Microsoft YaHei"/>
                <a:ea typeface="Microsoft YaHei"/>
                <a:cs typeface="Microsoft YaHei"/>
              </a:rPr>
              <a:t>站点 · SITE / CLUSTER ZONE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"/>
            <a:ext cx="10874959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蓝区与绿区：同机房同内网的两套集群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170432"/>
            <a:ext cx="603504" cy="41148"/>
          </a:xfrm>
          <a:prstGeom prst="rect">
            <a:avLst/>
          </a:prstGeom>
          <a:solidFill>
            <a:srgbClr val="12A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371600" y="1191463"/>
            <a:ext cx="10161727" cy="0"/>
          </a:xfrm>
          <a:prstGeom prst="line">
            <a:avLst/>
          </a:prstGeom>
          <a:ln w="9525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58368" y="1481328"/>
            <a:ext cx="5300319" cy="4572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49808" y="1481328"/>
            <a:ext cx="5117439" cy="77724"/>
          </a:xfrm>
          <a:prstGeom prst="roundRect">
            <a:avLst>
              <a:gd name="adj" fmla="val 50000"/>
            </a:avLst>
          </a:prstGeom>
          <a:solidFill>
            <a:srgbClr val="2E6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91659" y="1755648"/>
            <a:ext cx="1110996" cy="292608"/>
          </a:xfrm>
          <a:prstGeom prst="roundRect">
            <a:avLst>
              <a:gd name="adj" fmla="val 50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1659" y="1755648"/>
            <a:ext cx="1110996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6000"/>
              </a:lnSpc>
            </a:pPr>
            <a:r>
              <a:rPr sz="900" b="1" i="0">
                <a:solidFill>
                  <a:srgbClr val="2E6FB7"/>
                </a:solidFill>
                <a:latin typeface="Microsoft YaHei"/>
                <a:ea typeface="Microsoft YaHei"/>
                <a:cs typeface="Microsoft YaHei"/>
              </a:rPr>
              <a:t>常态主业务流量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755648"/>
            <a:ext cx="3585819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超算区 / 蓝区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030349"/>
            <a:ext cx="4788255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950" b="1" i="0" spc="30">
                <a:solidFill>
                  <a:srgbClr val="2E6FB7"/>
                </a:solidFill>
                <a:latin typeface="Microsoft YaHei"/>
                <a:ea typeface="Microsoft YaHei"/>
                <a:cs typeface="Microsoft YaHei"/>
              </a:rPr>
              <a:t>Supercomputing Zone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2304669"/>
            <a:ext cx="4788255" cy="155448"/>
          </a:xfrm>
          <a:prstGeom prst="roundRect">
            <a:avLst>
              <a:gd name="adj" fmla="val 50000"/>
            </a:avLst>
          </a:prstGeom>
          <a:solidFill>
            <a:srgbClr val="E7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14400" y="2304669"/>
            <a:ext cx="4788255" cy="155448"/>
          </a:xfrm>
          <a:prstGeom prst="roundRect">
            <a:avLst>
              <a:gd name="adj" fmla="val 50000"/>
            </a:avLst>
          </a:prstGeom>
          <a:solidFill>
            <a:srgbClr val="2E6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505837"/>
            <a:ext cx="4788255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8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流量权重  </a:t>
            </a:r>
            <a:r>
              <a:rPr sz="850" b="1" i="0">
                <a:solidFill>
                  <a:srgbClr val="2E6FB7"/>
                </a:solidFill>
                <a:latin typeface="Microsoft YaHei"/>
                <a:ea typeface="Microsoft YaHei"/>
                <a:cs typeface="Microsoft YaHei"/>
              </a:rPr>
              <a:t>蓝 100</a:t>
            </a:r>
            <a:r>
              <a:rPr sz="8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  :  </a:t>
            </a:r>
            <a:r>
              <a:rPr sz="850" b="1" i="0">
                <a:solidFill>
                  <a:srgbClr val="2E9E6B"/>
                </a:solidFill>
                <a:latin typeface="Microsoft YaHei"/>
                <a:ea typeface="Microsoft YaHei"/>
                <a:cs typeface="Microsoft YaHei"/>
              </a:rPr>
              <a:t>绿 0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14400" y="2780157"/>
            <a:ext cx="4788255" cy="0"/>
          </a:xfrm>
          <a:prstGeom prst="line">
            <a:avLst/>
          </a:prstGeom>
          <a:ln w="9525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14400" y="2926461"/>
            <a:ext cx="4788255" cy="294398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150" b="1" i="0">
                <a:solidFill>
                  <a:srgbClr val="2E6FB7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1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原有应用集群，10.142 网段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150" b="1" i="0">
                <a:solidFill>
                  <a:srgbClr val="2E6FB7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1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与南湾区同机房、同一内网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150" b="1" i="0">
                <a:solidFill>
                  <a:srgbClr val="2E6FB7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1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承载常态主业务流量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150" b="1" i="0">
                <a:solidFill>
                  <a:srgbClr val="2E6FB7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1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挂载全量数据层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1" i="0">
                <a:solidFill>
                  <a:srgbClr val="2E6FB7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1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统一 Redis 集中部署在本站（跨站会话共享）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1481328"/>
            <a:ext cx="5300319" cy="4572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24447" y="1481328"/>
            <a:ext cx="5117439" cy="77724"/>
          </a:xfrm>
          <a:prstGeom prst="roundRect">
            <a:avLst>
              <a:gd name="adj" fmla="val 50000"/>
            </a:avLst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022281" y="1755648"/>
            <a:ext cx="1255013" cy="292608"/>
          </a:xfrm>
          <a:prstGeom prst="roundRect">
            <a:avLst>
              <a:gd name="adj" fmla="val 50000"/>
            </a:avLst>
          </a:prstGeom>
          <a:solidFill>
            <a:srgbClr val="E7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22281" y="1755648"/>
            <a:ext cx="1255013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6000"/>
              </a:lnSpc>
            </a:pPr>
            <a:r>
              <a:rPr sz="900" b="1" i="0">
                <a:solidFill>
                  <a:srgbClr val="2E9E6B"/>
                </a:solidFill>
                <a:latin typeface="Microsoft YaHei"/>
                <a:ea typeface="Microsoft YaHei"/>
                <a:cs typeface="Microsoft YaHei"/>
              </a:rPr>
              <a:t>新建 · 待命 / 接流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89039" y="1755648"/>
            <a:ext cx="3441801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南湾区 / 绿区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89039" y="2030349"/>
            <a:ext cx="4788255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950" b="1" i="0" spc="30">
                <a:solidFill>
                  <a:srgbClr val="2E9E6B"/>
                </a:solidFill>
                <a:latin typeface="Microsoft YaHei"/>
                <a:ea typeface="Microsoft YaHei"/>
                <a:cs typeface="Microsoft YaHei"/>
              </a:rPr>
              <a:t>Nanwan Zone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89039" y="2304669"/>
            <a:ext cx="4788255" cy="155448"/>
          </a:xfrm>
          <a:prstGeom prst="roundRect">
            <a:avLst>
              <a:gd name="adj" fmla="val 50000"/>
            </a:avLst>
          </a:prstGeom>
          <a:solidFill>
            <a:srgbClr val="E7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89039" y="2304669"/>
            <a:ext cx="4788255" cy="155448"/>
          </a:xfrm>
          <a:prstGeom prst="roundRect">
            <a:avLst>
              <a:gd name="adj" fmla="val 50000"/>
            </a:avLst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89039" y="2505837"/>
            <a:ext cx="4788255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8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流量权重  </a:t>
            </a:r>
            <a:r>
              <a:rPr sz="850" b="1" i="0">
                <a:solidFill>
                  <a:srgbClr val="2E6FB7"/>
                </a:solidFill>
                <a:latin typeface="Microsoft YaHei"/>
                <a:ea typeface="Microsoft YaHei"/>
                <a:cs typeface="Microsoft YaHei"/>
              </a:rPr>
              <a:t>蓝 0</a:t>
            </a:r>
            <a:r>
              <a:rPr sz="8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  :  </a:t>
            </a:r>
            <a:r>
              <a:rPr sz="850" b="1" i="0">
                <a:solidFill>
                  <a:srgbClr val="2E9E6B"/>
                </a:solidFill>
                <a:latin typeface="Microsoft YaHei"/>
                <a:ea typeface="Microsoft YaHei"/>
                <a:cs typeface="Microsoft YaHei"/>
              </a:rPr>
              <a:t>绿 100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489039" y="2780157"/>
            <a:ext cx="4788256" cy="0"/>
          </a:xfrm>
          <a:prstGeom prst="line">
            <a:avLst/>
          </a:prstGeom>
          <a:ln w="9525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489039" y="2926461"/>
            <a:ext cx="4788255" cy="294398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150" b="1" i="0">
                <a:solidFill>
                  <a:srgbClr val="2E9E6B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1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新建应用集群，10.20 网段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150" b="1" i="0">
                <a:solidFill>
                  <a:srgbClr val="2E9E6B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1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同属同机房同一内网拓扑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150" b="1" i="0">
                <a:solidFill>
                  <a:srgbClr val="2E9E6B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1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RTT 与超算对等，延迟忽略不计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150" b="1" i="0">
                <a:solidFill>
                  <a:srgbClr val="2E9E6B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1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独立注册中心集群，服务发现互不干扰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1" i="0">
                <a:solidFill>
                  <a:srgbClr val="2E9E6B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1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切流后独自承接 100% 生产流量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6144768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※ 两站通过各自独立的注册中心集群隔离服务发现 —— 网络共生，逻辑隔离。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58368" y="6437376"/>
            <a:ext cx="10874959" cy="0"/>
          </a:xfrm>
          <a:prstGeom prst="line">
            <a:avLst/>
          </a:prstGeom>
          <a:ln w="9525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58368" y="6492240"/>
            <a:ext cx="977767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8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体检系统升级 V2 · 领域术语表（Ubiquitous Language）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36047" y="649224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6000"/>
              </a:lnSpc>
            </a:pPr>
            <a:r>
              <a:rPr sz="8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06 / 23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02336"/>
            <a:ext cx="1087495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1000" b="1" i="0" spc="110">
                <a:solidFill>
                  <a:srgbClr val="12A5B8"/>
                </a:solidFill>
                <a:latin typeface="Microsoft YaHei"/>
                <a:ea typeface="Microsoft YaHei"/>
                <a:cs typeface="Microsoft YaHei"/>
              </a:rPr>
              <a:t>站点 · SITE / CLUSTER ZONE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"/>
            <a:ext cx="10874959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逻辑双站 / 蓝绿集群：四个维度的准确口径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170432"/>
            <a:ext cx="603504" cy="41148"/>
          </a:xfrm>
          <a:prstGeom prst="rect">
            <a:avLst/>
          </a:prstGeom>
          <a:solidFill>
            <a:srgbClr val="12A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371600" y="1191463"/>
            <a:ext cx="10161727" cy="0"/>
          </a:xfrm>
          <a:prstGeom prst="line">
            <a:avLst/>
          </a:prstGeom>
          <a:ln w="9525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1280160"/>
            <a:ext cx="10692079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Logical Dual Clusters —— 评审时最容易说错的一个词，按下面四行统一说法。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8368" y="2651760"/>
          <a:ext cx="10874958" cy="25603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284655"/>
                <a:gridCol w="8590303"/>
              </a:tblGrid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维度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0E2038"/>
                      </a:solidFill>
                    </a:lnL>
                    <a:lnR w="9525" cap="flat" cmpd="sng" algn="ctr">
                      <a:solidFill>
                        <a:srgbClr val="0E2038"/>
                      </a:solidFill>
                    </a:lnR>
                    <a:lnT w="9525" cap="flat" cmpd="sng" algn="ctr">
                      <a:solidFill>
                        <a:srgbClr val="0E2038"/>
                      </a:solidFill>
                    </a:lnT>
                    <a:lnB w="9525" cap="flat" cmpd="sng" algn="ctr">
                      <a:solidFill>
                        <a:srgbClr val="0E2038"/>
                      </a:solidFill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CONTEXT.md 口径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0E2038"/>
                      </a:solidFill>
                    </a:lnL>
                    <a:lnR w="9525" cap="flat" cmpd="sng" algn="ctr">
                      <a:solidFill>
                        <a:srgbClr val="0E2038"/>
                      </a:solidFill>
                    </a:lnR>
                    <a:lnT w="9525" cap="flat" cmpd="sng" algn="ctr">
                      <a:solidFill>
                        <a:srgbClr val="0E2038"/>
                      </a:solidFill>
                    </a:lnT>
                    <a:lnB w="9525" cap="flat" cmpd="sng" algn="ctr">
                      <a:solidFill>
                        <a:srgbClr val="0E2038"/>
                      </a:solidFill>
                    </a:lnB>
                    <a:solidFill>
                      <a:srgbClr val="0E2038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1100" b="1">
                          <a:solidFill>
                            <a:srgbClr val="2E6FB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本质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1100" b="0">
                          <a:solidFill>
                            <a:srgbClr val="6B7A8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网络共生、逻辑完全隔离的蓝绿发布集群；不是物理异地双机房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1100" b="1">
                          <a:solidFill>
                            <a:srgbClr val="1B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目的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1100" b="0">
                          <a:solidFill>
                            <a:srgbClr val="6B7A8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实现环境隔离与快速切流；不追求物理异地双机房形态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2F6F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1100" b="1">
                          <a:solidFill>
                            <a:srgbClr val="1B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网络位置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1100" b="0">
                          <a:solidFill>
                            <a:srgbClr val="6B7A8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同机房、同一内网拓扑；RTT 与超算对等，跨站网络延迟忽略不计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1100" b="1">
                          <a:solidFill>
                            <a:srgbClr val="2E9E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隔离手段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1100" b="0">
                          <a:solidFill>
                            <a:srgbClr val="6B7A8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各自独立的注册中心集群隔离服务发现 + CLUSTER_ZONE 区域亲和路由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58368" y="6144768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※ 推论：网络层不阻断跨站调用，隔离责任落在「注册中心 + 标签路由」上（详见 ADR 0003）。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58368" y="6437376"/>
            <a:ext cx="10874959" cy="0"/>
          </a:xfrm>
          <a:prstGeom prst="line">
            <a:avLst/>
          </a:prstGeom>
          <a:ln w="9525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58368" y="6492240"/>
            <a:ext cx="977767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8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体检系统升级 V2 · 领域术语表（Ubiquitous Language）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36047" y="649224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6000"/>
              </a:lnSpc>
            </a:pPr>
            <a:r>
              <a:rPr sz="8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07 / 23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deco-ring"/>
          <p:cNvSpPr/>
          <p:nvPr/>
        </p:nvSpPr>
        <p:spPr>
          <a:xfrm>
            <a:off x="8808415" y="-3063239"/>
            <a:ext cx="5120640" cy="5120640"/>
          </a:xfrm>
          <a:prstGeom prst="ellipse">
            <a:avLst/>
          </a:prstGeom>
          <a:solidFill>
            <a:srgbClr val="17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o-ring"/>
          <p:cNvSpPr/>
          <p:nvPr/>
        </p:nvSpPr>
        <p:spPr>
          <a:xfrm>
            <a:off x="9677095" y="-2194560"/>
            <a:ext cx="3383280" cy="3383280"/>
          </a:xfrm>
          <a:prstGeom prst="ellipse">
            <a:avLst/>
          </a:prstGeom>
          <a:solidFill>
            <a:srgbClr val="1B3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o-ring"/>
          <p:cNvSpPr/>
          <p:nvPr/>
        </p:nvSpPr>
        <p:spPr>
          <a:xfrm>
            <a:off x="10454335" y="-1417320"/>
            <a:ext cx="1828800" cy="1828800"/>
          </a:xfrm>
          <a:prstGeom prst="ellipse">
            <a:avLst/>
          </a:prstGeom>
          <a:solidFill>
            <a:srgbClr val="0F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3" y="841248"/>
            <a:ext cx="3108960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800" b="1" i="0">
                <a:solidFill>
                  <a:srgbClr val="1D3E6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249424"/>
            <a:ext cx="9594799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网关与流量路由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962656"/>
            <a:ext cx="9594799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1250" b="1" i="0" spc="90">
                <a:solidFill>
                  <a:srgbClr val="12A5B8"/>
                </a:solidFill>
                <a:latin typeface="Microsoft YaHei"/>
                <a:ea typeface="Microsoft YaHei"/>
                <a:cs typeface="Microsoft YaHei"/>
              </a:rPr>
              <a:t>Routing &amp; Ingress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3401568"/>
            <a:ext cx="822960" cy="45720"/>
          </a:xfrm>
          <a:prstGeom prst="rect">
            <a:avLst/>
          </a:prstGeom>
          <a:solidFill>
            <a:srgbClr val="12A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3621024"/>
            <a:ext cx="8497519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CBD6E2"/>
                </a:solidFill>
                <a:latin typeface="Microsoft YaHei"/>
                <a:ea typeface="Microsoft YaHei"/>
                <a:cs typeface="Microsoft YaHei"/>
              </a:rPr>
              <a:t>两层网关决定「流量去哪个站、站内前后端如何闭合」，标签路由决定「不许跨站串门」。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4590288"/>
            <a:ext cx="1252220" cy="402336"/>
          </a:xfrm>
          <a:prstGeom prst="roundRect">
            <a:avLst>
              <a:gd name="adj" fmla="val 50000"/>
            </a:avLst>
          </a:prstGeom>
          <a:solidFill>
            <a:srgbClr val="17324F"/>
          </a:solidFill>
          <a:ln w="12700">
            <a:solidFill>
              <a:srgbClr val="0F5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4590288"/>
            <a:ext cx="1252220" cy="4023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6000"/>
              </a:lnSpc>
            </a:pPr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L0 统一入口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30044" y="4590288"/>
            <a:ext cx="1391920" cy="402336"/>
          </a:xfrm>
          <a:prstGeom prst="roundRect">
            <a:avLst>
              <a:gd name="adj" fmla="val 50000"/>
            </a:avLst>
          </a:prstGeom>
          <a:solidFill>
            <a:srgbClr val="17324F"/>
          </a:solidFill>
          <a:ln w="12700">
            <a:solidFill>
              <a:srgbClr val="0F5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30044" y="4590288"/>
            <a:ext cx="1391920" cy="4023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6000"/>
              </a:lnSpc>
            </a:pPr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L1 站点接入层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41420" y="4590288"/>
            <a:ext cx="1313687" cy="402336"/>
          </a:xfrm>
          <a:prstGeom prst="roundRect">
            <a:avLst>
              <a:gd name="adj" fmla="val 50000"/>
            </a:avLst>
          </a:prstGeom>
          <a:solidFill>
            <a:srgbClr val="17324F"/>
          </a:solidFill>
          <a:ln w="12700">
            <a:solidFill>
              <a:srgbClr val="0F5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41420" y="4590288"/>
            <a:ext cx="1313687" cy="4023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6000"/>
              </a:lnSpc>
            </a:pPr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区域亲和路由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74564" y="4590288"/>
            <a:ext cx="1593088" cy="402336"/>
          </a:xfrm>
          <a:prstGeom prst="roundRect">
            <a:avLst>
              <a:gd name="adj" fmla="val 50000"/>
            </a:avLst>
          </a:prstGeom>
          <a:solidFill>
            <a:srgbClr val="17324F"/>
          </a:solidFill>
          <a:ln w="12700">
            <a:solidFill>
              <a:srgbClr val="0F5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74564" y="4590288"/>
            <a:ext cx="1593088" cy="4023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6000"/>
              </a:lnSpc>
            </a:pPr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整站全量原子切流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739128"/>
            <a:ext cx="4937760" cy="118872"/>
          </a:xfrm>
          <a:prstGeom prst="rect">
            <a:avLst/>
          </a:prstGeom>
          <a:solidFill>
            <a:srgbClr val="2E6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937760" y="6739128"/>
            <a:ext cx="2286000" cy="118872"/>
          </a:xfrm>
          <a:prstGeom prst="rect">
            <a:avLst/>
          </a:prstGeom>
          <a:solidFill>
            <a:srgbClr val="12A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223760" y="6739128"/>
            <a:ext cx="4967935" cy="118872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658368" y="6437376"/>
            <a:ext cx="10874959" cy="0"/>
          </a:xfrm>
          <a:prstGeom prst="line">
            <a:avLst/>
          </a:prstGeom>
          <a:ln w="9525">
            <a:solidFill>
              <a:srgbClr val="1732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58368" y="6492240"/>
            <a:ext cx="977767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850" b="0" i="0">
                <a:solidFill>
                  <a:srgbClr val="8FA3B8"/>
                </a:solidFill>
                <a:latin typeface="Microsoft YaHei"/>
                <a:ea typeface="Microsoft YaHei"/>
                <a:cs typeface="Microsoft YaHei"/>
              </a:rPr>
              <a:t>体检系统升级 V2 · 领域术语表（Ubiquitous Language）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36047" y="649224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6000"/>
              </a:lnSpc>
            </a:pPr>
            <a:r>
              <a:rPr sz="850" b="0" i="0">
                <a:solidFill>
                  <a:srgbClr val="8FA3B8"/>
                </a:solidFill>
                <a:latin typeface="Microsoft YaHei"/>
                <a:ea typeface="Microsoft YaHei"/>
                <a:cs typeface="Microsoft YaHei"/>
              </a:rPr>
              <a:t>08 / 23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02336"/>
            <a:ext cx="1087495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1000" b="1" i="0" spc="110">
                <a:solidFill>
                  <a:srgbClr val="12A5B8"/>
                </a:solidFill>
                <a:latin typeface="Microsoft YaHei"/>
                <a:ea typeface="Microsoft YaHei"/>
                <a:cs typeface="Microsoft YaHei"/>
              </a:rPr>
              <a:t>路由 · ROUTING &amp; INGRESS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"/>
            <a:ext cx="10874959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两层网关：L0 管去向，L1 管闭合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170432"/>
            <a:ext cx="603504" cy="41148"/>
          </a:xfrm>
          <a:prstGeom prst="rect">
            <a:avLst/>
          </a:prstGeom>
          <a:solidFill>
            <a:srgbClr val="12A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371600" y="1191463"/>
            <a:ext cx="10161727" cy="0"/>
          </a:xfrm>
          <a:prstGeom prst="line">
            <a:avLst/>
          </a:prstGeom>
          <a:ln w="9525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58368" y="1481328"/>
            <a:ext cx="5300319" cy="4572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49808" y="1481328"/>
            <a:ext cx="5117439" cy="77724"/>
          </a:xfrm>
          <a:prstGeom prst="roundRect">
            <a:avLst>
              <a:gd name="adj" fmla="val 50000"/>
            </a:avLst>
          </a:prstGeom>
          <a:solidFill>
            <a:srgbClr val="12A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820259" y="1755648"/>
            <a:ext cx="882396" cy="292608"/>
          </a:xfrm>
          <a:prstGeom prst="roundRect">
            <a:avLst>
              <a:gd name="adj" fmla="val 50000"/>
            </a:avLst>
          </a:prstGeom>
          <a:solidFill>
            <a:srgbClr val="E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20259" y="1755648"/>
            <a:ext cx="882396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6000"/>
              </a:lnSpc>
            </a:pPr>
            <a:r>
              <a:rPr sz="900" b="1" i="0">
                <a:solidFill>
                  <a:srgbClr val="12A5B8"/>
                </a:solidFill>
                <a:latin typeface="Microsoft YaHei"/>
                <a:ea typeface="Microsoft YaHei"/>
                <a:cs typeface="Microsoft YaHei"/>
              </a:rPr>
              <a:t>整站总开关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755648"/>
            <a:ext cx="3814419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L0 统一入口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030349"/>
            <a:ext cx="4788255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950" b="1" i="0" spc="30">
                <a:solidFill>
                  <a:srgbClr val="12A5B8"/>
                </a:solidFill>
                <a:latin typeface="Microsoft YaHei"/>
                <a:ea typeface="Microsoft YaHei"/>
                <a:cs typeface="Microsoft YaHei"/>
              </a:rPr>
              <a:t>L0 Ingress Gateway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14400" y="2304669"/>
            <a:ext cx="4788255" cy="0"/>
          </a:xfrm>
          <a:prstGeom prst="line">
            <a:avLst/>
          </a:prstGeom>
          <a:ln w="9525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14400" y="2450973"/>
            <a:ext cx="4788255" cy="341947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150" b="1" i="0">
                <a:solidFill>
                  <a:srgbClr val="12A5B8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1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部署于前置的高可用入口反向代理层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150" b="1" i="0">
                <a:solidFill>
                  <a:srgbClr val="12A5B8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1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承担整站全量流量的「总开关」角色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150" b="1" i="0">
                <a:solidFill>
                  <a:srgbClr val="12A5B8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1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控制超算与南湾的权重分配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150" b="1" i="0">
                <a:solidFill>
                  <a:srgbClr val="12A5B8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1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严格执行 100:0 或 0:100 原子切换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1" i="0">
                <a:solidFill>
                  <a:srgbClr val="12A5B8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1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不提供中间态权重（无金丝雀）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3007" y="1481328"/>
            <a:ext cx="5300319" cy="4572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24447" y="1481328"/>
            <a:ext cx="5117439" cy="77724"/>
          </a:xfrm>
          <a:prstGeom prst="roundRect">
            <a:avLst>
              <a:gd name="adj" fmla="val 50000"/>
            </a:avLst>
          </a:prstGeom>
          <a:solidFill>
            <a:srgbClr val="2E6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509199" y="1755648"/>
            <a:ext cx="768096" cy="292608"/>
          </a:xfrm>
          <a:prstGeom prst="roundRect">
            <a:avLst>
              <a:gd name="adj" fmla="val 50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09199" y="1755648"/>
            <a:ext cx="768096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6000"/>
              </a:lnSpc>
            </a:pPr>
            <a:r>
              <a:rPr sz="900" b="1" i="0">
                <a:solidFill>
                  <a:srgbClr val="2E6FB7"/>
                </a:solidFill>
                <a:latin typeface="Microsoft YaHei"/>
                <a:ea typeface="Microsoft YaHei"/>
                <a:cs typeface="Microsoft YaHei"/>
              </a:rPr>
              <a:t>站内闭合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9039" y="1755648"/>
            <a:ext cx="3928719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L1 站点接入层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89039" y="2030349"/>
            <a:ext cx="4788255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950" b="1" i="0" spc="30">
                <a:solidFill>
                  <a:srgbClr val="2E6FB7"/>
                </a:solidFill>
                <a:latin typeface="Microsoft YaHei"/>
                <a:ea typeface="Microsoft YaHei"/>
                <a:cs typeface="Microsoft YaHei"/>
              </a:rPr>
              <a:t>L1 Site Ingress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489039" y="2304669"/>
            <a:ext cx="4788256" cy="0"/>
          </a:xfrm>
          <a:prstGeom prst="line">
            <a:avLst/>
          </a:prstGeom>
          <a:ln w="9525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489039" y="2450973"/>
            <a:ext cx="4788255" cy="341947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150" b="1" i="0">
                <a:solidFill>
                  <a:srgbClr val="2E6FB7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1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站点内部的前置接入层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150" b="1" i="0">
                <a:solidFill>
                  <a:srgbClr val="2E6FB7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1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分发本站静态前端资源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150" b="1" i="0">
                <a:solidFill>
                  <a:srgbClr val="2E6FB7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1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反向代理后端 API 请求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150" b="1" i="0">
                <a:solidFill>
                  <a:srgbClr val="2E6FB7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1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铁律：本站前端必调本站后端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1" i="0">
                <a:solidFill>
                  <a:srgbClr val="2E6FB7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1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上线验证可直连本站内部域名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144768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※ L0 只做「全量拨向哪一站」；站内前后端的对应关系由 L1 保证，两层职责不混用。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58368" y="6437376"/>
            <a:ext cx="10874959" cy="0"/>
          </a:xfrm>
          <a:prstGeom prst="line">
            <a:avLst/>
          </a:prstGeom>
          <a:ln w="9525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58368" y="6492240"/>
            <a:ext cx="977767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8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体检系统升级 V2 · 领域术语表（Ubiquitous Language）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36047" y="649224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6000"/>
              </a:lnSpc>
            </a:pPr>
            <a:r>
              <a:rPr sz="8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09 / 23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02336"/>
            <a:ext cx="1087495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1000" b="1" i="0" spc="110">
                <a:solidFill>
                  <a:srgbClr val="12A5B8"/>
                </a:solidFill>
                <a:latin typeface="Microsoft YaHei"/>
                <a:ea typeface="Microsoft YaHei"/>
                <a:cs typeface="Microsoft YaHei"/>
              </a:rPr>
              <a:t>路由 · ROUTING &amp; INGRESS｜ADR 0003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"/>
            <a:ext cx="10874959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区域亲和路由：Zone-Affinity Routing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170432"/>
            <a:ext cx="603504" cy="41148"/>
          </a:xfrm>
          <a:prstGeom prst="rect">
            <a:avLst/>
          </a:prstGeom>
          <a:solidFill>
            <a:srgbClr val="12A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371600" y="1191463"/>
            <a:ext cx="10161727" cy="0"/>
          </a:xfrm>
          <a:prstGeom prst="line">
            <a:avLst/>
          </a:prstGeom>
          <a:ln w="9525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1280160"/>
            <a:ext cx="10692079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同内网意味着网络层默认可达，跨站「串门」只能靠元数据标签与注册中心隔离来杜绝。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367229" y="2112264"/>
            <a:ext cx="7457237" cy="0"/>
          </a:xfrm>
          <a:prstGeom prst="line">
            <a:avLst/>
          </a:prstGeom>
          <a:ln w="19050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2065477" y="1810512"/>
            <a:ext cx="603504" cy="603504"/>
          </a:xfrm>
          <a:prstGeom prst="ellipse">
            <a:avLst/>
          </a:prstGeom>
          <a:solidFill>
            <a:srgbClr val="0E2038"/>
          </a:solidFill>
          <a:ln w="19050">
            <a:solidFill>
              <a:srgbClr val="12A5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65477" y="1810512"/>
            <a:ext cx="603504" cy="6035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6000"/>
              </a:lnSpc>
            </a:pPr>
            <a:r>
              <a:rPr sz="1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615184"/>
            <a:ext cx="3417722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6000"/>
              </a:lnSpc>
            </a:pPr>
            <a:r>
              <a:rPr sz="1400" b="1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注入标签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980944"/>
            <a:ext cx="3307994" cy="2487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sz="11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微服务实例启动时注入所属集群元数据标签 CLUSTER_ZONE</a:t>
            </a:r>
          </a:p>
        </p:txBody>
      </p:sp>
      <p:sp>
        <p:nvSpPr>
          <p:cNvPr id="13" name="Oval 12"/>
          <p:cNvSpPr/>
          <p:nvPr/>
        </p:nvSpPr>
        <p:spPr>
          <a:xfrm>
            <a:off x="5794095" y="1810512"/>
            <a:ext cx="603504" cy="603504"/>
          </a:xfrm>
          <a:prstGeom prst="ellipse">
            <a:avLst/>
          </a:prstGeom>
          <a:solidFill>
            <a:srgbClr val="0E2038"/>
          </a:solidFill>
          <a:ln w="19050">
            <a:solidFill>
              <a:srgbClr val="12A5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94095" y="1810512"/>
            <a:ext cx="603504" cy="6035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6000"/>
              </a:lnSpc>
            </a:pPr>
            <a:r>
              <a:rPr sz="1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6986" y="2615184"/>
            <a:ext cx="3417722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6000"/>
              </a:lnSpc>
            </a:pPr>
            <a:r>
              <a:rPr sz="1400" b="1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同区调用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41850" y="2980944"/>
            <a:ext cx="3307994" cy="2487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sz="11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RPC 客户端严格只调用同一区域的服务实例</a:t>
            </a:r>
          </a:p>
        </p:txBody>
      </p:sp>
      <p:sp>
        <p:nvSpPr>
          <p:cNvPr id="17" name="Oval 16"/>
          <p:cNvSpPr/>
          <p:nvPr/>
        </p:nvSpPr>
        <p:spPr>
          <a:xfrm>
            <a:off x="9522714" y="1810512"/>
            <a:ext cx="603504" cy="603504"/>
          </a:xfrm>
          <a:prstGeom prst="ellipse">
            <a:avLst/>
          </a:prstGeom>
          <a:solidFill>
            <a:srgbClr val="0E2038"/>
          </a:solidFill>
          <a:ln w="19050">
            <a:solidFill>
              <a:srgbClr val="12A5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22714" y="1810512"/>
            <a:ext cx="603504" cy="6035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6000"/>
              </a:lnSpc>
            </a:pPr>
            <a:r>
              <a:rPr sz="1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15604" y="2615184"/>
            <a:ext cx="3417722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6000"/>
              </a:lnSpc>
            </a:pPr>
            <a:r>
              <a:rPr sz="1400" b="1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隔离生效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70468" y="2980944"/>
            <a:ext cx="3307994" cy="2487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sz="11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杜绝同内网跨站串门调用，蓝绿两站互不干扰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5632704"/>
            <a:ext cx="10874959" cy="420624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5632704"/>
            <a:ext cx="50292" cy="420624"/>
          </a:xfrm>
          <a:prstGeom prst="rect">
            <a:avLst/>
          </a:prstGeom>
          <a:solidFill>
            <a:srgbClr val="C94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7824" y="5632704"/>
            <a:ext cx="10454335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红线：出现跨区 RPC 调用即视为隔离失效 —— 会让「原子切流」失去意义，用户在两个版本之间被混调。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144768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※ 决策依据：ADR 0003 cross-cluster-service-isolation（跨集群服务隔离）。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58368" y="6437376"/>
            <a:ext cx="10874959" cy="0"/>
          </a:xfrm>
          <a:prstGeom prst="line">
            <a:avLst/>
          </a:prstGeom>
          <a:ln w="9525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58368" y="6492240"/>
            <a:ext cx="977767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8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体检系统升级 V2 · 领域术语表（Ubiquitous Language）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36047" y="649224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6000"/>
              </a:lnSpc>
            </a:pPr>
            <a:r>
              <a:rPr sz="8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10 / 23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02336"/>
            <a:ext cx="1087495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1000" b="1" i="0" spc="110">
                <a:solidFill>
                  <a:srgbClr val="12A5B8"/>
                </a:solidFill>
                <a:latin typeface="Microsoft YaHei"/>
                <a:ea typeface="Microsoft YaHei"/>
                <a:cs typeface="Microsoft YaHei"/>
              </a:rPr>
              <a:t>路由 · ROUTING &amp; INGRESS｜ADR 0005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"/>
            <a:ext cx="10874959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整站全量原子切流：Atomic All-or-Nothing Cutover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170432"/>
            <a:ext cx="603504" cy="41148"/>
          </a:xfrm>
          <a:prstGeom prst="rect">
            <a:avLst/>
          </a:prstGeom>
          <a:solidFill>
            <a:srgbClr val="12A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371600" y="1191463"/>
            <a:ext cx="10161727" cy="0"/>
          </a:xfrm>
          <a:prstGeom prst="line">
            <a:avLst/>
          </a:prstGeom>
          <a:ln w="9525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58368" y="1481328"/>
            <a:ext cx="3442106" cy="400507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49808" y="1481328"/>
            <a:ext cx="3259226" cy="77724"/>
          </a:xfrm>
          <a:prstGeom prst="roundRect">
            <a:avLst>
              <a:gd name="adj" fmla="val 50000"/>
            </a:avLst>
          </a:prstGeom>
          <a:solidFill>
            <a:srgbClr val="2E6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030372" y="1755648"/>
            <a:ext cx="850646" cy="292608"/>
          </a:xfrm>
          <a:prstGeom prst="roundRect">
            <a:avLst>
              <a:gd name="adj" fmla="val 50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30372" y="1755648"/>
            <a:ext cx="850646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6000"/>
              </a:lnSpc>
            </a:pPr>
            <a:r>
              <a:rPr sz="850" b="1" i="0">
                <a:solidFill>
                  <a:srgbClr val="2E6FB7"/>
                </a:solidFill>
                <a:latin typeface="Microsoft YaHei"/>
                <a:ea typeface="Microsoft YaHei"/>
                <a:cs typeface="Microsoft YaHei"/>
              </a:rPr>
              <a:t>蓝区接全量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1755648"/>
            <a:ext cx="2061108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切换前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2006536"/>
            <a:ext cx="3003194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850" b="1" i="0" spc="30">
                <a:solidFill>
                  <a:srgbClr val="2E6FB7"/>
                </a:solidFill>
                <a:latin typeface="Microsoft YaHei"/>
                <a:ea typeface="Microsoft YaHei"/>
                <a:cs typeface="Microsoft YaHei"/>
              </a:rPr>
              <a:t>100 : 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7824" y="2280856"/>
            <a:ext cx="3003194" cy="155448"/>
          </a:xfrm>
          <a:prstGeom prst="roundRect">
            <a:avLst>
              <a:gd name="adj" fmla="val 50000"/>
            </a:avLst>
          </a:prstGeom>
          <a:solidFill>
            <a:srgbClr val="E7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77824" y="2280856"/>
            <a:ext cx="3003194" cy="155448"/>
          </a:xfrm>
          <a:prstGeom prst="roundRect">
            <a:avLst>
              <a:gd name="adj" fmla="val 50000"/>
            </a:avLst>
          </a:prstGeom>
          <a:solidFill>
            <a:srgbClr val="2E6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" y="2482024"/>
            <a:ext cx="300319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8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流量权重  </a:t>
            </a:r>
            <a:r>
              <a:rPr sz="850" b="1" i="0">
                <a:solidFill>
                  <a:srgbClr val="2E6FB7"/>
                </a:solidFill>
                <a:latin typeface="Microsoft YaHei"/>
                <a:ea typeface="Microsoft YaHei"/>
                <a:cs typeface="Microsoft YaHei"/>
              </a:rPr>
              <a:t>蓝 100</a:t>
            </a:r>
            <a:r>
              <a:rPr sz="8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  :  </a:t>
            </a:r>
            <a:r>
              <a:rPr sz="850" b="1" i="0">
                <a:solidFill>
                  <a:srgbClr val="2E9E6B"/>
                </a:solidFill>
                <a:latin typeface="Microsoft YaHei"/>
                <a:ea typeface="Microsoft YaHei"/>
                <a:cs typeface="Microsoft YaHei"/>
              </a:rPr>
              <a:t>绿 0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77824" y="2756344"/>
            <a:ext cx="3003194" cy="0"/>
          </a:xfrm>
          <a:prstGeom prst="line">
            <a:avLst/>
          </a:prstGeom>
          <a:ln w="9525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77824" y="2902648"/>
            <a:ext cx="3003194" cy="24008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050" b="1" i="0">
                <a:solidFill>
                  <a:srgbClr val="2E6FB7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0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超算区承载常态主业务流量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050" b="1" i="0">
                <a:solidFill>
                  <a:srgbClr val="2E6FB7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0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南湾区待命：任务与消费挂起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 i="0">
                <a:solidFill>
                  <a:srgbClr val="2E6FB7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0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版本 N 在线上运行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74794" y="1481328"/>
            <a:ext cx="3442106" cy="400507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466234" y="1481328"/>
            <a:ext cx="3259226" cy="77724"/>
          </a:xfrm>
          <a:prstGeom prst="roundRect">
            <a:avLst>
              <a:gd name="adj" fmla="val 50000"/>
            </a:avLst>
          </a:prstGeom>
          <a:solidFill>
            <a:srgbClr val="D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746798" y="1755648"/>
            <a:ext cx="850646" cy="292608"/>
          </a:xfrm>
          <a:prstGeom prst="roundRect">
            <a:avLst>
              <a:gd name="adj" fmla="val 50000"/>
            </a:avLst>
          </a:prstGeom>
          <a:solidFill>
            <a:srgbClr val="FCF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46798" y="1755648"/>
            <a:ext cx="850646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6000"/>
              </a:lnSpc>
            </a:pPr>
            <a:r>
              <a:rPr sz="850" b="1" i="0">
                <a:solidFill>
                  <a:srgbClr val="D98A2B"/>
                </a:solidFill>
                <a:latin typeface="Microsoft YaHei"/>
                <a:ea typeface="Microsoft YaHei"/>
                <a:cs typeface="Microsoft YaHei"/>
              </a:rPr>
              <a:t>不做金丝雀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94250" y="1755648"/>
            <a:ext cx="2061108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瞬时拨动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94250" y="2006536"/>
            <a:ext cx="3003194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850" b="1" i="0" spc="30">
                <a:solidFill>
                  <a:srgbClr val="D98A2B"/>
                </a:solidFill>
                <a:latin typeface="Microsoft YaHei"/>
                <a:ea typeface="Microsoft YaHei"/>
                <a:cs typeface="Microsoft YaHei"/>
              </a:rPr>
              <a:t>No Canary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594250" y="2280856"/>
            <a:ext cx="3003194" cy="0"/>
          </a:xfrm>
          <a:prstGeom prst="line">
            <a:avLst/>
          </a:prstGeom>
          <a:ln w="9525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594250" y="2427160"/>
            <a:ext cx="3003194" cy="287635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050" b="1" i="0">
                <a:solidFill>
                  <a:srgbClr val="D98A2B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0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不采用渐进式金丝雀权重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050" b="1" i="0">
                <a:solidFill>
                  <a:srgbClr val="D98A2B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0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流量只在 100:0 与 0:100 之间瞬时拨动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 i="0">
                <a:solidFill>
                  <a:srgbClr val="D98A2B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0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无中间态、无按用户比例灰度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1220" y="1481328"/>
            <a:ext cx="3442106" cy="400507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182660" y="1481328"/>
            <a:ext cx="3259226" cy="77724"/>
          </a:xfrm>
          <a:prstGeom prst="roundRect">
            <a:avLst>
              <a:gd name="adj" fmla="val 50000"/>
            </a:avLst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0463225" y="1755648"/>
            <a:ext cx="850646" cy="292608"/>
          </a:xfrm>
          <a:prstGeom prst="roundRect">
            <a:avLst>
              <a:gd name="adj" fmla="val 50000"/>
            </a:avLst>
          </a:prstGeom>
          <a:solidFill>
            <a:srgbClr val="E7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463225" y="1755648"/>
            <a:ext cx="850646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6000"/>
              </a:lnSpc>
            </a:pPr>
            <a:r>
              <a:rPr sz="850" b="1" i="0">
                <a:solidFill>
                  <a:srgbClr val="2E9E6B"/>
                </a:solidFill>
                <a:latin typeface="Microsoft YaHei"/>
                <a:ea typeface="Microsoft YaHei"/>
                <a:cs typeface="Microsoft YaHei"/>
              </a:rPr>
              <a:t>绿区接全量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10676" y="1755648"/>
            <a:ext cx="2061108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切换后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10676" y="2006536"/>
            <a:ext cx="3003194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850" b="1" i="0" spc="30">
                <a:solidFill>
                  <a:srgbClr val="2E9E6B"/>
                </a:solidFill>
                <a:latin typeface="Microsoft YaHei"/>
                <a:ea typeface="Microsoft YaHei"/>
                <a:cs typeface="Microsoft YaHei"/>
              </a:rPr>
              <a:t>0 : 100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310676" y="2280856"/>
            <a:ext cx="3003194" cy="155448"/>
          </a:xfrm>
          <a:prstGeom prst="roundRect">
            <a:avLst>
              <a:gd name="adj" fmla="val 50000"/>
            </a:avLst>
          </a:prstGeom>
          <a:solidFill>
            <a:srgbClr val="E7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310676" y="2280856"/>
            <a:ext cx="3003194" cy="155448"/>
          </a:xfrm>
          <a:prstGeom prst="roundRect">
            <a:avLst>
              <a:gd name="adj" fmla="val 50000"/>
            </a:avLst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10676" y="2482024"/>
            <a:ext cx="300319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8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流量权重  </a:t>
            </a:r>
            <a:r>
              <a:rPr sz="850" b="1" i="0">
                <a:solidFill>
                  <a:srgbClr val="2E6FB7"/>
                </a:solidFill>
                <a:latin typeface="Microsoft YaHei"/>
                <a:ea typeface="Microsoft YaHei"/>
                <a:cs typeface="Microsoft YaHei"/>
              </a:rPr>
              <a:t>蓝 0</a:t>
            </a:r>
            <a:r>
              <a:rPr sz="8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  :  </a:t>
            </a:r>
            <a:r>
              <a:rPr sz="850" b="1" i="0">
                <a:solidFill>
                  <a:srgbClr val="2E9E6B"/>
                </a:solidFill>
                <a:latin typeface="Microsoft YaHei"/>
                <a:ea typeface="Microsoft YaHei"/>
                <a:cs typeface="Microsoft YaHei"/>
              </a:rPr>
              <a:t>绿 100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310676" y="2756344"/>
            <a:ext cx="3003195" cy="0"/>
          </a:xfrm>
          <a:prstGeom prst="line">
            <a:avLst/>
          </a:prstGeom>
          <a:ln w="9525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8310676" y="2902648"/>
            <a:ext cx="3003194" cy="24008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050" b="1" i="0">
                <a:solidFill>
                  <a:srgbClr val="2E9E6B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0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南湾区承接全量生产流量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050" b="1" i="0">
                <a:solidFill>
                  <a:srgbClr val="2E9E6B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0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上线验证依托站点直连内部域名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 i="0">
                <a:solidFill>
                  <a:srgbClr val="2E9E6B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0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版本 N+1 生效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5632704"/>
            <a:ext cx="10874959" cy="420624"/>
          </a:xfrm>
          <a:prstGeom prst="roundRect">
            <a:avLst>
              <a:gd name="adj" fmla="val 14000"/>
            </a:avLst>
          </a:prstGeom>
          <a:solidFill>
            <a:srgbClr val="E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8368" y="5632704"/>
            <a:ext cx="50292" cy="420624"/>
          </a:xfrm>
          <a:prstGeom prst="rect">
            <a:avLst/>
          </a:prstGeom>
          <a:solidFill>
            <a:srgbClr val="12A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7824" y="5632704"/>
            <a:ext cx="10454335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目的：杜绝用户在两个版本间反复横跳；代价：接流站必须独自扛住 100% 流量（见「发版窗口承压」）。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144768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※ 决策依据：ADR 0005 atomic-cutover-no-canary（原子切流、不做金丝雀）。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58368" y="6437376"/>
            <a:ext cx="10874959" cy="0"/>
          </a:xfrm>
          <a:prstGeom prst="line">
            <a:avLst/>
          </a:prstGeom>
          <a:ln w="9525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58368" y="6492240"/>
            <a:ext cx="977767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8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体检系统升级 V2 · 领域术语表（Ubiquitous Language）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436047" y="649224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6000"/>
              </a:lnSpc>
            </a:pPr>
            <a:r>
              <a:rPr sz="8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11 / 23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deco-ring"/>
          <p:cNvSpPr/>
          <p:nvPr/>
        </p:nvSpPr>
        <p:spPr>
          <a:xfrm>
            <a:off x="8808415" y="-3063239"/>
            <a:ext cx="5120640" cy="5120640"/>
          </a:xfrm>
          <a:prstGeom prst="ellipse">
            <a:avLst/>
          </a:prstGeom>
          <a:solidFill>
            <a:srgbClr val="17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o-ring"/>
          <p:cNvSpPr/>
          <p:nvPr/>
        </p:nvSpPr>
        <p:spPr>
          <a:xfrm>
            <a:off x="9677095" y="-2194560"/>
            <a:ext cx="3383280" cy="3383280"/>
          </a:xfrm>
          <a:prstGeom prst="ellipse">
            <a:avLst/>
          </a:prstGeom>
          <a:solidFill>
            <a:srgbClr val="1B3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o-ring"/>
          <p:cNvSpPr/>
          <p:nvPr/>
        </p:nvSpPr>
        <p:spPr>
          <a:xfrm>
            <a:off x="10454335" y="-1417320"/>
            <a:ext cx="1828800" cy="1828800"/>
          </a:xfrm>
          <a:prstGeom prst="ellipse">
            <a:avLst/>
          </a:prstGeom>
          <a:solidFill>
            <a:srgbClr val="0F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3" y="841248"/>
            <a:ext cx="3108960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800" b="1" i="0">
                <a:solidFill>
                  <a:srgbClr val="1D3E6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249424"/>
            <a:ext cx="9594799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数据库与演进模型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962656"/>
            <a:ext cx="9594799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1250" b="1" i="0" spc="90">
                <a:solidFill>
                  <a:srgbClr val="12A5B8"/>
                </a:solidFill>
                <a:latin typeface="Microsoft YaHei"/>
                <a:ea typeface="Microsoft YaHei"/>
                <a:cs typeface="Microsoft YaHei"/>
              </a:rPr>
              <a:t>Database Evolution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3401568"/>
            <a:ext cx="822960" cy="45720"/>
          </a:xfrm>
          <a:prstGeom prst="rect">
            <a:avLst/>
          </a:prstGeom>
          <a:solidFill>
            <a:srgbClr val="12A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3621024"/>
            <a:ext cx="8497519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CBD6E2"/>
                </a:solidFill>
                <a:latin typeface="Microsoft YaHei"/>
                <a:ea typeface="Microsoft YaHei"/>
                <a:cs typeface="Microsoft YaHei"/>
              </a:rPr>
              <a:t>共享单数据库是原子切流的前提，也是最大的回滚风险点：所以 Schema 只能先膨胀、后收缩。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4590288"/>
            <a:ext cx="2584957" cy="402336"/>
          </a:xfrm>
          <a:prstGeom prst="roundRect">
            <a:avLst>
              <a:gd name="adj" fmla="val 50000"/>
            </a:avLst>
          </a:prstGeom>
          <a:solidFill>
            <a:srgbClr val="17324F"/>
          </a:solidFill>
          <a:ln w="12700">
            <a:solidFill>
              <a:srgbClr val="0F5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4590288"/>
            <a:ext cx="2584957" cy="4023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6000"/>
              </a:lnSpc>
            </a:pPr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膨胀与收缩 Expand and Contract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62781" y="4590288"/>
            <a:ext cx="1732788" cy="402336"/>
          </a:xfrm>
          <a:prstGeom prst="roundRect">
            <a:avLst>
              <a:gd name="adj" fmla="val 50000"/>
            </a:avLst>
          </a:prstGeom>
          <a:solidFill>
            <a:srgbClr val="17324F"/>
          </a:solidFill>
          <a:ln w="12700">
            <a:solidFill>
              <a:srgbClr val="0F5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62781" y="4590288"/>
            <a:ext cx="1732788" cy="4023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6000"/>
              </a:lnSpc>
            </a:pPr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破坏性变更一票否决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739128"/>
            <a:ext cx="4937760" cy="118872"/>
          </a:xfrm>
          <a:prstGeom prst="rect">
            <a:avLst/>
          </a:prstGeom>
          <a:solidFill>
            <a:srgbClr val="2E6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37760" y="6739128"/>
            <a:ext cx="2286000" cy="118872"/>
          </a:xfrm>
          <a:prstGeom prst="rect">
            <a:avLst/>
          </a:prstGeom>
          <a:solidFill>
            <a:srgbClr val="12A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223760" y="6739128"/>
            <a:ext cx="4967935" cy="118872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658368" y="6437376"/>
            <a:ext cx="10874959" cy="0"/>
          </a:xfrm>
          <a:prstGeom prst="line">
            <a:avLst/>
          </a:prstGeom>
          <a:ln w="9525">
            <a:solidFill>
              <a:srgbClr val="1732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58368" y="6492240"/>
            <a:ext cx="977767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850" b="0" i="0">
                <a:solidFill>
                  <a:srgbClr val="8FA3B8"/>
                </a:solidFill>
                <a:latin typeface="Microsoft YaHei"/>
                <a:ea typeface="Microsoft YaHei"/>
                <a:cs typeface="Microsoft YaHei"/>
              </a:rPr>
              <a:t>体检系统升级 V2 · 领域术语表（Ubiquitous Language）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36047" y="649224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6000"/>
              </a:lnSpc>
            </a:pPr>
            <a:r>
              <a:rPr sz="850" b="0" i="0">
                <a:solidFill>
                  <a:srgbClr val="8FA3B8"/>
                </a:solidFill>
                <a:latin typeface="Microsoft YaHei"/>
                <a:ea typeface="Microsoft YaHei"/>
                <a:cs typeface="Microsoft YaHei"/>
              </a:rPr>
              <a:t>12 / 23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02336"/>
            <a:ext cx="1087495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1000" b="1" i="0" spc="110">
                <a:solidFill>
                  <a:srgbClr val="12A5B8"/>
                </a:solidFill>
                <a:latin typeface="Microsoft YaHei"/>
                <a:ea typeface="Microsoft YaHei"/>
                <a:cs typeface="Microsoft YaHei"/>
              </a:rPr>
              <a:t>数据库 · DATABASE EVOLUTION｜ADR 0002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"/>
            <a:ext cx="10874959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膨胀与收缩：Expand and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170432"/>
            <a:ext cx="603504" cy="41148"/>
          </a:xfrm>
          <a:prstGeom prst="rect">
            <a:avLst/>
          </a:prstGeom>
          <a:solidFill>
            <a:srgbClr val="12A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371600" y="1191463"/>
            <a:ext cx="10161727" cy="0"/>
          </a:xfrm>
          <a:prstGeom prst="line">
            <a:avLst/>
          </a:prstGeom>
          <a:ln w="9525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1280160"/>
            <a:ext cx="10692079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针对共享单数据库系统的两阶段架构演进模式，用「时间差」换「可回滚」。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996695" y="2029967"/>
            <a:ext cx="0" cy="2450593"/>
          </a:xfrm>
          <a:prstGeom prst="line">
            <a:avLst/>
          </a:prstGeom>
          <a:ln w="19050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58368" y="1874519"/>
            <a:ext cx="676656" cy="310896"/>
          </a:xfrm>
          <a:prstGeom prst="roundRect">
            <a:avLst>
              <a:gd name="adj" fmla="val 50000"/>
            </a:avLst>
          </a:prstGeom>
          <a:solidFill>
            <a:srgbClr val="0E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874519"/>
            <a:ext cx="676656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6000"/>
              </a:lnSpc>
            </a:pPr>
            <a:r>
              <a:rPr sz="1050" b="1" i="0">
                <a:solidFill>
                  <a:srgbClr val="12A5B8"/>
                </a:solidFill>
                <a:latin typeface="Microsoft YaHei"/>
                <a:ea typeface="Microsoft YaHei"/>
                <a:cs typeface="Microsoft YaHei"/>
              </a:rPr>
              <a:t>Expand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1874519"/>
            <a:ext cx="2487168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1350" b="1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膨胀：只新增，不修改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24528" y="1856231"/>
            <a:ext cx="7308799" cy="10972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6000"/>
              </a:lnSpc>
            </a:pPr>
            <a:r>
              <a:rPr sz="11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发布新版时只新增字段或表，同时兼顾新旧两个版本的读写；老字段保持原样可用。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591056" y="2980944"/>
            <a:ext cx="9942271" cy="0"/>
          </a:xfrm>
          <a:prstGeom prst="line">
            <a:avLst/>
          </a:prstGeom>
          <a:ln w="9525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58368" y="3099815"/>
            <a:ext cx="676656" cy="310896"/>
          </a:xfrm>
          <a:prstGeom prst="roundRect">
            <a:avLst>
              <a:gd name="adj" fmla="val 50000"/>
            </a:avLst>
          </a:prstGeom>
          <a:solidFill>
            <a:srgbClr val="0E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099815"/>
            <a:ext cx="676656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6000"/>
              </a:lnSpc>
            </a:pPr>
            <a:r>
              <a:rPr sz="1050" b="1" i="0">
                <a:solidFill>
                  <a:srgbClr val="12A5B8"/>
                </a:solidFill>
                <a:latin typeface="Microsoft YaHei"/>
                <a:ea typeface="Microsoft YaHei"/>
                <a:cs typeface="Microsoft YaHei"/>
              </a:rPr>
              <a:t>Soak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91056" y="3099815"/>
            <a:ext cx="2487168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1350" b="1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稳定期：至少一个周期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24528" y="3081527"/>
            <a:ext cx="7308799" cy="10972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6000"/>
              </a:lnSpc>
            </a:pPr>
            <a:r>
              <a:rPr sz="11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新版本稳定运行至少一个周期后再动手清理；这段时间就是回滚窗口。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591056" y="4206240"/>
            <a:ext cx="9942271" cy="0"/>
          </a:xfrm>
          <a:prstGeom prst="line">
            <a:avLst/>
          </a:prstGeom>
          <a:ln w="9525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58368" y="4325112"/>
            <a:ext cx="676656" cy="310896"/>
          </a:xfrm>
          <a:prstGeom prst="roundRect">
            <a:avLst>
              <a:gd name="adj" fmla="val 50000"/>
            </a:avLst>
          </a:prstGeom>
          <a:solidFill>
            <a:srgbClr val="0E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4325112"/>
            <a:ext cx="676656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6000"/>
              </a:lnSpc>
            </a:pPr>
            <a:r>
              <a:rPr sz="1050" b="1" i="0">
                <a:solidFill>
                  <a:srgbClr val="12A5B8"/>
                </a:solidFill>
                <a:latin typeface="Microsoft YaHei"/>
                <a:ea typeface="Microsoft YaHei"/>
                <a:cs typeface="Microsoft YaHei"/>
              </a:rPr>
              <a:t>Contract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91056" y="4325112"/>
            <a:ext cx="2487168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1350" b="1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收缩：物理下线老字段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24528" y="4306824"/>
            <a:ext cx="7308799" cy="10972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6000"/>
              </a:lnSpc>
            </a:pPr>
            <a:r>
              <a:rPr sz="11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确认无需回滚后，物理下线并删除老字段，收敛数据模型。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5632704"/>
            <a:ext cx="10874959" cy="420624"/>
          </a:xfrm>
          <a:prstGeom prst="roundRect">
            <a:avLst>
              <a:gd name="adj" fmla="val 14000"/>
            </a:avLst>
          </a:prstGeom>
          <a:solidFill>
            <a:srgbClr val="E7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5632704"/>
            <a:ext cx="50292" cy="420624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7824" y="5632704"/>
            <a:ext cx="10454335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验收口径：回滚至旧版本代码时，数据库仍可无痛读写 —— 这是 Expand 阶段「兼顾新旧版本」的唯一目的。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144768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※ 决策依据：ADR 0002 database-expand-and-contract（数据库膨胀与收缩）。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58368" y="6437376"/>
            <a:ext cx="10874959" cy="0"/>
          </a:xfrm>
          <a:prstGeom prst="line">
            <a:avLst/>
          </a:prstGeom>
          <a:ln w="9525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58368" y="6492240"/>
            <a:ext cx="977767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8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体检系统升级 V2 · 领域术语表（Ubiquitous Language）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36047" y="649224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6000"/>
              </a:lnSpc>
            </a:pPr>
            <a:r>
              <a:rPr sz="8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13 / 23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02336"/>
            <a:ext cx="1087495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1000" b="1" i="0" spc="110">
                <a:solidFill>
                  <a:srgbClr val="12A5B8"/>
                </a:solidFill>
                <a:latin typeface="Microsoft YaHei"/>
                <a:ea typeface="Microsoft YaHei"/>
                <a:cs typeface="Microsoft YaHei"/>
              </a:rPr>
              <a:t>数据库 · DATABASE EVOLUTION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"/>
            <a:ext cx="10874959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破坏性变更一票否决：Destructive DDL Ban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170432"/>
            <a:ext cx="603504" cy="41148"/>
          </a:xfrm>
          <a:prstGeom prst="rect">
            <a:avLst/>
          </a:prstGeom>
          <a:solidFill>
            <a:srgbClr val="12A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371600" y="1191463"/>
            <a:ext cx="10161727" cy="0"/>
          </a:xfrm>
          <a:prstGeom prst="line">
            <a:avLst/>
          </a:prstGeom>
          <a:ln w="9525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1280160"/>
            <a:ext cx="10692079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线上发版前严格禁止以下三类 DDL —— 任何一条都会让「回滚到旧版本代码」直接失败。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810512"/>
            <a:ext cx="3442106" cy="3675887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49808" y="1810512"/>
            <a:ext cx="3259226" cy="77724"/>
          </a:xfrm>
          <a:prstGeom prst="roundRect">
            <a:avLst>
              <a:gd name="adj" fmla="val 50000"/>
            </a:avLst>
          </a:prstGeom>
          <a:solidFill>
            <a:srgbClr val="C94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460394" y="2084831"/>
            <a:ext cx="420624" cy="420624"/>
          </a:xfrm>
          <a:prstGeom prst="ellipse">
            <a:avLst/>
          </a:prstGeom>
          <a:solidFill>
            <a:srgbClr val="C94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60394" y="2084831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6000"/>
              </a:lnSpc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2084831"/>
            <a:ext cx="2363114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字段重命名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2335720"/>
            <a:ext cx="3003194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850" b="1" i="0" spc="30">
                <a:solidFill>
                  <a:srgbClr val="C9435A"/>
                </a:solidFill>
                <a:latin typeface="Microsoft YaHei"/>
                <a:ea typeface="Microsoft YaHei"/>
                <a:cs typeface="Microsoft YaHei"/>
              </a:rPr>
              <a:t>RENAME COLUMN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77824" y="2610040"/>
            <a:ext cx="3003194" cy="0"/>
          </a:xfrm>
          <a:prstGeom prst="line">
            <a:avLst/>
          </a:prstGeom>
          <a:ln w="9525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77824" y="2756344"/>
            <a:ext cx="3003194" cy="2547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050" b="1" i="0">
                <a:solidFill>
                  <a:srgbClr val="C9435A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0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旧版本代码按老名字读写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050" b="1" i="0">
                <a:solidFill>
                  <a:srgbClr val="C9435A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0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发版即报错、回滚也报错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 i="0">
                <a:solidFill>
                  <a:srgbClr val="C9435A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0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替代：新增新名字段，兼容新旧版本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74794" y="1810512"/>
            <a:ext cx="3442106" cy="3675887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466234" y="1810512"/>
            <a:ext cx="3259226" cy="77724"/>
          </a:xfrm>
          <a:prstGeom prst="roundRect">
            <a:avLst>
              <a:gd name="adj" fmla="val 50000"/>
            </a:avLst>
          </a:prstGeom>
          <a:solidFill>
            <a:srgbClr val="C94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76820" y="2084831"/>
            <a:ext cx="420624" cy="420624"/>
          </a:xfrm>
          <a:prstGeom prst="ellipse">
            <a:avLst/>
          </a:prstGeom>
          <a:solidFill>
            <a:srgbClr val="C94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76820" y="2084831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6000"/>
              </a:lnSpc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4250" y="2084831"/>
            <a:ext cx="2363114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存量表加非空字段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4250" y="2335720"/>
            <a:ext cx="3003194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850" b="1" i="0" spc="30">
                <a:solidFill>
                  <a:srgbClr val="C9435A"/>
                </a:solidFill>
                <a:latin typeface="Microsoft YaHei"/>
                <a:ea typeface="Microsoft YaHei"/>
                <a:cs typeface="Microsoft YaHei"/>
              </a:rPr>
              <a:t>ADD NOT NULL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594250" y="2610040"/>
            <a:ext cx="3003194" cy="0"/>
          </a:xfrm>
          <a:prstGeom prst="line">
            <a:avLst/>
          </a:prstGeom>
          <a:ln w="9525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594250" y="2756344"/>
            <a:ext cx="3003194" cy="2547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050" b="1" i="0">
                <a:solidFill>
                  <a:srgbClr val="C9435A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0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存量行没有值，写入即失败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050" b="1" i="0">
                <a:solidFill>
                  <a:srgbClr val="C9435A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0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旧版本 INSERT 不带新列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 i="0">
                <a:solidFill>
                  <a:srgbClr val="C9435A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0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替代：新增可空字段，应用层写默认值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91220" y="1810512"/>
            <a:ext cx="3442106" cy="3675887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182660" y="1810512"/>
            <a:ext cx="3259226" cy="77724"/>
          </a:xfrm>
          <a:prstGeom prst="roundRect">
            <a:avLst>
              <a:gd name="adj" fmla="val 50000"/>
            </a:avLst>
          </a:prstGeom>
          <a:solidFill>
            <a:srgbClr val="C94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93247" y="2084831"/>
            <a:ext cx="420624" cy="420624"/>
          </a:xfrm>
          <a:prstGeom prst="ellipse">
            <a:avLst/>
          </a:prstGeom>
          <a:solidFill>
            <a:srgbClr val="C94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893247" y="2084831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6000"/>
              </a:lnSpc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10676" y="2084831"/>
            <a:ext cx="2363114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即时删表 / 删列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10676" y="2335720"/>
            <a:ext cx="3003194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850" b="1" i="0" spc="30">
                <a:solidFill>
                  <a:srgbClr val="C9435A"/>
                </a:solidFill>
                <a:latin typeface="Microsoft YaHei"/>
                <a:ea typeface="Microsoft YaHei"/>
                <a:cs typeface="Microsoft YaHei"/>
              </a:rPr>
              <a:t>DROP TABLE/COLUMN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310676" y="2610040"/>
            <a:ext cx="3003195" cy="0"/>
          </a:xfrm>
          <a:prstGeom prst="line">
            <a:avLst/>
          </a:prstGeom>
          <a:ln w="9525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310676" y="2756344"/>
            <a:ext cx="3003194" cy="2547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050" b="1" i="0">
                <a:solidFill>
                  <a:srgbClr val="C9435A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0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跳过稳定期直接物理下线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050" b="1" i="0">
                <a:solidFill>
                  <a:srgbClr val="C9435A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0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回滚窗口被一次性销毁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 i="0">
                <a:solidFill>
                  <a:srgbClr val="C9435A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0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替代：留到稳定期后的 Contract 阶段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5632704"/>
            <a:ext cx="10874959" cy="420624"/>
          </a:xfrm>
          <a:prstGeom prst="roundRect">
            <a:avLst>
              <a:gd name="adj" fmla="val 14000"/>
            </a:avLst>
          </a:prstGeom>
          <a:solidFill>
            <a:srgbClr val="FCF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58368" y="5632704"/>
            <a:ext cx="50292" cy="420624"/>
          </a:xfrm>
          <a:prstGeom prst="rect">
            <a:avLst/>
          </a:prstGeom>
          <a:solidFill>
            <a:srgbClr val="D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7824" y="5632704"/>
            <a:ext cx="10454335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口径：破坏性 DDL 不是「谨慎执行」，而是「发版前一票否决」；清理动作只允许出现在稳定期之后的 Contract 阶段。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144768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※ 替代做法列为 Expand &amp; Contract 模式的直接推论（ADR 0002）。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58368" y="6437376"/>
            <a:ext cx="10874959" cy="0"/>
          </a:xfrm>
          <a:prstGeom prst="line">
            <a:avLst/>
          </a:prstGeom>
          <a:ln w="9525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58368" y="6492240"/>
            <a:ext cx="977767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8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体检系统升级 V2 · 领域术语表（Ubiquitous Language）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36047" y="649224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6000"/>
              </a:lnSpc>
            </a:pPr>
            <a:r>
              <a:rPr sz="8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14 / 23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deco-ring"/>
          <p:cNvSpPr/>
          <p:nvPr/>
        </p:nvSpPr>
        <p:spPr>
          <a:xfrm>
            <a:off x="8808415" y="-3063239"/>
            <a:ext cx="5120640" cy="5120640"/>
          </a:xfrm>
          <a:prstGeom prst="ellipse">
            <a:avLst/>
          </a:prstGeom>
          <a:solidFill>
            <a:srgbClr val="17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o-ring"/>
          <p:cNvSpPr/>
          <p:nvPr/>
        </p:nvSpPr>
        <p:spPr>
          <a:xfrm>
            <a:off x="9677095" y="-2194560"/>
            <a:ext cx="3383280" cy="3383280"/>
          </a:xfrm>
          <a:prstGeom prst="ellipse">
            <a:avLst/>
          </a:prstGeom>
          <a:solidFill>
            <a:srgbClr val="1B3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o-ring"/>
          <p:cNvSpPr/>
          <p:nvPr/>
        </p:nvSpPr>
        <p:spPr>
          <a:xfrm>
            <a:off x="10454335" y="-1417320"/>
            <a:ext cx="1828800" cy="1828800"/>
          </a:xfrm>
          <a:prstGeom prst="ellipse">
            <a:avLst/>
          </a:prstGeom>
          <a:solidFill>
            <a:srgbClr val="0F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3" y="841248"/>
            <a:ext cx="3108960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800" b="1" i="0">
                <a:solidFill>
                  <a:srgbClr val="1D3E60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249424"/>
            <a:ext cx="9594799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发布与过渡机制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962656"/>
            <a:ext cx="9594799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1250" b="1" i="0" spc="90">
                <a:solidFill>
                  <a:srgbClr val="12A5B8"/>
                </a:solidFill>
                <a:latin typeface="Microsoft YaHei"/>
                <a:ea typeface="Microsoft YaHei"/>
                <a:cs typeface="Microsoft YaHei"/>
              </a:rPr>
              <a:t>Cutover Mechanics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3401568"/>
            <a:ext cx="822960" cy="45720"/>
          </a:xfrm>
          <a:prstGeom prst="rect">
            <a:avLst/>
          </a:prstGeom>
          <a:solidFill>
            <a:srgbClr val="12A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3621024"/>
            <a:ext cx="8497519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CBD6E2"/>
                </a:solidFill>
                <a:latin typeface="Microsoft YaHei"/>
                <a:ea typeface="Microsoft YaHei"/>
                <a:cs typeface="Microsoft YaHei"/>
              </a:rPr>
              <a:t>原子拨动只是一瞬间；真正决定发版成败的是拨动前后的这五个过渡机制。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4590288"/>
            <a:ext cx="1034288" cy="402336"/>
          </a:xfrm>
          <a:prstGeom prst="roundRect">
            <a:avLst>
              <a:gd name="adj" fmla="val 50000"/>
            </a:avLst>
          </a:prstGeom>
          <a:solidFill>
            <a:srgbClr val="17324F"/>
          </a:solidFill>
          <a:ln w="12700">
            <a:solidFill>
              <a:srgbClr val="0F5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4590288"/>
            <a:ext cx="1034288" cy="4023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6000"/>
              </a:lnSpc>
            </a:pPr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连接排空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912112" y="4590288"/>
            <a:ext cx="1313687" cy="402336"/>
          </a:xfrm>
          <a:prstGeom prst="roundRect">
            <a:avLst>
              <a:gd name="adj" fmla="val 50000"/>
            </a:avLst>
          </a:prstGeom>
          <a:solidFill>
            <a:srgbClr val="17324F"/>
          </a:solidFill>
          <a:ln w="12700">
            <a:solidFill>
              <a:srgbClr val="0F5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12112" y="4590288"/>
            <a:ext cx="1313687" cy="4023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6000"/>
              </a:lnSpc>
            </a:pPr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跨站会话共享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45256" y="4590288"/>
            <a:ext cx="1864105" cy="402336"/>
          </a:xfrm>
          <a:prstGeom prst="roundRect">
            <a:avLst>
              <a:gd name="adj" fmla="val 50000"/>
            </a:avLst>
          </a:prstGeom>
          <a:solidFill>
            <a:srgbClr val="17324F"/>
          </a:solidFill>
          <a:ln w="12700">
            <a:solidFill>
              <a:srgbClr val="0F5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45256" y="4590288"/>
            <a:ext cx="1864105" cy="4023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6000"/>
              </a:lnSpc>
            </a:pPr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单活任务 / 消费者管控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528818" y="4590288"/>
            <a:ext cx="2026158" cy="402336"/>
          </a:xfrm>
          <a:prstGeom prst="roundRect">
            <a:avLst>
              <a:gd name="adj" fmla="val 50000"/>
            </a:avLst>
          </a:prstGeom>
          <a:solidFill>
            <a:srgbClr val="17324F"/>
          </a:solidFill>
          <a:ln w="12700">
            <a:solidFill>
              <a:srgbClr val="0F5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28818" y="4590288"/>
            <a:ext cx="2026158" cy="4023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6000"/>
              </a:lnSpc>
            </a:pPr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HTML 零缓存与自愈重载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4432" y="4590288"/>
            <a:ext cx="1313687" cy="402336"/>
          </a:xfrm>
          <a:prstGeom prst="roundRect">
            <a:avLst>
              <a:gd name="adj" fmla="val 50000"/>
            </a:avLst>
          </a:prstGeom>
          <a:solidFill>
            <a:srgbClr val="17324F"/>
          </a:solidFill>
          <a:ln w="12700">
            <a:solidFill>
              <a:srgbClr val="0F5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4432" y="4590288"/>
            <a:ext cx="1313687" cy="4023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6000"/>
              </a:lnSpc>
            </a:pPr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发版窗口承压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739128"/>
            <a:ext cx="4937760" cy="118872"/>
          </a:xfrm>
          <a:prstGeom prst="rect">
            <a:avLst/>
          </a:prstGeom>
          <a:solidFill>
            <a:srgbClr val="2E6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937760" y="6739128"/>
            <a:ext cx="2286000" cy="118872"/>
          </a:xfrm>
          <a:prstGeom prst="rect">
            <a:avLst/>
          </a:prstGeom>
          <a:solidFill>
            <a:srgbClr val="12A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223760" y="6739128"/>
            <a:ext cx="4967935" cy="118872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658368" y="6437376"/>
            <a:ext cx="10874959" cy="0"/>
          </a:xfrm>
          <a:prstGeom prst="line">
            <a:avLst/>
          </a:prstGeom>
          <a:ln w="9525">
            <a:solidFill>
              <a:srgbClr val="1732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58368" y="6492240"/>
            <a:ext cx="977767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850" b="0" i="0">
                <a:solidFill>
                  <a:srgbClr val="8FA3B8"/>
                </a:solidFill>
                <a:latin typeface="Microsoft YaHei"/>
                <a:ea typeface="Microsoft YaHei"/>
                <a:cs typeface="Microsoft YaHei"/>
              </a:rPr>
              <a:t>体检系统升级 V2 · 领域术语表（Ubiquitous Language）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36047" y="649224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6000"/>
              </a:lnSpc>
            </a:pPr>
            <a:r>
              <a:rPr sz="850" b="0" i="0">
                <a:solidFill>
                  <a:srgbClr val="8FA3B8"/>
                </a:solidFill>
                <a:latin typeface="Microsoft YaHei"/>
                <a:ea typeface="Microsoft YaHei"/>
                <a:cs typeface="Microsoft YaHei"/>
              </a:rPr>
              <a:t>15 / 23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02336"/>
            <a:ext cx="1087495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1000" b="1" i="0" spc="110">
                <a:solidFill>
                  <a:srgbClr val="12A5B8"/>
                </a:solidFill>
                <a:latin typeface="Microsoft YaHei"/>
                <a:ea typeface="Microsoft YaHei"/>
                <a:cs typeface="Microsoft YaHei"/>
              </a:rPr>
              <a:t>发布过渡 · CUTOVER MECHANICS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"/>
            <a:ext cx="10874959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切流时序：拨动前后各发生什么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170432"/>
            <a:ext cx="603504" cy="41148"/>
          </a:xfrm>
          <a:prstGeom prst="rect">
            <a:avLst/>
          </a:prstGeom>
          <a:solidFill>
            <a:srgbClr val="12A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371600" y="1191463"/>
            <a:ext cx="10161727" cy="0"/>
          </a:xfrm>
          <a:prstGeom prst="line">
            <a:avLst/>
          </a:prstGeom>
          <a:ln w="9525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1280160"/>
            <a:ext cx="10692079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按 CONTEXT.md 的术语关系推导的顺序示意，用于评审对齐；具体 SOP 以发布手册与演练脚本为准。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996695" y="2029967"/>
            <a:ext cx="0" cy="2941321"/>
          </a:xfrm>
          <a:prstGeom prst="line">
            <a:avLst/>
          </a:prstGeom>
          <a:ln w="19050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58368" y="1874519"/>
            <a:ext cx="676656" cy="310896"/>
          </a:xfrm>
          <a:prstGeom prst="roundRect">
            <a:avLst>
              <a:gd name="adj" fmla="val 50000"/>
            </a:avLst>
          </a:prstGeom>
          <a:solidFill>
            <a:srgbClr val="0E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874519"/>
            <a:ext cx="676656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6000"/>
              </a:lnSpc>
            </a:pPr>
            <a:r>
              <a:rPr sz="1050" b="1" i="0">
                <a:solidFill>
                  <a:srgbClr val="12A5B8"/>
                </a:solidFill>
                <a:latin typeface="Microsoft YaHei"/>
                <a:ea typeface="Microsoft YaHei"/>
                <a:cs typeface="Microsoft YaHei"/>
              </a:rPr>
              <a:t>T1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1874519"/>
            <a:ext cx="2487168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1200" b="1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L0 原子拨动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24528" y="1856231"/>
            <a:ext cx="7308799" cy="46024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6000"/>
              </a:lnSpc>
            </a:pPr>
            <a:r>
              <a:rPr sz="10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整站全量原子切流：权重 100:0 → 0:100 瞬时拨动，不设中间态。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591056" y="2343911"/>
            <a:ext cx="9942271" cy="0"/>
          </a:xfrm>
          <a:prstGeom prst="line">
            <a:avLst/>
          </a:prstGeom>
          <a:ln w="9525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58368" y="2462783"/>
            <a:ext cx="676656" cy="310896"/>
          </a:xfrm>
          <a:prstGeom prst="roundRect">
            <a:avLst>
              <a:gd name="adj" fmla="val 50000"/>
            </a:avLst>
          </a:prstGeom>
          <a:solidFill>
            <a:srgbClr val="0E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462783"/>
            <a:ext cx="676656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6000"/>
              </a:lnSpc>
            </a:pPr>
            <a:r>
              <a:rPr sz="1050" b="1" i="0">
                <a:solidFill>
                  <a:srgbClr val="12A5B8"/>
                </a:solidFill>
                <a:latin typeface="Microsoft YaHei"/>
                <a:ea typeface="Microsoft YaHei"/>
                <a:cs typeface="Microsoft YaHei"/>
              </a:rPr>
              <a:t>T2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91056" y="2462783"/>
            <a:ext cx="2487168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1200" b="1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用户无感接管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24528" y="2444495"/>
            <a:ext cx="7308799" cy="46024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6000"/>
              </a:lnSpc>
            </a:pPr>
            <a:r>
              <a:rPr sz="10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跨站会话共享：统一 Redis（超算站）共享 Token，切流瞬间免于重新登录。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591056" y="2932176"/>
            <a:ext cx="9942271" cy="0"/>
          </a:xfrm>
          <a:prstGeom prst="line">
            <a:avLst/>
          </a:prstGeom>
          <a:ln w="9525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58368" y="3051048"/>
            <a:ext cx="676656" cy="310896"/>
          </a:xfrm>
          <a:prstGeom prst="roundRect">
            <a:avLst>
              <a:gd name="adj" fmla="val 50000"/>
            </a:avLst>
          </a:prstGeom>
          <a:solidFill>
            <a:srgbClr val="0E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3051048"/>
            <a:ext cx="676656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6000"/>
              </a:lnSpc>
            </a:pPr>
            <a:r>
              <a:rPr sz="1050" b="1" i="0">
                <a:solidFill>
                  <a:srgbClr val="12A5B8"/>
                </a:solidFill>
                <a:latin typeface="Microsoft YaHei"/>
                <a:ea typeface="Microsoft YaHei"/>
                <a:cs typeface="Microsoft YaHei"/>
              </a:rPr>
              <a:t>T3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91056" y="3051048"/>
            <a:ext cx="2487168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1200" b="1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单活任务切换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24528" y="3032760"/>
            <a:ext cx="7308799" cy="46024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6000"/>
              </a:lnSpc>
            </a:pPr>
            <a:r>
              <a:rPr sz="10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新接流站激活 MQ 拉取消费与定时任务调度，原接流站自动挂起，杜绝重复记账。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591056" y="3520440"/>
            <a:ext cx="9942271" cy="0"/>
          </a:xfrm>
          <a:prstGeom prst="line">
            <a:avLst/>
          </a:prstGeom>
          <a:ln w="9525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58368" y="3639312"/>
            <a:ext cx="676656" cy="310896"/>
          </a:xfrm>
          <a:prstGeom prst="roundRect">
            <a:avLst>
              <a:gd name="adj" fmla="val 50000"/>
            </a:avLst>
          </a:prstGeom>
          <a:solidFill>
            <a:srgbClr val="0E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3639312"/>
            <a:ext cx="676656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6000"/>
              </a:lnSpc>
            </a:pPr>
            <a:r>
              <a:rPr sz="1050" b="1" i="0">
                <a:solidFill>
                  <a:srgbClr val="12A5B8"/>
                </a:solidFill>
                <a:latin typeface="Microsoft YaHei"/>
                <a:ea typeface="Microsoft YaHei"/>
                <a:cs typeface="Microsoft YaHei"/>
              </a:rPr>
              <a:t>T4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91056" y="3639312"/>
            <a:ext cx="2487168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1200" b="1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旧站连接排空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24528" y="3621024"/>
            <a:ext cx="7308799" cy="46024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6000"/>
              </a:lnSpc>
            </a:pPr>
            <a:r>
              <a:rPr sz="10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切断新请求流入后，允许在途写事务与长请求自然收敛结束，等待活跃连接归零。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591056" y="4108704"/>
            <a:ext cx="9942271" cy="0"/>
          </a:xfrm>
          <a:prstGeom prst="line">
            <a:avLst/>
          </a:prstGeom>
          <a:ln w="9525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58368" y="4227576"/>
            <a:ext cx="676656" cy="310896"/>
          </a:xfrm>
          <a:prstGeom prst="roundRect">
            <a:avLst>
              <a:gd name="adj" fmla="val 50000"/>
            </a:avLst>
          </a:prstGeom>
          <a:solidFill>
            <a:srgbClr val="0E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4227576"/>
            <a:ext cx="676656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6000"/>
              </a:lnSpc>
            </a:pPr>
            <a:r>
              <a:rPr sz="1050" b="1" i="0">
                <a:solidFill>
                  <a:srgbClr val="12A5B8"/>
                </a:solidFill>
                <a:latin typeface="Microsoft YaHei"/>
                <a:ea typeface="Microsoft YaHei"/>
                <a:cs typeface="Microsoft YaHei"/>
              </a:rPr>
              <a:t>T5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91056" y="4227576"/>
            <a:ext cx="2487168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1200" b="1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旧站方可动工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24528" y="4209287"/>
            <a:ext cx="7308799" cy="46024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6000"/>
              </a:lnSpc>
            </a:pPr>
            <a:r>
              <a:rPr sz="10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活跃连接归零后才允许关闭或更新应用，避免事务中断与数据悬空。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591056" y="4696968"/>
            <a:ext cx="9942271" cy="0"/>
          </a:xfrm>
          <a:prstGeom prst="line">
            <a:avLst/>
          </a:prstGeom>
          <a:ln w="9525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658368" y="4815840"/>
            <a:ext cx="676656" cy="310896"/>
          </a:xfrm>
          <a:prstGeom prst="roundRect">
            <a:avLst>
              <a:gd name="adj" fmla="val 50000"/>
            </a:avLst>
          </a:prstGeom>
          <a:solidFill>
            <a:srgbClr val="0E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" y="4815840"/>
            <a:ext cx="676656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6000"/>
              </a:lnSpc>
            </a:pPr>
            <a:r>
              <a:rPr sz="1050" b="1" i="0">
                <a:solidFill>
                  <a:srgbClr val="12A5B8"/>
                </a:solidFill>
                <a:latin typeface="Microsoft YaHei"/>
                <a:ea typeface="Microsoft YaHei"/>
                <a:cs typeface="Microsoft YaHei"/>
              </a:rPr>
              <a:t>T6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91056" y="4815840"/>
            <a:ext cx="2487168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1200" b="1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窗口承压观察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24528" y="4797552"/>
            <a:ext cx="7308799" cy="46024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6000"/>
              </a:lnSpc>
            </a:pPr>
            <a:r>
              <a:rPr sz="10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接流站以精简合署节点扛全量：P95 恶化 &lt;20% 为门禁，超限触发扩容预案。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8368" y="5486400"/>
            <a:ext cx="10874959" cy="566928"/>
          </a:xfrm>
          <a:prstGeom prst="roundRect">
            <a:avLst>
              <a:gd name="adj" fmla="val 14000"/>
            </a:avLst>
          </a:prstGeom>
          <a:solidFill>
            <a:srgbClr val="E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8368" y="5486400"/>
            <a:ext cx="50292" cy="566928"/>
          </a:xfrm>
          <a:prstGeom prst="rect">
            <a:avLst/>
          </a:prstGeom>
          <a:solidFill>
            <a:srgbClr val="12A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7824" y="5486400"/>
            <a:ext cx="10454335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前端并行生效：HTML 零缓存 + Chunk 加载异常捕获，发现版本落后即自动优雅重载，避免老页面调新接口白屏（ADR 0004）。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6144768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※ T1–T6 为按术语依赖关系推导的示意顺序，非 CONTEXT.md 原文编号。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658368" y="6437376"/>
            <a:ext cx="10874959" cy="0"/>
          </a:xfrm>
          <a:prstGeom prst="line">
            <a:avLst/>
          </a:prstGeom>
          <a:ln w="9525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658368" y="6492240"/>
            <a:ext cx="977767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8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体检系统升级 V2 · 领域术语表（Ubiquitous Language）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436047" y="649224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6000"/>
              </a:lnSpc>
            </a:pPr>
            <a:r>
              <a:rPr sz="8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16 / 23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02336"/>
            <a:ext cx="1087495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1000" b="1" i="0" spc="110">
                <a:solidFill>
                  <a:srgbClr val="12A5B8"/>
                </a:solidFill>
                <a:latin typeface="Microsoft YaHei"/>
                <a:ea typeface="Microsoft YaHei"/>
                <a:cs typeface="Microsoft YaHei"/>
              </a:rPr>
              <a:t>发布过渡 · CUTOVER MECHANICS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"/>
            <a:ext cx="10874959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拨动瞬间的三大保障：会话、任务、前端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170432"/>
            <a:ext cx="603504" cy="41148"/>
          </a:xfrm>
          <a:prstGeom prst="rect">
            <a:avLst/>
          </a:prstGeom>
          <a:solidFill>
            <a:srgbClr val="12A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371600" y="1191463"/>
            <a:ext cx="10161727" cy="0"/>
          </a:xfrm>
          <a:prstGeom prst="line">
            <a:avLst/>
          </a:prstGeom>
          <a:ln w="9525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58368" y="1481328"/>
            <a:ext cx="3442106" cy="4572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49808" y="1481328"/>
            <a:ext cx="3259226" cy="77724"/>
          </a:xfrm>
          <a:prstGeom prst="roundRect">
            <a:avLst>
              <a:gd name="adj" fmla="val 50000"/>
            </a:avLst>
          </a:prstGeom>
          <a:solidFill>
            <a:srgbClr val="2E6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030372" y="1755648"/>
            <a:ext cx="850646" cy="292608"/>
          </a:xfrm>
          <a:prstGeom prst="roundRect">
            <a:avLst>
              <a:gd name="adj" fmla="val 50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30372" y="1755648"/>
            <a:ext cx="850646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6000"/>
              </a:lnSpc>
            </a:pPr>
            <a:r>
              <a:rPr sz="850" b="1" i="0">
                <a:solidFill>
                  <a:srgbClr val="2E6FB7"/>
                </a:solidFill>
                <a:latin typeface="Microsoft YaHei"/>
                <a:ea typeface="Microsoft YaHei"/>
                <a:cs typeface="Microsoft YaHei"/>
              </a:rPr>
              <a:t>用户不重登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1755648"/>
            <a:ext cx="2061108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跨站会话共享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2006536"/>
            <a:ext cx="3003194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850" b="1" i="0" spc="30">
                <a:solidFill>
                  <a:srgbClr val="2E6FB7"/>
                </a:solidFill>
                <a:latin typeface="Microsoft YaHei"/>
                <a:ea typeface="Microsoft YaHei"/>
                <a:cs typeface="Microsoft YaHei"/>
              </a:rPr>
              <a:t>Cross-site Shared Session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77824" y="2280856"/>
            <a:ext cx="3003194" cy="0"/>
          </a:xfrm>
          <a:prstGeom prst="line">
            <a:avLst/>
          </a:prstGeom>
          <a:ln w="9525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77824" y="2427160"/>
            <a:ext cx="3003194" cy="34432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050" b="1" i="0">
                <a:solidFill>
                  <a:srgbClr val="2E6FB7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0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统一 Redis 集中部署在超算站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050" b="1" i="0">
                <a:solidFill>
                  <a:srgbClr val="2E6FB7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0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实现分布式 Token 共享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 i="0">
                <a:solidFill>
                  <a:srgbClr val="2E6FB7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0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切流瞬间用户免于重新登录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4794" y="1481328"/>
            <a:ext cx="3442106" cy="4572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466234" y="1481328"/>
            <a:ext cx="3259226" cy="77724"/>
          </a:xfrm>
          <a:prstGeom prst="roundRect">
            <a:avLst>
              <a:gd name="adj" fmla="val 50000"/>
            </a:avLst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785660" y="1755648"/>
            <a:ext cx="811784" cy="292608"/>
          </a:xfrm>
          <a:prstGeom prst="roundRect">
            <a:avLst>
              <a:gd name="adj" fmla="val 50000"/>
            </a:avLst>
          </a:prstGeom>
          <a:solidFill>
            <a:srgbClr val="E7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85660" y="1755648"/>
            <a:ext cx="811784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6000"/>
              </a:lnSpc>
            </a:pPr>
            <a:r>
              <a:rPr sz="850" b="1" i="0">
                <a:solidFill>
                  <a:srgbClr val="2E9E6B"/>
                </a:solidFill>
                <a:latin typeface="Microsoft YaHei"/>
                <a:ea typeface="Microsoft YaHei"/>
                <a:cs typeface="Microsoft YaHei"/>
              </a:rPr>
              <a:t>ADR 0001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4250" y="1755648"/>
            <a:ext cx="209997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单活任务 / 消费者管控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4250" y="2006536"/>
            <a:ext cx="3003194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850" b="1" i="0" spc="30">
                <a:solidFill>
                  <a:srgbClr val="2E9E6B"/>
                </a:solidFill>
                <a:latin typeface="Microsoft YaHei"/>
                <a:ea typeface="Microsoft YaHei"/>
                <a:cs typeface="Microsoft YaHei"/>
              </a:rPr>
              <a:t>Single-Active Task &amp; MQ Consumer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594250" y="2280856"/>
            <a:ext cx="3003194" cy="0"/>
          </a:xfrm>
          <a:prstGeom prst="line">
            <a:avLst/>
          </a:prstGeom>
          <a:ln w="9525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594250" y="2427160"/>
            <a:ext cx="3003194" cy="34432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050" b="1" i="0">
                <a:solidFill>
                  <a:srgbClr val="2E9E6B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0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同一时刻仅接流集群激活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050" b="1" i="0">
                <a:solidFill>
                  <a:srgbClr val="2E9E6B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0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MQ 拉取消费 + 定时任务调度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050" b="1" i="0">
                <a:solidFill>
                  <a:srgbClr val="2E9E6B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0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待命端自动挂起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 i="0">
                <a:solidFill>
                  <a:srgbClr val="2E9E6B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0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杜绝并发竞争消费与重复记账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91220" y="1481328"/>
            <a:ext cx="3442106" cy="4572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182660" y="1481328"/>
            <a:ext cx="3259226" cy="77724"/>
          </a:xfrm>
          <a:prstGeom prst="roundRect">
            <a:avLst>
              <a:gd name="adj" fmla="val 50000"/>
            </a:avLst>
          </a:prstGeom>
          <a:solidFill>
            <a:srgbClr val="D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502087" y="1755648"/>
            <a:ext cx="811784" cy="292608"/>
          </a:xfrm>
          <a:prstGeom prst="roundRect">
            <a:avLst>
              <a:gd name="adj" fmla="val 50000"/>
            </a:avLst>
          </a:prstGeom>
          <a:solidFill>
            <a:srgbClr val="FCF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02087" y="1755648"/>
            <a:ext cx="811784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6000"/>
              </a:lnSpc>
            </a:pPr>
            <a:r>
              <a:rPr sz="850" b="1" i="0">
                <a:solidFill>
                  <a:srgbClr val="D98A2B"/>
                </a:solidFill>
                <a:latin typeface="Microsoft YaHei"/>
                <a:ea typeface="Microsoft YaHei"/>
                <a:cs typeface="Microsoft YaHei"/>
              </a:rPr>
              <a:t>ADR 0004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10676" y="1755648"/>
            <a:ext cx="209997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HTML 零缓存与自愈重载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10676" y="2006536"/>
            <a:ext cx="3003194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850" b="1" i="0" spc="30">
                <a:solidFill>
                  <a:srgbClr val="D98A2B"/>
                </a:solidFill>
                <a:latin typeface="Microsoft YaHei"/>
                <a:ea typeface="Microsoft YaHei"/>
                <a:cs typeface="Microsoft YaHei"/>
              </a:rPr>
              <a:t>Zero-Cache HTML &amp; Self-Healing Reload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310676" y="2280856"/>
            <a:ext cx="3003195" cy="0"/>
          </a:xfrm>
          <a:prstGeom prst="line">
            <a:avLst/>
          </a:prstGeom>
          <a:ln w="9525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310676" y="2427160"/>
            <a:ext cx="3003194" cy="34432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050" b="1" i="0">
                <a:solidFill>
                  <a:srgbClr val="D98A2B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0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Web 入口文件禁止一切强缓存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050" b="1" i="0">
                <a:solidFill>
                  <a:srgbClr val="D98A2B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0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框架集成 Chunk 加载异常捕获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050" b="1" i="0">
                <a:solidFill>
                  <a:srgbClr val="D98A2B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0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切流 / 版本落后时自动优雅重载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 i="0">
                <a:solidFill>
                  <a:srgbClr val="D98A2B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0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避免老页面调新接口白屏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144768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※ 三者共同保证「瞬时拨动」对用户与数据都是无感的：会话不断、账不重复、页面不白屏。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58368" y="6437376"/>
            <a:ext cx="10874959" cy="0"/>
          </a:xfrm>
          <a:prstGeom prst="line">
            <a:avLst/>
          </a:prstGeom>
          <a:ln w="9525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58368" y="6492240"/>
            <a:ext cx="977767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8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体检系统升级 V2 · 领域术语表（Ubiquitous Language）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36047" y="649224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6000"/>
              </a:lnSpc>
            </a:pPr>
            <a:r>
              <a:rPr sz="8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17 / 23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02336"/>
            <a:ext cx="1087495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1000" b="1" i="0" spc="110">
                <a:solidFill>
                  <a:srgbClr val="12A5B8"/>
                </a:solidFill>
                <a:latin typeface="Microsoft YaHei"/>
                <a:ea typeface="Microsoft YaHei"/>
                <a:cs typeface="Microsoft YaHei"/>
              </a:rPr>
              <a:t>发布过渡 · CUTOVER MECHANICS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"/>
            <a:ext cx="10874959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发版窗口承压：Release-Window Capacity Acceptance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170432"/>
            <a:ext cx="603504" cy="41148"/>
          </a:xfrm>
          <a:prstGeom prst="rect">
            <a:avLst/>
          </a:prstGeom>
          <a:solidFill>
            <a:srgbClr val="12A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371600" y="1191463"/>
            <a:ext cx="10161727" cy="0"/>
          </a:xfrm>
          <a:prstGeom prst="line">
            <a:avLst/>
          </a:prstGeom>
          <a:ln w="9525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1280160"/>
            <a:ext cx="10692079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不做金丝雀的代价 —— 接流站要在发版窗口内独自承接 100% 生产流量，这是已接受的风险。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810512"/>
            <a:ext cx="5300319" cy="4242816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49808" y="1810512"/>
            <a:ext cx="5117439" cy="77724"/>
          </a:xfrm>
          <a:prstGeom prst="roundRect">
            <a:avLst>
              <a:gd name="adj" fmla="val 50000"/>
            </a:avLst>
          </a:prstGeom>
          <a:solidFill>
            <a:srgbClr val="D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705959" y="2084831"/>
            <a:ext cx="996696" cy="292608"/>
          </a:xfrm>
          <a:prstGeom prst="roundRect">
            <a:avLst>
              <a:gd name="adj" fmla="val 50000"/>
            </a:avLst>
          </a:prstGeom>
          <a:solidFill>
            <a:srgbClr val="FCF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5959" y="2084831"/>
            <a:ext cx="996696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6000"/>
              </a:lnSpc>
            </a:pPr>
            <a:r>
              <a:rPr sz="900" b="1" i="0">
                <a:solidFill>
                  <a:srgbClr val="D98A2B"/>
                </a:solidFill>
                <a:latin typeface="Microsoft YaHei"/>
                <a:ea typeface="Microsoft YaHei"/>
                <a:cs typeface="Microsoft YaHei"/>
              </a:rPr>
              <a:t>允许性能降级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084831"/>
            <a:ext cx="3700119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已接受的风险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359532"/>
            <a:ext cx="4788255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950" b="1" i="0" spc="30">
                <a:solidFill>
                  <a:srgbClr val="D98A2B"/>
                </a:solidFill>
                <a:latin typeface="Microsoft YaHei"/>
                <a:ea typeface="Microsoft YaHei"/>
                <a:cs typeface="Microsoft YaHei"/>
              </a:rPr>
              <a:t>Accepted Risk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14400" y="2633852"/>
            <a:ext cx="4788255" cy="0"/>
          </a:xfrm>
          <a:prstGeom prst="line">
            <a:avLst/>
          </a:prstGeom>
          <a:ln w="9525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14400" y="2780156"/>
            <a:ext cx="4788255" cy="309029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150" b="1" i="0">
                <a:solidFill>
                  <a:srgbClr val="D98A2B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1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承接 100% 生产流量的站点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150" b="1" i="0">
                <a:solidFill>
                  <a:srgbClr val="D98A2B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1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以精简合署节点承载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150" b="1" i="0">
                <a:solidFill>
                  <a:srgbClr val="D98A2B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1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发版窗口内允许性能降级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1" i="0">
                <a:solidFill>
                  <a:srgbClr val="D98A2B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1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属于事前明示、已被接受的风险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1810512"/>
            <a:ext cx="5300319" cy="4242816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24447" y="1810512"/>
            <a:ext cx="5117439" cy="77724"/>
          </a:xfrm>
          <a:prstGeom prst="roundRect">
            <a:avLst>
              <a:gd name="adj" fmla="val 50000"/>
            </a:avLst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394899" y="2084831"/>
            <a:ext cx="882396" cy="292608"/>
          </a:xfrm>
          <a:prstGeom prst="roundRect">
            <a:avLst>
              <a:gd name="adj" fmla="val 50000"/>
            </a:avLst>
          </a:prstGeom>
          <a:solidFill>
            <a:srgbClr val="E7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94899" y="2084831"/>
            <a:ext cx="882396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6000"/>
              </a:lnSpc>
            </a:pPr>
            <a:r>
              <a:rPr sz="900" b="1" i="0">
                <a:solidFill>
                  <a:srgbClr val="2E9E6B"/>
                </a:solidFill>
                <a:latin typeface="Microsoft YaHei"/>
                <a:ea typeface="Microsoft YaHei"/>
                <a:cs typeface="Microsoft YaHei"/>
              </a:rPr>
              <a:t>超限即扩容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89039" y="2084831"/>
            <a:ext cx="3814419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门禁与预案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89039" y="2359532"/>
            <a:ext cx="4788255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950" b="1" i="0" spc="30">
                <a:solidFill>
                  <a:srgbClr val="2E9E6B"/>
                </a:solidFill>
                <a:latin typeface="Microsoft YaHei"/>
                <a:ea typeface="Microsoft YaHei"/>
                <a:cs typeface="Microsoft YaHei"/>
              </a:rPr>
              <a:t>Gate &amp; Fallback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489039" y="2633852"/>
            <a:ext cx="4788256" cy="0"/>
          </a:xfrm>
          <a:prstGeom prst="line">
            <a:avLst/>
          </a:prstGeom>
          <a:ln w="9525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489039" y="2780156"/>
            <a:ext cx="4788255" cy="309029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150" b="1" i="0">
                <a:solidFill>
                  <a:srgbClr val="2E9E6B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1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P95 恶化上限 &lt;20%（量化门禁）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150" b="1" i="0">
                <a:solidFill>
                  <a:srgbClr val="2E9E6B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1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全链路演练验证通过（准入门禁）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150" b="1" i="0">
                <a:solidFill>
                  <a:srgbClr val="2E9E6B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1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超限触发扩容预案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1" i="0">
                <a:solidFill>
                  <a:srgbClr val="2E9E6B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1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与「整站全量原子切流」配套生效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144768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※ 结论：风险可以接受，但必须有量化门禁（P95 &lt;20%）与演练证据，超限就走扩容预案。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58368" y="6437376"/>
            <a:ext cx="10874959" cy="0"/>
          </a:xfrm>
          <a:prstGeom prst="line">
            <a:avLst/>
          </a:prstGeom>
          <a:ln w="9525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58368" y="6492240"/>
            <a:ext cx="977767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8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体检系统升级 V2 · 领域术语表（Ubiquitous Language）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36047" y="649224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6000"/>
              </a:lnSpc>
            </a:pPr>
            <a:r>
              <a:rPr sz="8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18 / 23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02336"/>
            <a:ext cx="1087495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1000" b="1" i="0" spc="110">
                <a:solidFill>
                  <a:srgbClr val="12A5B8"/>
                </a:solidFill>
                <a:latin typeface="Microsoft YaHei"/>
                <a:ea typeface="Microsoft YaHei"/>
                <a:cs typeface="Microsoft YaHei"/>
              </a:rPr>
              <a:t>REFERENCE 1/2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"/>
            <a:ext cx="10874959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术语速查表（1/2）：站点 · 网关与流量路由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170432"/>
            <a:ext cx="603504" cy="41148"/>
          </a:xfrm>
          <a:prstGeom prst="rect">
            <a:avLst/>
          </a:prstGeom>
          <a:solidFill>
            <a:srgbClr val="12A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371600" y="1191463"/>
            <a:ext cx="10161727" cy="0"/>
          </a:xfrm>
          <a:prstGeom prst="line">
            <a:avLst/>
          </a:prstGeom>
          <a:ln w="9525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" y="1664207"/>
          <a:ext cx="10874956" cy="42062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101882"/>
                <a:gridCol w="2467427"/>
                <a:gridCol w="5483172"/>
                <a:gridCol w="822475"/>
              </a:tblGrid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术语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0E2038"/>
                      </a:solidFill>
                    </a:lnL>
                    <a:lnR w="9525" cap="flat" cmpd="sng" algn="ctr">
                      <a:solidFill>
                        <a:srgbClr val="0E2038"/>
                      </a:solidFill>
                    </a:lnR>
                    <a:lnT w="9525" cap="flat" cmpd="sng" algn="ctr">
                      <a:solidFill>
                        <a:srgbClr val="0E2038"/>
                      </a:solidFill>
                    </a:lnT>
                    <a:lnB w="9525" cap="flat" cmpd="sng" algn="ctr">
                      <a:solidFill>
                        <a:srgbClr val="0E2038"/>
                      </a:solidFill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英文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0E2038"/>
                      </a:solidFill>
                    </a:lnL>
                    <a:lnR w="9525" cap="flat" cmpd="sng" algn="ctr">
                      <a:solidFill>
                        <a:srgbClr val="0E2038"/>
                      </a:solidFill>
                    </a:lnR>
                    <a:lnT w="9525" cap="flat" cmpd="sng" algn="ctr">
                      <a:solidFill>
                        <a:srgbClr val="0E2038"/>
                      </a:solidFill>
                    </a:lnT>
                    <a:lnB w="9525" cap="flat" cmpd="sng" algn="ctr">
                      <a:solidFill>
                        <a:srgbClr val="0E2038"/>
                      </a:solidFill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一句话定义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0E2038"/>
                      </a:solidFill>
                    </a:lnL>
                    <a:lnR w="9525" cap="flat" cmpd="sng" algn="ctr">
                      <a:solidFill>
                        <a:srgbClr val="0E2038"/>
                      </a:solidFill>
                    </a:lnR>
                    <a:lnT w="9525" cap="flat" cmpd="sng" algn="ctr">
                      <a:solidFill>
                        <a:srgbClr val="0E2038"/>
                      </a:solidFill>
                    </a:lnT>
                    <a:lnB w="9525" cap="flat" cmpd="sng" algn="ctr">
                      <a:solidFill>
                        <a:srgbClr val="0E2038"/>
                      </a:solidFill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8000"/>
                        </a:lnSpc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域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0E2038"/>
                      </a:solidFill>
                    </a:lnL>
                    <a:lnR w="9525" cap="flat" cmpd="sng" algn="ctr">
                      <a:solidFill>
                        <a:srgbClr val="0E2038"/>
                      </a:solidFill>
                    </a:lnR>
                    <a:lnT w="9525" cap="flat" cmpd="sng" algn="ctr">
                      <a:solidFill>
                        <a:srgbClr val="0E2038"/>
                      </a:solidFill>
                    </a:lnT>
                    <a:lnB w="9525" cap="flat" cmpd="sng" algn="ctr">
                      <a:solidFill>
                        <a:srgbClr val="0E2038"/>
                      </a:solidFill>
                    </a:lnB>
                    <a:solidFill>
                      <a:srgbClr val="0E2038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950" b="1">
                          <a:solidFill>
                            <a:srgbClr val="1B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超算区 / 蓝区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950" b="0">
                          <a:solidFill>
                            <a:srgbClr val="1B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Supercomputing Zone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950" b="0">
                          <a:solidFill>
                            <a:srgbClr val="1B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原有集群（10.142 网段），同机房同内网，承载常态主业务流量，挂载全量数据层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8000"/>
                        </a:lnSpc>
                      </a:pPr>
                      <a:r>
                        <a:rPr sz="900" b="1">
                          <a:solidFill>
                            <a:srgbClr val="2E6FB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站点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950" b="1">
                          <a:solidFill>
                            <a:srgbClr val="1B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南湾区 / 绿区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950" b="0">
                          <a:solidFill>
                            <a:srgbClr val="1B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Nanwan Zone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950" b="0">
                          <a:solidFill>
                            <a:srgbClr val="1B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新建集群（10.20 网段），同机房同内网、RTT 对等；独立注册中心隔离服务发现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8000"/>
                        </a:lnSpc>
                      </a:pPr>
                      <a:r>
                        <a:rPr sz="900" b="1">
                          <a:solidFill>
                            <a:srgbClr val="2E6FB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站点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2F6F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950" b="1">
                          <a:solidFill>
                            <a:srgbClr val="1B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逻辑双站 / 蓝绿集群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950" b="0">
                          <a:solidFill>
                            <a:srgbClr val="1B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Logical Dual Clusters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950" b="0">
                          <a:solidFill>
                            <a:srgbClr val="1B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网络共生、逻辑完全隔离的蓝绿发布集群，用于环境隔离与快速切流，非物理异地双机房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8000"/>
                        </a:lnSpc>
                      </a:pPr>
                      <a:r>
                        <a:rPr sz="900" b="1">
                          <a:solidFill>
                            <a:srgbClr val="2E6FB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站点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950" b="1">
                          <a:solidFill>
                            <a:srgbClr val="1B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L0 统一入口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950" b="0">
                          <a:solidFill>
                            <a:srgbClr val="1B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L0 Ingress Gateway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950" b="0">
                          <a:solidFill>
                            <a:srgbClr val="1B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前置高可用入口反代，整站全量流量总开关，权重严格 100:0 或 0:100 原子切换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8000"/>
                        </a:lnSpc>
                      </a:pPr>
                      <a:r>
                        <a:rPr sz="900" b="1">
                          <a:solidFill>
                            <a:srgbClr val="12A5B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路由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2F6F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950" b="1">
                          <a:solidFill>
                            <a:srgbClr val="1B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L1 站点接入层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950" b="0">
                          <a:solidFill>
                            <a:srgbClr val="1B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L1 Site Ingress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950" b="0">
                          <a:solidFill>
                            <a:srgbClr val="1B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站内前置接入层，分发本站静态资源并反代 API：本站前端必调本站后端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8000"/>
                        </a:lnSpc>
                      </a:pPr>
                      <a:r>
                        <a:rPr sz="900" b="1">
                          <a:solidFill>
                            <a:srgbClr val="12A5B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路由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950" b="1">
                          <a:solidFill>
                            <a:srgbClr val="1B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区域亲和路由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950" b="0">
                          <a:solidFill>
                            <a:srgbClr val="1B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Zone-Affinity Routing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950" b="0">
                          <a:solidFill>
                            <a:srgbClr val="1B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实例启动注入 CLUSTER_ZONE 标签，RPC 严格同区调用，杜绝跨站串门（ADR 0003）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8000"/>
                        </a:lnSpc>
                      </a:pPr>
                      <a:r>
                        <a:rPr sz="900" b="1">
                          <a:solidFill>
                            <a:srgbClr val="12A5B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路由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2F6F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950" b="1">
                          <a:solidFill>
                            <a:srgbClr val="1B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整站全量原子切流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950" b="0">
                          <a:solidFill>
                            <a:srgbClr val="1B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Atomic All-or-Nothing Cutover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950" b="0">
                          <a:solidFill>
                            <a:srgbClr val="1B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不做金丝雀，流量在 100:0 与 0:100 间瞬时拨动；验证依托站点直连内部域名（ADR 0005）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8000"/>
                        </a:lnSpc>
                      </a:pPr>
                      <a:r>
                        <a:rPr sz="900" b="1">
                          <a:solidFill>
                            <a:srgbClr val="12A5B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路由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8" name="Connector 7"/>
          <p:cNvCxnSpPr/>
          <p:nvPr/>
        </p:nvCxnSpPr>
        <p:spPr>
          <a:xfrm>
            <a:off x="658368" y="6437376"/>
            <a:ext cx="10874959" cy="0"/>
          </a:xfrm>
          <a:prstGeom prst="line">
            <a:avLst/>
          </a:prstGeom>
          <a:ln w="9525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6492240"/>
            <a:ext cx="977767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8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体检系统升级 V2 · 领域术语表（Ubiquitous Language）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6047" y="649224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6000"/>
              </a:lnSpc>
            </a:pPr>
            <a:r>
              <a:rPr sz="8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19 / 23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02336"/>
            <a:ext cx="1087495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1000" b="1" i="0" spc="110">
                <a:solidFill>
                  <a:srgbClr val="12A5B8"/>
                </a:solidFill>
                <a:latin typeface="Microsoft YaHei"/>
                <a:ea typeface="Microsoft YaHei"/>
                <a:cs typeface="Microsoft YaHei"/>
              </a:rPr>
              <a:t>REFERENCE 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"/>
            <a:ext cx="10874959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术语速查表（2/2）：数据库演进 · 发布与过渡机制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170432"/>
            <a:ext cx="603504" cy="41148"/>
          </a:xfrm>
          <a:prstGeom prst="rect">
            <a:avLst/>
          </a:prstGeom>
          <a:solidFill>
            <a:srgbClr val="12A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371600" y="1191463"/>
            <a:ext cx="10161727" cy="0"/>
          </a:xfrm>
          <a:prstGeom prst="line">
            <a:avLst/>
          </a:prstGeom>
          <a:ln w="9525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" y="1664207"/>
          <a:ext cx="10874956" cy="42062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101882"/>
                <a:gridCol w="2467427"/>
                <a:gridCol w="5483172"/>
                <a:gridCol w="822475"/>
              </a:tblGrid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术语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0E2038"/>
                      </a:solidFill>
                    </a:lnL>
                    <a:lnR w="9525" cap="flat" cmpd="sng" algn="ctr">
                      <a:solidFill>
                        <a:srgbClr val="0E2038"/>
                      </a:solidFill>
                    </a:lnR>
                    <a:lnT w="9525" cap="flat" cmpd="sng" algn="ctr">
                      <a:solidFill>
                        <a:srgbClr val="0E2038"/>
                      </a:solidFill>
                    </a:lnT>
                    <a:lnB w="9525" cap="flat" cmpd="sng" algn="ctr">
                      <a:solidFill>
                        <a:srgbClr val="0E2038"/>
                      </a:solidFill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英文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0E2038"/>
                      </a:solidFill>
                    </a:lnL>
                    <a:lnR w="9525" cap="flat" cmpd="sng" algn="ctr">
                      <a:solidFill>
                        <a:srgbClr val="0E2038"/>
                      </a:solidFill>
                    </a:lnR>
                    <a:lnT w="9525" cap="flat" cmpd="sng" algn="ctr">
                      <a:solidFill>
                        <a:srgbClr val="0E2038"/>
                      </a:solidFill>
                    </a:lnT>
                    <a:lnB w="9525" cap="flat" cmpd="sng" algn="ctr">
                      <a:solidFill>
                        <a:srgbClr val="0E2038"/>
                      </a:solidFill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一句话定义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0E2038"/>
                      </a:solidFill>
                    </a:lnL>
                    <a:lnR w="9525" cap="flat" cmpd="sng" algn="ctr">
                      <a:solidFill>
                        <a:srgbClr val="0E2038"/>
                      </a:solidFill>
                    </a:lnR>
                    <a:lnT w="9525" cap="flat" cmpd="sng" algn="ctr">
                      <a:solidFill>
                        <a:srgbClr val="0E2038"/>
                      </a:solidFill>
                    </a:lnT>
                    <a:lnB w="9525" cap="flat" cmpd="sng" algn="ctr">
                      <a:solidFill>
                        <a:srgbClr val="0E2038"/>
                      </a:solidFill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8000"/>
                        </a:lnSpc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域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0E2038"/>
                      </a:solidFill>
                    </a:lnL>
                    <a:lnR w="9525" cap="flat" cmpd="sng" algn="ctr">
                      <a:solidFill>
                        <a:srgbClr val="0E2038"/>
                      </a:solidFill>
                    </a:lnR>
                    <a:lnT w="9525" cap="flat" cmpd="sng" algn="ctr">
                      <a:solidFill>
                        <a:srgbClr val="0E2038"/>
                      </a:solidFill>
                    </a:lnT>
                    <a:lnB w="9525" cap="flat" cmpd="sng" algn="ctr">
                      <a:solidFill>
                        <a:srgbClr val="0E2038"/>
                      </a:solidFill>
                    </a:lnB>
                    <a:solidFill>
                      <a:srgbClr val="0E2038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950" b="1">
                          <a:solidFill>
                            <a:srgbClr val="1B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膨胀与收缩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950" b="0">
                          <a:solidFill>
                            <a:srgbClr val="1B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Expand and Contract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950" b="0">
                          <a:solidFill>
                            <a:srgbClr val="1B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先只新增字段/表以兼顾新旧版本，稳定至少一个周期后再物理下线老字段（ADR 0002）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8000"/>
                        </a:lnSpc>
                      </a:pPr>
                      <a:r>
                        <a:rPr sz="900" b="1">
                          <a:solidFill>
                            <a:srgbClr val="D98A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数据库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950" b="1">
                          <a:solidFill>
                            <a:srgbClr val="1B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破坏性变更一票否决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950" b="0">
                          <a:solidFill>
                            <a:srgbClr val="1B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Destructive DDL Ban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950" b="0">
                          <a:solidFill>
                            <a:srgbClr val="1B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发版前禁止字段重命名、存量表直接加非空字段、即时删表删列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8000"/>
                        </a:lnSpc>
                      </a:pPr>
                      <a:r>
                        <a:rPr sz="900" b="1">
                          <a:solidFill>
                            <a:srgbClr val="D98A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数据库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2F6F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950" b="1">
                          <a:solidFill>
                            <a:srgbClr val="1B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连接排空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950" b="0">
                          <a:solidFill>
                            <a:srgbClr val="1B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Connection Draining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950" b="0">
                          <a:solidFill>
                            <a:srgbClr val="1B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切断新请求后允许在途写事务与长请求收敛，活跃连接归零才可关闭或更新应用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8000"/>
                        </a:lnSpc>
                      </a:pPr>
                      <a:r>
                        <a:rPr sz="900" b="1">
                          <a:solidFill>
                            <a:srgbClr val="2E9E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发布过渡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950" b="1">
                          <a:solidFill>
                            <a:srgbClr val="1B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跨站会话共享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950" b="0">
                          <a:solidFill>
                            <a:srgbClr val="1B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Cross-site Shared Session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950" b="0">
                          <a:solidFill>
                            <a:srgbClr val="1B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统一 Redis 集中部署在超算站，共享分布式 Token，切流瞬间免于重新登录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8000"/>
                        </a:lnSpc>
                      </a:pPr>
                      <a:r>
                        <a:rPr sz="900" b="1">
                          <a:solidFill>
                            <a:srgbClr val="2E9E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发布过渡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2F6F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950" b="1">
                          <a:solidFill>
                            <a:srgbClr val="1B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单活任务 / 消费者管控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950" b="0">
                          <a:solidFill>
                            <a:srgbClr val="1B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Single-Active Task &amp; MQ Consumer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950" b="0">
                          <a:solidFill>
                            <a:srgbClr val="1B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仅接流集群激活 MQ 消费与定时任务调度，待命端挂起，杜绝重复记账（ADR 0001）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8000"/>
                        </a:lnSpc>
                      </a:pPr>
                      <a:r>
                        <a:rPr sz="900" b="1">
                          <a:solidFill>
                            <a:srgbClr val="2E9E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发布过渡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950" b="1">
                          <a:solidFill>
                            <a:srgbClr val="1B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HTML 零缓存与自愈重载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950" b="0">
                          <a:solidFill>
                            <a:srgbClr val="1B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Zero-Cache HTML &amp; Self-Healing Reload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950" b="0">
                          <a:solidFill>
                            <a:srgbClr val="1B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入口 HTML 禁一切强缓存；Chunk 异常捕获后自动优雅重载，避免白屏（ADR 0004）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8000"/>
                        </a:lnSpc>
                      </a:pPr>
                      <a:r>
                        <a:rPr sz="900" b="1">
                          <a:solidFill>
                            <a:srgbClr val="2E9E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发布过渡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2F6F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950" b="1">
                          <a:solidFill>
                            <a:srgbClr val="1B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发版窗口承压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950" b="0">
                          <a:solidFill>
                            <a:srgbClr val="1B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Release-Window Capacity Acceptance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950" b="0">
                          <a:solidFill>
                            <a:srgbClr val="1B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接流站以精简合署节点扛全量、允许性能降级；P95 恶化 &lt;20% + 全链路演练为门禁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8000"/>
                        </a:lnSpc>
                      </a:pPr>
                      <a:r>
                        <a:rPr sz="900" b="1">
                          <a:solidFill>
                            <a:srgbClr val="2E9E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发布过渡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8" name="Connector 7"/>
          <p:cNvCxnSpPr/>
          <p:nvPr/>
        </p:nvCxnSpPr>
        <p:spPr>
          <a:xfrm>
            <a:off x="658368" y="6437376"/>
            <a:ext cx="10874959" cy="0"/>
          </a:xfrm>
          <a:prstGeom prst="line">
            <a:avLst/>
          </a:prstGeom>
          <a:ln w="9525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6492240"/>
            <a:ext cx="977767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8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体检系统升级 V2 · 领域术语表（Ubiquitous Language）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6047" y="649224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6000"/>
              </a:lnSpc>
            </a:pPr>
            <a:r>
              <a:rPr sz="8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20 / 23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02336"/>
            <a:ext cx="1087495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1000" b="1" i="0" spc="110">
                <a:solidFill>
                  <a:srgbClr val="12A5B8"/>
                </a:solidFill>
                <a:latin typeface="Microsoft YaHei"/>
                <a:ea typeface="Microsoft YaHei"/>
                <a:cs typeface="Microsoft YaHei"/>
              </a:rPr>
              <a:t>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"/>
            <a:ext cx="10874959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ADR 索引：术语背后的决策记录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170432"/>
            <a:ext cx="603504" cy="41148"/>
          </a:xfrm>
          <a:prstGeom prst="rect">
            <a:avLst/>
          </a:prstGeom>
          <a:solidFill>
            <a:srgbClr val="12A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371600" y="1191463"/>
            <a:ext cx="10161727" cy="0"/>
          </a:xfrm>
          <a:prstGeom prst="line">
            <a:avLst/>
          </a:prstGeom>
          <a:ln w="9525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1280160"/>
            <a:ext cx="10692079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术语只说「是什么」，ADR 说「为什么这么定」。评审时遇到分歧，回到对应 ADR。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8368" y="2377440"/>
          <a:ext cx="10874958" cy="31089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005248"/>
                <a:gridCol w="4203765"/>
                <a:gridCol w="5665945"/>
              </a:tblGrid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ADR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0E2038"/>
                      </a:solidFill>
                    </a:lnL>
                    <a:lnR w="9525" cap="flat" cmpd="sng" algn="ctr">
                      <a:solidFill>
                        <a:srgbClr val="0E2038"/>
                      </a:solidFill>
                    </a:lnR>
                    <a:lnT w="9525" cap="flat" cmpd="sng" algn="ctr">
                      <a:solidFill>
                        <a:srgbClr val="0E2038"/>
                      </a:solidFill>
                    </a:lnT>
                    <a:lnB w="9525" cap="flat" cmpd="sng" algn="ctr">
                      <a:solidFill>
                        <a:srgbClr val="0E2038"/>
                      </a:solidFill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主题（据文件名）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0E2038"/>
                      </a:solidFill>
                    </a:lnL>
                    <a:lnR w="9525" cap="flat" cmpd="sng" algn="ctr">
                      <a:solidFill>
                        <a:srgbClr val="0E2038"/>
                      </a:solidFill>
                    </a:lnR>
                    <a:lnT w="9525" cap="flat" cmpd="sng" algn="ctr">
                      <a:solidFill>
                        <a:srgbClr val="0E2038"/>
                      </a:solidFill>
                    </a:lnT>
                    <a:lnB w="9525" cap="flat" cmpd="sng" algn="ctr">
                      <a:solidFill>
                        <a:srgbClr val="0E2038"/>
                      </a:solidFill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支撑的术语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0E2038"/>
                      </a:solidFill>
                    </a:lnL>
                    <a:lnR w="9525" cap="flat" cmpd="sng" algn="ctr">
                      <a:solidFill>
                        <a:srgbClr val="0E2038"/>
                      </a:solidFill>
                    </a:lnR>
                    <a:lnT w="9525" cap="flat" cmpd="sng" algn="ctr">
                      <a:solidFill>
                        <a:srgbClr val="0E2038"/>
                      </a:solidFill>
                    </a:lnT>
                    <a:lnB w="9525" cap="flat" cmpd="sng" algn="ctr">
                      <a:solidFill>
                        <a:srgbClr val="0E2038"/>
                      </a:solidFill>
                    </a:lnB>
                    <a:solidFill>
                      <a:srgbClr val="0E2038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1100" b="1">
                          <a:solidFill>
                            <a:srgbClr val="2E9E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0001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1100" b="0">
                          <a:solidFill>
                            <a:srgbClr val="6B7A8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single-active-jobs-and-mq｜单活任务与 MQ 消费者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1100" b="0">
                          <a:solidFill>
                            <a:srgbClr val="6B7A8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单活任务 / 消费者管控、切流时序 T3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1100" b="1">
                          <a:solidFill>
                            <a:srgbClr val="D98A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0002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1100" b="0">
                          <a:solidFill>
                            <a:srgbClr val="6B7A8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database-expand-and-contract｜数据库膨胀与收缩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1100" b="0">
                          <a:solidFill>
                            <a:srgbClr val="6B7A8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膨胀与收缩、破坏性变更一票否决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2F6F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1100" b="1">
                          <a:solidFill>
                            <a:srgbClr val="12A5B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0003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1100" b="0">
                          <a:solidFill>
                            <a:srgbClr val="6B7A8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cross-cluster-service-isolation｜跨集群服务隔离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1100" b="0">
                          <a:solidFill>
                            <a:srgbClr val="6B7A8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区域亲和路由、逻辑双站 / 蓝绿集群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1100" b="1">
                          <a:solidFill>
                            <a:srgbClr val="D98A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0004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1100" b="0">
                          <a:solidFill>
                            <a:srgbClr val="6B7A8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frontend-cache-and-api-compatibility｜前端缓存与 API 兼容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1100" b="0">
                          <a:solidFill>
                            <a:srgbClr val="6B7A8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HTML 零缓存与自愈重载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2F6F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1100" b="1">
                          <a:solidFill>
                            <a:srgbClr val="2E6FB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0005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1100" b="0">
                          <a:solidFill>
                            <a:srgbClr val="6B7A8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atomic-cutover-no-canary｜原子切流、不做金丝雀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1100" b="0">
                          <a:solidFill>
                            <a:srgbClr val="6B7A8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整站全量原子切流、发版窗口承压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58368" y="6144768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※ ADR 原文位于源工程 docs/adr/ 目录；本页主题按文件名与 CONTEXT.md 的引用整理。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58368" y="6437376"/>
            <a:ext cx="10874959" cy="0"/>
          </a:xfrm>
          <a:prstGeom prst="line">
            <a:avLst/>
          </a:prstGeom>
          <a:ln w="9525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58368" y="6492240"/>
            <a:ext cx="977767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8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体检系统升级 V2 · 领域术语表（Ubiquitous Language）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36047" y="649224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6000"/>
              </a:lnSpc>
            </a:pPr>
            <a:r>
              <a:rPr sz="8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21 / 23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02336"/>
            <a:ext cx="1087495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1000" b="1" i="0" spc="110">
                <a:solidFill>
                  <a:srgbClr val="12A5B8"/>
                </a:solidFill>
                <a:latin typeface="Microsoft YaHei"/>
                <a:ea typeface="Microsoft YaHei"/>
                <a:cs typeface="Microsoft YaHei"/>
              </a:rPr>
              <a:t>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"/>
            <a:ext cx="10874959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落地检查清单：发版评审逐项打勾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170432"/>
            <a:ext cx="603504" cy="41148"/>
          </a:xfrm>
          <a:prstGeom prst="rect">
            <a:avLst/>
          </a:prstGeom>
          <a:solidFill>
            <a:srgbClr val="12A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371600" y="1191463"/>
            <a:ext cx="10161727" cy="0"/>
          </a:xfrm>
          <a:prstGeom prst="line">
            <a:avLst/>
          </a:prstGeom>
          <a:ln w="9525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1280160"/>
            <a:ext cx="10692079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每条都对应一个术语口径；任何一条不满足，原子切流的前提就不成立。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810512"/>
            <a:ext cx="3442106" cy="424281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" y="1810512"/>
            <a:ext cx="3442106" cy="420624"/>
          </a:xfrm>
          <a:prstGeom prst="roundRect">
            <a:avLst>
              <a:gd name="adj" fmla="val 10000"/>
            </a:avLst>
          </a:prstGeom>
          <a:solidFill>
            <a:srgbClr val="12A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810512"/>
            <a:ext cx="3076346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6000"/>
              </a:lnSpc>
            </a:pPr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路由与隔离</a:t>
            </a:r>
            <a:r>
              <a:rPr sz="9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   5 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414016"/>
            <a:ext cx="3058058" cy="34564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100" b="1" i="0">
                <a:solidFill>
                  <a:srgbClr val="12A5B8"/>
                </a:solidFill>
                <a:latin typeface="Microsoft YaHei"/>
                <a:ea typeface="Microsoft YaHei"/>
                <a:cs typeface="Microsoft YaHei"/>
              </a:rPr>
              <a:t>□ </a:t>
            </a:r>
            <a:r>
              <a:rPr sz="10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L0 权重只有 100:0 / 0:100，无中间态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100" b="1" i="0">
                <a:solidFill>
                  <a:srgbClr val="12A5B8"/>
                </a:solidFill>
                <a:latin typeface="Microsoft YaHei"/>
                <a:ea typeface="Microsoft YaHei"/>
                <a:cs typeface="Microsoft YaHei"/>
              </a:rPr>
              <a:t>□ </a:t>
            </a:r>
            <a:r>
              <a:rPr sz="10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上线验证走站点直连内部域名，不依赖 L0 分流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100" b="1" i="0">
                <a:solidFill>
                  <a:srgbClr val="12A5B8"/>
                </a:solidFill>
                <a:latin typeface="Microsoft YaHei"/>
                <a:ea typeface="Microsoft YaHei"/>
                <a:cs typeface="Microsoft YaHei"/>
              </a:rPr>
              <a:t>□ </a:t>
            </a:r>
            <a:r>
              <a:rPr sz="10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每个实例启动都注入 CLUSTER_ZONE 标签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100" b="1" i="0">
                <a:solidFill>
                  <a:srgbClr val="12A5B8"/>
                </a:solidFill>
                <a:latin typeface="Microsoft YaHei"/>
                <a:ea typeface="Microsoft YaHei"/>
                <a:cs typeface="Microsoft YaHei"/>
              </a:rPr>
              <a:t>□ </a:t>
            </a:r>
            <a:r>
              <a:rPr sz="10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RPC 客户端无跨区调用（区域亲和生效）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1" i="0">
                <a:solidFill>
                  <a:srgbClr val="12A5B8"/>
                </a:solidFill>
                <a:latin typeface="Microsoft YaHei"/>
                <a:ea typeface="Microsoft YaHei"/>
                <a:cs typeface="Microsoft YaHei"/>
              </a:rPr>
              <a:t>□ </a:t>
            </a:r>
            <a:r>
              <a:rPr sz="10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蓝绿各自独立注册中心，互不注册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4794" y="1810512"/>
            <a:ext cx="3442106" cy="424281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74794" y="1810512"/>
            <a:ext cx="3442106" cy="420624"/>
          </a:xfrm>
          <a:prstGeom prst="roundRect">
            <a:avLst>
              <a:gd name="adj" fmla="val 10000"/>
            </a:avLst>
          </a:prstGeom>
          <a:solidFill>
            <a:srgbClr val="D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5962" y="1810512"/>
            <a:ext cx="3076346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6000"/>
              </a:lnSpc>
            </a:pPr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数据库</a:t>
            </a:r>
            <a:r>
              <a:rPr sz="9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   5 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5962" y="2414016"/>
            <a:ext cx="3058058" cy="34564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100" b="1" i="0">
                <a:solidFill>
                  <a:srgbClr val="D98A2B"/>
                </a:solidFill>
                <a:latin typeface="Microsoft YaHei"/>
                <a:ea typeface="Microsoft YaHei"/>
                <a:cs typeface="Microsoft YaHei"/>
              </a:rPr>
              <a:t>□ </a:t>
            </a:r>
            <a:r>
              <a:rPr sz="10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本次 DDL 只新增字段 / 表（Expand）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100" b="1" i="0">
                <a:solidFill>
                  <a:srgbClr val="D98A2B"/>
                </a:solidFill>
                <a:latin typeface="Microsoft YaHei"/>
                <a:ea typeface="Microsoft YaHei"/>
                <a:cs typeface="Microsoft YaHei"/>
              </a:rPr>
              <a:t>□ </a:t>
            </a:r>
            <a:r>
              <a:rPr sz="10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无字段重命名、无存量表加非空字段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100" b="1" i="0">
                <a:solidFill>
                  <a:srgbClr val="D98A2B"/>
                </a:solidFill>
                <a:latin typeface="Microsoft YaHei"/>
                <a:ea typeface="Microsoft YaHei"/>
                <a:cs typeface="Microsoft YaHei"/>
              </a:rPr>
              <a:t>□ </a:t>
            </a:r>
            <a:r>
              <a:rPr sz="10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无即时删表删列；老字段留到 Contract 阶段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100" b="1" i="0">
                <a:solidFill>
                  <a:srgbClr val="D98A2B"/>
                </a:solidFill>
                <a:latin typeface="Microsoft YaHei"/>
                <a:ea typeface="Microsoft YaHei"/>
                <a:cs typeface="Microsoft YaHei"/>
              </a:rPr>
              <a:t>□ </a:t>
            </a:r>
            <a:r>
              <a:rPr sz="10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回滚到旧版本代码可无痛读写数据库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1" i="0">
                <a:solidFill>
                  <a:srgbClr val="D98A2B"/>
                </a:solidFill>
                <a:latin typeface="Microsoft YaHei"/>
                <a:ea typeface="Microsoft YaHei"/>
                <a:cs typeface="Microsoft YaHei"/>
              </a:rPr>
              <a:t>□ </a:t>
            </a:r>
            <a:r>
              <a:rPr sz="10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稳定期 ≥ 一个周期后才安排收缩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1220" y="1810512"/>
            <a:ext cx="3442106" cy="424281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91220" y="1810512"/>
            <a:ext cx="3442106" cy="420624"/>
          </a:xfrm>
          <a:prstGeom prst="roundRect">
            <a:avLst>
              <a:gd name="adj" fmla="val 10000"/>
            </a:avLst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2388" y="1810512"/>
            <a:ext cx="3076346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6000"/>
              </a:lnSpc>
            </a:pPr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发布执行</a:t>
            </a:r>
            <a:r>
              <a:rPr sz="9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   5 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2388" y="2414016"/>
            <a:ext cx="3058058" cy="34564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100" b="1" i="0">
                <a:solidFill>
                  <a:srgbClr val="2E9E6B"/>
                </a:solidFill>
                <a:latin typeface="Microsoft YaHei"/>
                <a:ea typeface="Microsoft YaHei"/>
                <a:cs typeface="Microsoft YaHei"/>
              </a:rPr>
              <a:t>□ </a:t>
            </a:r>
            <a:r>
              <a:rPr sz="10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切流后等在途事务收敛、活跃连接归零再动工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100" b="1" i="0">
                <a:solidFill>
                  <a:srgbClr val="2E9E6B"/>
                </a:solidFill>
                <a:latin typeface="Microsoft YaHei"/>
                <a:ea typeface="Microsoft YaHei"/>
                <a:cs typeface="Microsoft YaHei"/>
              </a:rPr>
              <a:t>□ </a:t>
            </a:r>
            <a:r>
              <a:rPr sz="10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MQ 消费与定时任务仅一站激活，待命站挂起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100" b="1" i="0">
                <a:solidFill>
                  <a:srgbClr val="2E9E6B"/>
                </a:solidFill>
                <a:latin typeface="Microsoft YaHei"/>
                <a:ea typeface="Microsoft YaHei"/>
                <a:cs typeface="Microsoft YaHei"/>
              </a:rPr>
              <a:t>□ </a:t>
            </a:r>
            <a:r>
              <a:rPr sz="10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Token / 会话走统一 Redis，切流不重登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100" b="1" i="0">
                <a:solidFill>
                  <a:srgbClr val="2E9E6B"/>
                </a:solidFill>
                <a:latin typeface="Microsoft YaHei"/>
                <a:ea typeface="Microsoft YaHei"/>
                <a:cs typeface="Microsoft YaHei"/>
              </a:rPr>
              <a:t>□ </a:t>
            </a:r>
            <a:r>
              <a:rPr sz="10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HTML 入口零缓存 + Chunk 自愈重载已接入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1" i="0">
                <a:solidFill>
                  <a:srgbClr val="2E9E6B"/>
                </a:solidFill>
                <a:latin typeface="Microsoft YaHei"/>
                <a:ea typeface="Microsoft YaHei"/>
                <a:cs typeface="Microsoft YaHei"/>
              </a:rPr>
              <a:t>□ </a:t>
            </a:r>
            <a:r>
              <a:rPr sz="10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全链路演练通过，P95 恶化 &lt;20%，扩容预案就绪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144768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※ 清单为术语口径的可执行化整理（推导项），用于评审自检；不替代发布手册的正式 SOP。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58368" y="6437376"/>
            <a:ext cx="10874959" cy="0"/>
          </a:xfrm>
          <a:prstGeom prst="line">
            <a:avLst/>
          </a:prstGeom>
          <a:ln w="9525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58368" y="6492240"/>
            <a:ext cx="977767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8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体检系统升级 V2 · 领域术语表（Ubiquitous Language）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36047" y="649224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6000"/>
              </a:lnSpc>
            </a:pPr>
            <a:r>
              <a:rPr sz="8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22 / 23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deco-ring"/>
          <p:cNvSpPr/>
          <p:nvPr/>
        </p:nvSpPr>
        <p:spPr>
          <a:xfrm>
            <a:off x="8808415" y="-3063239"/>
            <a:ext cx="5120640" cy="5120640"/>
          </a:xfrm>
          <a:prstGeom prst="ellipse">
            <a:avLst/>
          </a:prstGeom>
          <a:solidFill>
            <a:srgbClr val="17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o-ring"/>
          <p:cNvSpPr/>
          <p:nvPr/>
        </p:nvSpPr>
        <p:spPr>
          <a:xfrm>
            <a:off x="9677095" y="-2194560"/>
            <a:ext cx="3383280" cy="3383280"/>
          </a:xfrm>
          <a:prstGeom prst="ellipse">
            <a:avLst/>
          </a:prstGeom>
          <a:solidFill>
            <a:srgbClr val="1B3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o-ring"/>
          <p:cNvSpPr/>
          <p:nvPr/>
        </p:nvSpPr>
        <p:spPr>
          <a:xfrm>
            <a:off x="10454335" y="-1417320"/>
            <a:ext cx="1828800" cy="1828800"/>
          </a:xfrm>
          <a:prstGeom prst="ellipse">
            <a:avLst/>
          </a:prstGeom>
          <a:solidFill>
            <a:srgbClr val="0F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481328"/>
            <a:ext cx="9503359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谢谢 · 讨论与质询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395728"/>
            <a:ext cx="914400" cy="50292"/>
          </a:xfrm>
          <a:prstGeom prst="rect">
            <a:avLst/>
          </a:prstGeom>
          <a:solidFill>
            <a:srgbClr val="12A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2615184"/>
            <a:ext cx="9046159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1300" b="0" i="0">
                <a:solidFill>
                  <a:srgbClr val="CBD6E2"/>
                </a:solidFill>
                <a:latin typeface="Microsoft YaHei"/>
                <a:ea typeface="Microsoft YaHei"/>
                <a:cs typeface="Microsoft YaHei"/>
              </a:rPr>
              <a:t>术语以 CONTEXT.md 为准，实现细节以 ADR 与发布手册为准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529584"/>
            <a:ext cx="2747162" cy="1572768"/>
          </a:xfrm>
          <a:prstGeom prst="roundRect">
            <a:avLst>
              <a:gd name="adj" fmla="val 7000"/>
            </a:avLst>
          </a:prstGeom>
          <a:solidFill>
            <a:srgbClr val="17324F"/>
          </a:solidFill>
          <a:ln w="12700">
            <a:solidFill>
              <a:srgbClr val="0F5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77824" y="3785615"/>
            <a:ext cx="384048" cy="45720"/>
          </a:xfrm>
          <a:prstGeom prst="rect">
            <a:avLst/>
          </a:prstGeom>
          <a:solidFill>
            <a:srgbClr val="12A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3931920"/>
            <a:ext cx="230825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100:0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4498848"/>
            <a:ext cx="230825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9FB4C9"/>
                </a:solidFill>
                <a:latin typeface="Microsoft YaHei"/>
                <a:ea typeface="Microsoft YaHei"/>
                <a:cs typeface="Microsoft YaHei"/>
              </a:rPr>
              <a:t>L0 原子切换</a:t>
            </a: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1050" b="0" i="0">
                <a:solidFill>
                  <a:srgbClr val="9FB4C9"/>
                </a:solidFill>
                <a:latin typeface="Microsoft YaHei"/>
                <a:ea typeface="Microsoft YaHei"/>
                <a:cs typeface="Microsoft YaHei"/>
              </a:rPr>
              <a:t>无中间态权重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16426" y="3529584"/>
            <a:ext cx="2747162" cy="1572768"/>
          </a:xfrm>
          <a:prstGeom prst="roundRect">
            <a:avLst>
              <a:gd name="adj" fmla="val 7000"/>
            </a:avLst>
          </a:prstGeom>
          <a:solidFill>
            <a:srgbClr val="17324F"/>
          </a:solidFill>
          <a:ln w="12700">
            <a:solidFill>
              <a:srgbClr val="0F5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935882" y="3785615"/>
            <a:ext cx="384048" cy="45720"/>
          </a:xfrm>
          <a:prstGeom prst="rect">
            <a:avLst/>
          </a:prstGeom>
          <a:solidFill>
            <a:srgbClr val="12A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35882" y="3931920"/>
            <a:ext cx="230825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&lt;20%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5882" y="4498848"/>
            <a:ext cx="230825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9FB4C9"/>
                </a:solidFill>
                <a:latin typeface="Microsoft YaHei"/>
                <a:ea typeface="Microsoft YaHei"/>
                <a:cs typeface="Microsoft YaHei"/>
              </a:rPr>
              <a:t>发版窗口 P95</a:t>
            </a: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1050" b="0" i="0">
                <a:solidFill>
                  <a:srgbClr val="9FB4C9"/>
                </a:solidFill>
                <a:latin typeface="Microsoft YaHei"/>
                <a:ea typeface="Microsoft YaHei"/>
                <a:cs typeface="Microsoft YaHei"/>
              </a:rPr>
              <a:t>恶化上限门禁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74484" y="3529584"/>
            <a:ext cx="2747162" cy="1572768"/>
          </a:xfrm>
          <a:prstGeom prst="roundRect">
            <a:avLst>
              <a:gd name="adj" fmla="val 7000"/>
            </a:avLst>
          </a:prstGeom>
          <a:solidFill>
            <a:srgbClr val="17324F"/>
          </a:solidFill>
          <a:ln w="12700">
            <a:solidFill>
              <a:srgbClr val="0F5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993940" y="3785615"/>
            <a:ext cx="384048" cy="45720"/>
          </a:xfrm>
          <a:prstGeom prst="rect">
            <a:avLst/>
          </a:prstGeom>
          <a:solidFill>
            <a:srgbClr val="12A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93940" y="3931920"/>
            <a:ext cx="230825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≥1 周期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3940" y="4498848"/>
            <a:ext cx="230825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9FB4C9"/>
                </a:solidFill>
                <a:latin typeface="Microsoft YaHei"/>
                <a:ea typeface="Microsoft YaHei"/>
                <a:cs typeface="Microsoft YaHei"/>
              </a:rPr>
              <a:t>Expand 稳定期</a:t>
            </a: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1050" b="0" i="0">
                <a:solidFill>
                  <a:srgbClr val="9FB4C9"/>
                </a:solidFill>
                <a:latin typeface="Microsoft YaHei"/>
                <a:ea typeface="Microsoft YaHei"/>
                <a:cs typeface="Microsoft YaHei"/>
              </a:rPr>
              <a:t>后才 Contract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5705856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1000" b="0" i="0">
                <a:solidFill>
                  <a:srgbClr val="8FA3B8"/>
                </a:solidFill>
                <a:latin typeface="Microsoft YaHei"/>
                <a:ea typeface="Microsoft YaHei"/>
                <a:cs typeface="Microsoft YaHei"/>
              </a:rPr>
              <a:t>来源：CONTEXT.md · 关联决策：ADR 0001–0005 · 生成日期 2026-10-20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739128"/>
            <a:ext cx="4937760" cy="118872"/>
          </a:xfrm>
          <a:prstGeom prst="rect">
            <a:avLst/>
          </a:prstGeom>
          <a:solidFill>
            <a:srgbClr val="2E6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937760" y="6739128"/>
            <a:ext cx="2286000" cy="118872"/>
          </a:xfrm>
          <a:prstGeom prst="rect">
            <a:avLst/>
          </a:prstGeom>
          <a:solidFill>
            <a:srgbClr val="12A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223760" y="6739128"/>
            <a:ext cx="4967935" cy="118872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658368" y="6437376"/>
            <a:ext cx="10874959" cy="0"/>
          </a:xfrm>
          <a:prstGeom prst="line">
            <a:avLst/>
          </a:prstGeom>
          <a:ln w="9525">
            <a:solidFill>
              <a:srgbClr val="1732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58368" y="6492240"/>
            <a:ext cx="977767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850" b="0" i="0">
                <a:solidFill>
                  <a:srgbClr val="8FA3B8"/>
                </a:solidFill>
                <a:latin typeface="Microsoft YaHei"/>
                <a:ea typeface="Microsoft YaHei"/>
                <a:cs typeface="Microsoft YaHei"/>
              </a:rPr>
              <a:t>体检系统升级 V2 · 领域术语表（Ubiquitous Language）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36047" y="649224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6000"/>
              </a:lnSpc>
            </a:pPr>
            <a:r>
              <a:rPr sz="850" b="0" i="0">
                <a:solidFill>
                  <a:srgbClr val="8FA3B8"/>
                </a:solidFill>
                <a:latin typeface="Microsoft YaHei"/>
                <a:ea typeface="Microsoft YaHei"/>
                <a:cs typeface="Microsoft YaHei"/>
              </a:rPr>
              <a:t>23 / 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体检系统升级V2 · 领域术语表与切流发布架构</dc:title>
  <dc:subject>统一语言 / 蓝绿双站 / 整站全量原子切流</dc:subject>
  <dc:creator>体检系统升级V2 架构组</dc:creator>
  <cp:keywords>蓝绿双站;原子切流;Expand and Contract;区域亲和路由;体检系统升级V2</cp:keywords>
  <dc:description>由 CONTEXT.md（领域术语表）生成，配套 ADR 0001-0005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架构评审 / 领域术语</cp:category>
</cp:coreProperties>
</file>