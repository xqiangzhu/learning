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-1188720" y="4754880"/>
            <a:ext cx="3474720" cy="3474720"/>
          </a:xfrm>
          <a:prstGeom prst="ellipse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8FB4E3"/>
                </a:solidFill>
                <a:latin typeface="Microsoft YaHei"/>
                <a:ea typeface="Microsoft YaHei"/>
              </a:rPr>
              <a:t>HMSC · 企业健康体检平台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体检平台架构决策与核心流程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06040"/>
            <a:ext cx="109728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500" b="0" i="0">
                <a:solidFill>
                  <a:srgbClr val="9FC3E8"/>
                </a:solidFill>
                <a:latin typeface="Microsoft YaHei"/>
                <a:ea typeface="Microsoft YaHei"/>
              </a:rPr>
              <a:t>11 项关键机制决策 × 端到端流程全景（ADR 0001 – 0011）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246120"/>
            <a:ext cx="4937760" cy="0"/>
          </a:xfrm>
          <a:prstGeom prst="line">
            <a:avLst/>
          </a:prstGeom>
          <a:ln w="31750">
            <a:solidFill>
              <a:srgbClr val="0E7C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商城 / 卡券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20" y="4992624"/>
            <a:ext cx="182880" cy="0"/>
          </a:xfrm>
          <a:prstGeom prst="line">
            <a:avLst/>
          </a:prstGeom>
          <a:ln w="17780">
            <a:solidFill>
              <a:srgbClr val="5F7F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75688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权益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64408" y="4992624"/>
            <a:ext cx="182880" cy="0"/>
          </a:xfrm>
          <a:prstGeom prst="line">
            <a:avLst/>
          </a:prstGeom>
          <a:ln w="17780">
            <a:solidFill>
              <a:srgbClr val="5F7F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5576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下单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54296" y="4992624"/>
            <a:ext cx="182880" cy="0"/>
          </a:xfrm>
          <a:prstGeom prst="line">
            <a:avLst/>
          </a:prstGeom>
          <a:ln w="17780">
            <a:solidFill>
              <a:srgbClr val="5F7F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55464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支付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44184" y="4992624"/>
            <a:ext cx="182880" cy="0"/>
          </a:xfrm>
          <a:prstGeom prst="line">
            <a:avLst/>
          </a:prstGeom>
          <a:ln w="17780">
            <a:solidFill>
              <a:srgbClr val="5F7F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45352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预约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34071" y="4992624"/>
            <a:ext cx="182881" cy="0"/>
          </a:xfrm>
          <a:prstGeom prst="line">
            <a:avLst/>
          </a:prstGeom>
          <a:ln w="17780">
            <a:solidFill>
              <a:srgbClr val="5F7F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35240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到检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59" y="4992624"/>
            <a:ext cx="182881" cy="0"/>
          </a:xfrm>
          <a:prstGeom prst="line">
            <a:avLst/>
          </a:prstGeom>
          <a:ln w="17780">
            <a:solidFill>
              <a:srgbClr val="5F7F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25128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报告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13847" y="4992624"/>
            <a:ext cx="182881" cy="0"/>
          </a:xfrm>
          <a:prstGeom prst="line">
            <a:avLst/>
          </a:prstGeom>
          <a:ln w="17780">
            <a:solidFill>
              <a:srgbClr val="5F7F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15015" y="4709160"/>
            <a:ext cx="1170432" cy="566928"/>
          </a:xfrm>
          <a:prstGeom prst="roundRect">
            <a:avLst>
              <a:gd name="adj" fmla="val 24000"/>
            </a:avLst>
          </a:prstGeom>
          <a:noFill/>
          <a:ln w="12700">
            <a:solidFill>
              <a:srgbClr val="5F7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1" i="0">
                <a:solidFill>
                  <a:srgbClr val="CFE0F5"/>
                </a:solidFill>
                <a:latin typeface="Microsoft YaHei"/>
                <a:ea typeface="Microsoft YaHei"/>
              </a:rPr>
              <a:t>增值解读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172200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7C93B8"/>
                </a:solidFill>
                <a:latin typeface="Microsoft YaHei"/>
                <a:ea typeface="Microsoft YaHei"/>
              </a:rPr>
              <a:t>需求评审版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11 项决策全景导航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ADR Map · 每张卡片对应一张流程图详解页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417320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660904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545336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563624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单一持有人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84248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下单拆单 → 1 人 1 单 → 独立闭环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417320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1417320"/>
            <a:ext cx="2660904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45336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1563624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双轨取消退款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984248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先取消后退款 ／ 退款级联取消预约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417320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417320"/>
            <a:ext cx="2660904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545336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0E7C86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563624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排期与改期边界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84248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同店改期 · 当天禁退可改 · 超期释放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1417320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1417320"/>
            <a:ext cx="2660904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545336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0E7C86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1563624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合并履约与权益门禁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984248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主套餐+加项原子交付 · 到期拦截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4436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44368"/>
            <a:ext cx="2660904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3072384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2F6DB3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3090672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组合订单瞬态包装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3511296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合单收银 → 支付后解体为主订单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28416" y="294436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328416" y="2944368"/>
            <a:ext cx="2660904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072384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2F6DB3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6784" y="3090672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积分抵扣分摊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3511296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1:1 等值 → 先升舱后加项 → 落子单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294436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2944368"/>
            <a:ext cx="2660904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3072384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2F6DB3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090672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回调驱动退积分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3511296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资金退款回调 → 释放下游积分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79408" y="2944368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8979408" y="2944368"/>
            <a:ext cx="2660904" cy="64008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3072384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2F6DB3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7776" y="3090672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双账本镜像对账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511296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并发双冻结 → SKU 穿透 → 双释放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471416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471416"/>
            <a:ext cx="2660904" cy="64008"/>
          </a:xfrm>
          <a:prstGeom prst="rect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" y="4599431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6D599C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1288" y="4617720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套餐层级与智能推荐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" y="5038344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单选互斥 · 差额升舱 · 问卷推荐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28416" y="4471416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3328416" y="4471416"/>
            <a:ext cx="2660904" cy="64008"/>
          </a:xfrm>
          <a:prstGeom prst="rect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4599431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6D599C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86784" y="4617720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商城分类与卡券兑换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3008" y="5038344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千企千面橱窗 · 卡密生成权益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53912" y="4471416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6153912" y="4471416"/>
            <a:ext cx="2660904" cy="64008"/>
          </a:xfrm>
          <a:prstGeom prst="rect">
            <a:avLst/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0216" y="4599431"/>
            <a:ext cx="566928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400" b="1" i="0">
                <a:solidFill>
                  <a:srgbClr val="D9722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617720"/>
            <a:ext cx="1883664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24324E"/>
                </a:solidFill>
                <a:latin typeface="Microsoft YaHei"/>
                <a:ea typeface="Microsoft YaHei"/>
              </a:rPr>
              <a:t>报告解读增值流水线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8504" y="5038344"/>
            <a:ext cx="2368296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LLM OCR → AI / 医生双轨解读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79408" y="4471416"/>
            <a:ext cx="2660904" cy="13898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25712" y="4581144"/>
            <a:ext cx="21945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24324E"/>
                </a:solidFill>
                <a:latin typeface="Microsoft YaHei"/>
                <a:ea typeface="Microsoft YaHei"/>
              </a:rPr>
              <a:t>流程图图例</a:t>
            </a:r>
          </a:p>
        </p:txBody>
      </p:sp>
      <p:sp>
        <p:nvSpPr>
          <p:cNvPr id="62" name="Oval 61"/>
          <p:cNvSpPr/>
          <p:nvPr/>
        </p:nvSpPr>
        <p:spPr>
          <a:xfrm>
            <a:off x="9162288" y="4937759"/>
            <a:ext cx="164592" cy="164592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00032" y="4892040"/>
            <a:ext cx="21945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圆角框 = 动作 / 系统处理</a:t>
            </a:r>
          </a:p>
        </p:txBody>
      </p:sp>
      <p:sp>
        <p:nvSpPr>
          <p:cNvPr id="64" name="Oval 63"/>
          <p:cNvSpPr/>
          <p:nvPr/>
        </p:nvSpPr>
        <p:spPr>
          <a:xfrm>
            <a:off x="9162288" y="5184647"/>
            <a:ext cx="164592" cy="164592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00032" y="5138927"/>
            <a:ext cx="21945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菱形 = 判断分支</a:t>
            </a:r>
          </a:p>
        </p:txBody>
      </p:sp>
      <p:sp>
        <p:nvSpPr>
          <p:cNvPr id="66" name="Oval 65"/>
          <p:cNvSpPr/>
          <p:nvPr/>
        </p:nvSpPr>
        <p:spPr>
          <a:xfrm>
            <a:off x="9162288" y="5431535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0032" y="5385815"/>
            <a:ext cx="21945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绿色 = 结果闭环</a:t>
            </a:r>
          </a:p>
        </p:txBody>
      </p:sp>
      <p:sp>
        <p:nvSpPr>
          <p:cNvPr id="68" name="Oval 67"/>
          <p:cNvSpPr/>
          <p:nvPr/>
        </p:nvSpPr>
        <p:spPr>
          <a:xfrm>
            <a:off x="9162288" y="5678423"/>
            <a:ext cx="164592" cy="164592"/>
          </a:xfrm>
          <a:prstGeom prst="ellipse">
            <a:avLst/>
          </a:prstGeom>
          <a:solidFill>
            <a:srgbClr val="C04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0032" y="5632703"/>
            <a:ext cx="21945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红色 = 拦截 / 风险</a:t>
            </a:r>
          </a:p>
        </p:txBody>
      </p:sp>
      <p:sp>
        <p:nvSpPr>
          <p:cNvPr id="70" name="Chevron 69"/>
          <p:cNvSpPr/>
          <p:nvPr/>
        </p:nvSpPr>
        <p:spPr>
          <a:xfrm>
            <a:off x="548640" y="6053328"/>
            <a:ext cx="1444752" cy="512064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权益获取</a:t>
            </a:r>
          </a:p>
        </p:txBody>
      </p:sp>
      <p:sp>
        <p:nvSpPr>
          <p:cNvPr id="71" name="Chevron 70"/>
          <p:cNvSpPr/>
          <p:nvPr/>
        </p:nvSpPr>
        <p:spPr>
          <a:xfrm>
            <a:off x="1929384" y="6053328"/>
            <a:ext cx="1444752" cy="512064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选购</a:t>
            </a:r>
          </a:p>
        </p:txBody>
      </p:sp>
      <p:sp>
        <p:nvSpPr>
          <p:cNvPr id="72" name="Chevron 71"/>
          <p:cNvSpPr/>
          <p:nvPr/>
        </p:nvSpPr>
        <p:spPr>
          <a:xfrm>
            <a:off x="3310128" y="6053328"/>
            <a:ext cx="1444752" cy="512064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建单</a:t>
            </a:r>
          </a:p>
        </p:txBody>
      </p:sp>
      <p:sp>
        <p:nvSpPr>
          <p:cNvPr id="73" name="Chevron 72"/>
          <p:cNvSpPr/>
          <p:nvPr/>
        </p:nvSpPr>
        <p:spPr>
          <a:xfrm>
            <a:off x="4690872" y="6053328"/>
            <a:ext cx="1444752" cy="512064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混合支付</a:t>
            </a:r>
          </a:p>
        </p:txBody>
      </p:sp>
      <p:sp>
        <p:nvSpPr>
          <p:cNvPr id="74" name="Chevron 73"/>
          <p:cNvSpPr/>
          <p:nvPr/>
        </p:nvSpPr>
        <p:spPr>
          <a:xfrm>
            <a:off x="6071616" y="6053328"/>
            <a:ext cx="1444752" cy="512064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预约履约</a:t>
            </a:r>
          </a:p>
        </p:txBody>
      </p:sp>
      <p:sp>
        <p:nvSpPr>
          <p:cNvPr id="75" name="Chevron 74"/>
          <p:cNvSpPr/>
          <p:nvPr/>
        </p:nvSpPr>
        <p:spPr>
          <a:xfrm>
            <a:off x="7452360" y="6053328"/>
            <a:ext cx="1444752" cy="512064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到检</a:t>
            </a:r>
          </a:p>
        </p:txBody>
      </p:sp>
      <p:sp>
        <p:nvSpPr>
          <p:cNvPr id="76" name="Chevron 75"/>
          <p:cNvSpPr/>
          <p:nvPr/>
        </p:nvSpPr>
        <p:spPr>
          <a:xfrm>
            <a:off x="8833104" y="6053328"/>
            <a:ext cx="1444752" cy="512064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报告</a:t>
            </a:r>
          </a:p>
        </p:txBody>
      </p:sp>
      <p:sp>
        <p:nvSpPr>
          <p:cNvPr id="77" name="Chevron 76"/>
          <p:cNvSpPr/>
          <p:nvPr/>
        </p:nvSpPr>
        <p:spPr>
          <a:xfrm>
            <a:off x="10213848" y="6053328"/>
            <a:ext cx="1444752" cy="512064"/>
          </a:xfrm>
          <a:prstGeom prst="chevron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增值解读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单笔体检订单仅绑定单一持有人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Single Holder per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9215" y="475488"/>
            <a:ext cx="60579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订单域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63022" y="475488"/>
            <a:ext cx="60579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强约束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96828" y="475488"/>
            <a:ext cx="48920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拆单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一笔主订单仅对应一个体检人；多人购买在下单时拆分为多笔独立主订单，预约、改期、取消与退款各自全生命周期独立流转。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9846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961888"/>
            <a:ext cx="177393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早期家庭套餐：1 单多体检人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19" y="5961888"/>
            <a:ext cx="200939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部分取消/退款 → 主单状态难收敛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2129" y="5961888"/>
            <a:ext cx="206425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爱康/美年等回传无法整单原子闭环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4403" y="5961888"/>
            <a:ext cx="177164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部分退款与财务对账逻辑分裂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286000"/>
            <a:ext cx="1783080" cy="91440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0" i="0">
                <a:solidFill>
                  <a:srgbClr val="24324E"/>
                </a:solidFill>
                <a:latin typeface="Microsoft YaHei"/>
                <a:ea typeface="Microsoft YaHei"/>
              </a:rPr>
              <a:t>购买家庭套餐</a:t>
            </a:r>
          </a:p>
          <a:p>
            <a:pPr algn="ctr">
              <a:lnSpc>
                <a:spcPct val="98000"/>
              </a:lnSpc>
            </a:pPr>
            <a:r>
              <a:rPr sz="1050" b="0" i="0">
                <a:solidFill>
                  <a:srgbClr val="24324E"/>
                </a:solidFill>
                <a:latin typeface="Microsoft YaHei"/>
                <a:ea typeface="Microsoft YaHei"/>
              </a:rPr>
              <a:t>或多人批量购买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286000"/>
            <a:ext cx="196596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0" i="0">
                <a:solidFill>
                  <a:srgbClr val="24324E"/>
                </a:solidFill>
                <a:latin typeface="Microsoft YaHei"/>
                <a:ea typeface="Microsoft YaHei"/>
              </a:rPr>
              <a:t>下单引擎自动拆单</a:t>
            </a:r>
          </a:p>
          <a:p>
            <a:pPr algn="ctr">
              <a:lnSpc>
                <a:spcPct val="98000"/>
              </a:lnSpc>
            </a:pPr>
            <a:r>
              <a:rPr sz="1050" b="0" i="0">
                <a:solidFill>
                  <a:srgbClr val="24324E"/>
                </a:solidFill>
                <a:latin typeface="Microsoft YaHei"/>
                <a:ea typeface="Microsoft YaHei"/>
              </a:rPr>
              <a:t>1 个体检人 → 1 笔主订单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286000"/>
            <a:ext cx="2148840" cy="9144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主订单 ↔ 持有人</a:t>
            </a:r>
          </a:p>
          <a:p>
            <a:pPr algn="ctr">
              <a:lnSpc>
                <a:spcPct val="98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严格 1 :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286000"/>
            <a:ext cx="1920240" cy="914400"/>
          </a:xfrm>
          <a:prstGeom prst="roundRect">
            <a:avLst>
              <a:gd name="adj" fmla="val 16000"/>
            </a:avLst>
          </a:prstGeom>
          <a:solidFill>
            <a:srgbClr val="EEEAF7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50" b="0" i="0">
                <a:solidFill>
                  <a:srgbClr val="24324E"/>
                </a:solidFill>
                <a:latin typeface="Microsoft YaHei"/>
                <a:ea typeface="Microsoft YaHei"/>
              </a:rPr>
              <a:t>N 笔独立主订单</a:t>
            </a:r>
          </a:p>
          <a:p>
            <a:pPr algn="ctr">
              <a:lnSpc>
                <a:spcPct val="98000"/>
              </a:lnSpc>
            </a:pPr>
            <a:r>
              <a:rPr sz="1050" b="0" i="0">
                <a:solidFill>
                  <a:srgbClr val="24324E"/>
                </a:solidFill>
                <a:latin typeface="Microsoft YaHei"/>
                <a:ea typeface="Microsoft YaHei"/>
              </a:rPr>
              <a:t>（各绑一张预约单）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50008" y="2743200"/>
            <a:ext cx="32918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81728" y="2743200"/>
            <a:ext cx="32918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96328" y="2743200"/>
            <a:ext cx="32918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03920" y="3218688"/>
            <a:ext cx="0" cy="694944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3640" y="3950208"/>
            <a:ext cx="4526280" cy="777240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100" b="1" i="0">
                <a:solidFill>
                  <a:srgbClr val="2E8B57"/>
                </a:solidFill>
                <a:latin typeface="Microsoft YaHei"/>
                <a:ea typeface="Microsoft YaHei"/>
              </a:rPr>
              <a:t>预约 / 改期 / 取消 / 到检 / 退款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每单独立闭环 · 互不阻塞 · 状态可收敛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50208"/>
            <a:ext cx="5257800" cy="777240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C0453E"/>
                </a:solidFill>
                <a:latin typeface="Microsoft YaHei"/>
                <a:ea typeface="Microsoft YaHei"/>
              </a:rPr>
              <a:t>反例：若 1 单多持有人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部分人取消/改期 → 主单状态无法收敛，供应商回传无法整单闭环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892040"/>
            <a:ext cx="4526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6B778C"/>
                </a:solidFill>
                <a:latin typeface="Microsoft YaHei"/>
                <a:ea typeface="Microsoft YaHei"/>
              </a:rPr>
              <a:t>多人员体检（家庭套餐 / 批量购买）在下单时直接拆单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5257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6B778C"/>
                </a:solidFill>
                <a:latin typeface="Microsoft YaHei"/>
                <a:ea typeface="Microsoft YaHei"/>
              </a:rPr>
              <a:t>数据库 MEMBER_EWP_ORDER_HOLDER 物理可 1:N —— 业务上锁死 1:1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预约取消与退款的双轨联动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Dual-Path Refund &amp; Appointment Cancellation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85198" y="475488"/>
            <a:ext cx="1250441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订单域 × 预约单域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63656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级联编排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支持「先取消预约、后续再退款」与「直接退款、系统自动级联取消预约」两条路径，确保外部机构档期释放与退款闭环。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9846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5961888"/>
            <a:ext cx="346557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预约成功即同步外部供应商（爱康/美年/瑞慈/中科）锁定排期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5961888"/>
            <a:ext cx="1947671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用户心智①：仅改计划、保留权益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7" y="5961888"/>
            <a:ext cx="159791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用户心智②：一键退单退钱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</a:rPr>
              <a:t>路径一 · 先取消预约，后申请退款（分步独立）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31720"/>
            <a:ext cx="1325880" cy="777240"/>
          </a:xfrm>
          <a:prstGeom prst="roundRect">
            <a:avLst>
              <a:gd name="adj" fmla="val 16000"/>
            </a:avLst>
          </a:prstGeom>
          <a:solidFill>
            <a:srgbClr val="E1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用户</a:t>
            </a:r>
          </a:p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取消预约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331720"/>
            <a:ext cx="16459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取消预约接口</a:t>
            </a:r>
          </a:p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释放分院排期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331720"/>
            <a:ext cx="137160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预约单</a:t>
            </a:r>
          </a:p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03 已取消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331720"/>
            <a:ext cx="1874519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主单维持 02 待预约</a:t>
            </a:r>
          </a:p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体检权益完好保留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92807" y="2724912"/>
            <a:ext cx="283465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58768" y="2724912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50408" y="2724912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83879" y="2084831"/>
            <a:ext cx="2377440" cy="548640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可随时重新预约（权益保留）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852928"/>
            <a:ext cx="237744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再发起申请退款 → 06/07 闭环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744968" y="2377440"/>
            <a:ext cx="420624" cy="22860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44968" y="2834640"/>
            <a:ext cx="420624" cy="27432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3840480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D9722C"/>
                </a:solidFill>
                <a:latin typeface="Microsoft YaHei"/>
                <a:ea typeface="Microsoft YaHei"/>
              </a:rPr>
              <a:t>路径二 · 直接申请退款，系统级联取消预约（一键）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60520"/>
            <a:ext cx="150876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用户直接</a:t>
            </a:r>
          </a:p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申请退款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4160520"/>
            <a:ext cx="16459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检测关联</a:t>
            </a:r>
          </a:p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预约单状态</a:t>
            </a:r>
          </a:p>
        </p:txBody>
      </p:sp>
      <p:sp>
        <p:nvSpPr>
          <p:cNvPr id="29" name="Diamond 28"/>
          <p:cNvSpPr/>
          <p:nvPr/>
        </p:nvSpPr>
        <p:spPr>
          <a:xfrm>
            <a:off x="4343400" y="4069080"/>
            <a:ext cx="1463040" cy="9601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预约单是否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已取消?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160520"/>
            <a:ext cx="224028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自动编排 cancelOrderAppoint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释放外部机构排期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4160520"/>
            <a:ext cx="169164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推进主单退款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06 退款中 / 07 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4160520"/>
            <a:ext cx="1078992" cy="777240"/>
          </a:xfrm>
          <a:prstGeom prst="roundRect">
            <a:avLst>
              <a:gd name="adj" fmla="val 1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一键同步</a:t>
            </a:r>
          </a:p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闭环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75688" y="4553712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41648" y="4553712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24728" y="4480560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4708" y="4151376"/>
            <a:ext cx="8229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516585"/>
                </a:solidFill>
                <a:latin typeface="Microsoft YaHei"/>
                <a:ea typeface="Microsoft YaHei"/>
              </a:rPr>
              <a:t>否 · 未取消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85048" y="4553712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96728" y="4553712"/>
            <a:ext cx="19202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74920" y="5047488"/>
            <a:ext cx="0" cy="393192"/>
          </a:xfrm>
          <a:prstGeom prst="line">
            <a:avLst/>
          </a:prstGeom>
          <a:ln w="20320">
            <a:solidFill>
              <a:srgbClr val="5165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74920" y="5440680"/>
            <a:ext cx="4453128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528048" y="4956048"/>
            <a:ext cx="0" cy="484632"/>
          </a:xfrm>
          <a:prstGeom prst="line">
            <a:avLst/>
          </a:prstGeom>
          <a:ln w="20320">
            <a:solidFill>
              <a:srgbClr val="5165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30368" y="5120640"/>
            <a:ext cx="14630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850" b="1" i="0">
                <a:solidFill>
                  <a:srgbClr val="516585"/>
                </a:solidFill>
                <a:latin typeface="Microsoft YaHei"/>
                <a:ea typeface="Microsoft YaHei"/>
              </a:rPr>
              <a:t>是 · 已取消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组合订单：支付瞬态包装器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Combination Order as Ephemeral Payment Wrapper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06255" y="475488"/>
            <a:ext cx="1017269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订单域 × 商城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1541" y="475488"/>
            <a:ext cx="60579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收银台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5347" y="475488"/>
            <a:ext cx="9006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15 分钟超时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组合订单仅在支付结算期内存在：聚合多笔主订单一次性扣款，支付成功即刻解体，不承担任何履约与售后职责。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9846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961888"/>
            <a:ext cx="177164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员工为多位家属合单合并付款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2434" y="5961888"/>
            <a:ext cx="171678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长生命周期大单 → 状态爆炸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7235" y="5961888"/>
            <a:ext cx="247802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购物车项仅支付回调后物理清理（DELETE）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0299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购物车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20299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下单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41848" y="20299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收银台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20299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回调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32136" y="20299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支付后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395728"/>
            <a:ext cx="1956816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购物车暂存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多持有人合单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不占名额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43784" y="2395728"/>
            <a:ext cx="1956816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生成组合订单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combinationOrderCode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触发临时占容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2395728"/>
            <a:ext cx="1956816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聚合应付金额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三方网关合并扣款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招行 / 微信 / 支付宝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34072" y="2395728"/>
            <a:ext cx="1956816" cy="960120"/>
          </a:xfrm>
          <a:prstGeom prst="roundRect">
            <a:avLst>
              <a:gd name="adj" fmla="val 16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支付成功回调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9216" y="2395728"/>
            <a:ext cx="1956816" cy="960120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组合订单解体 → N 笔独立主订单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DELETE 购物车项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23744" y="2880360"/>
            <a:ext cx="30175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18888" y="2880360"/>
            <a:ext cx="30175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14032" y="2880360"/>
            <a:ext cx="30175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09176" y="2880360"/>
            <a:ext cx="30175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27048" y="3374136"/>
            <a:ext cx="0" cy="850392"/>
          </a:xfrm>
          <a:prstGeom prst="line">
            <a:avLst/>
          </a:prstGeom>
          <a:ln w="20320">
            <a:solidFill>
              <a:srgbClr val="5165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3913632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C0453E"/>
                </a:solidFill>
                <a:latin typeface="Microsoft YaHei"/>
                <a:ea typeface="Microsoft YaHei"/>
              </a:rPr>
              <a:t>异常分支 · 15 分钟未支付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24528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定时任务自动取消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待支付订单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4224528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释放分院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排期容量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224528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对应项回退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用户购物车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44368" y="4572000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76088" y="4572000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01000" y="4224528"/>
            <a:ext cx="3685032" cy="6858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24324E"/>
                </a:solidFill>
                <a:latin typeface="Microsoft YaHei"/>
                <a:ea typeface="Microsoft YaHei"/>
              </a:rPr>
              <a:t>用户端「我的订单」/ 后台管理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仅呈现解体后的 N 笔主订单，各显各人、各持预约单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积分抵扣与子订单分摊落标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Point Deduction &amp; SubOrder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06255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结算引擎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56647" y="475488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1 : 1 等值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30483" y="475488"/>
            <a:ext cx="95554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先套餐后加项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锁死 1 积分 = 1 元；积分先抵主套餐升舱/加价差额，再抵自选加项；积分与现金精确分摊落标到每个子订单。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9846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961888"/>
            <a:ext cx="194995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浮动兑换比例 → 对账与开票争议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0741" y="5961888"/>
            <a:ext cx="212597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主单笼统记账 → 退订/拆票无法溯源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4737" y="5961888"/>
            <a:ext cx="154533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支持 100% 全额积分抵扣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12848"/>
            <a:ext cx="2377440" cy="658368"/>
          </a:xfrm>
          <a:prstGeom prst="roundRect">
            <a:avLst>
              <a:gd name="adj" fmla="val 16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1 积分 = 1 元 绝对等值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忽略后台浮动比例配置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2377440" cy="658368"/>
          </a:xfrm>
          <a:prstGeom prst="roundRect">
            <a:avLst>
              <a:gd name="adj" fmla="val 16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packageIntegralLimit=01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支持 100% 全额抵扣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41648"/>
            <a:ext cx="2377440" cy="658368"/>
          </a:xfrm>
          <a:prstGeom prst="roundRect">
            <a:avLst>
              <a:gd name="adj" fmla="val 16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不设强制自费比例门槛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2871216"/>
            <a:ext cx="0" cy="256032"/>
          </a:xfrm>
          <a:prstGeom prst="line">
            <a:avLst/>
          </a:prstGeom>
          <a:ln w="15240">
            <a:solidFill>
              <a:srgbClr val="B8860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3785615"/>
            <a:ext cx="0" cy="256033"/>
          </a:xfrm>
          <a:prstGeom prst="line">
            <a:avLst/>
          </a:prstGeom>
          <a:ln w="15240">
            <a:solidFill>
              <a:srgbClr val="B8860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91840" y="1956816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D9722C"/>
                </a:solidFill>
                <a:latin typeface="Microsoft YaHei"/>
                <a:ea typeface="Microsoft YaHei"/>
              </a:rPr>
              <a:t>法定抵扣优先级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267712"/>
            <a:ext cx="2834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>混合应付（现金 + 积分）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108960"/>
            <a:ext cx="2834640" cy="603504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① 抵扣主套餐升级 / 加价差额（02/03）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950208"/>
            <a:ext cx="2834640" cy="603504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② 剩余积分抵扣自选加项包（01）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791456"/>
            <a:ext cx="2834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余额现金 payCurrencyValue 补足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09160" y="2871216"/>
            <a:ext cx="0" cy="219456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09160" y="3712463"/>
            <a:ext cx="0" cy="219457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09160" y="4553712"/>
            <a:ext cx="0" cy="219456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75120" y="1956816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2F6DB3"/>
                </a:solidFill>
                <a:latin typeface="Microsoft YaHei"/>
                <a:ea typeface="Microsoft YaHei"/>
              </a:rPr>
              <a:t>子订单精细落标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2267712"/>
            <a:ext cx="4983480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340864"/>
            <a:ext cx="46634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2F6DB3"/>
                </a:solidFill>
                <a:latin typeface="Microsoft YaHei"/>
                <a:ea typeface="Microsoft YaHei"/>
              </a:rPr>
              <a:t>MEMBER_EWP_ORDER_SUB（每个子项独立记账）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2670048"/>
            <a:ext cx="4526280" cy="475488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24324E"/>
                </a:solidFill>
                <a:latin typeface="Microsoft YaHei"/>
                <a:ea typeface="Microsoft YaHei"/>
              </a:rPr>
              <a:t>子订单 A · 升级套餐　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F6DB3"/>
                </a:solidFill>
                <a:latin typeface="Microsoft YaHei"/>
                <a:ea typeface="Microsoft YaHei"/>
              </a:rPr>
              <a:t>积分 300 ＋ 现金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3218688"/>
            <a:ext cx="4526280" cy="475488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24324E"/>
                </a:solidFill>
                <a:latin typeface="Microsoft YaHei"/>
                <a:ea typeface="Microsoft YaHei"/>
              </a:rPr>
              <a:t>子订单 B · 加项胃镜　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F6DB3"/>
                </a:solidFill>
                <a:latin typeface="Microsoft YaHei"/>
                <a:ea typeface="Microsoft YaHei"/>
              </a:rPr>
              <a:t>积分 100 ＋ 现金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767328"/>
            <a:ext cx="4526280" cy="475488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24324E"/>
                </a:solidFill>
                <a:latin typeface="Microsoft YaHei"/>
                <a:ea typeface="Microsoft YaHei"/>
              </a:rPr>
              <a:t>子订单 C · 加项腹部超声　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F6DB3"/>
                </a:solidFill>
                <a:latin typeface="Microsoft YaHei"/>
                <a:ea typeface="Microsoft YaHei"/>
              </a:rPr>
              <a:t>积分 0 ＋ 现金 200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144768" y="3383280"/>
            <a:ext cx="512064" cy="18288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49240" y="3639312"/>
            <a:ext cx="137160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00" b="1" i="0">
                <a:solidFill>
                  <a:srgbClr val="516585"/>
                </a:solidFill>
                <a:latin typeface="Microsoft YaHei"/>
                <a:ea typeface="Microsoft YaHei"/>
              </a:rPr>
              <a:t>scoreValue 分摊写入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791456"/>
            <a:ext cx="4983480" cy="603504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24324E"/>
                </a:solidFill>
                <a:latin typeface="Microsoft YaHei"/>
                <a:ea typeface="Microsoft YaHei"/>
              </a:rPr>
              <a:t>财务分账 · 发票拆分 · 售后退款 —— 每笔构成原子级可溯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62288" y="4407408"/>
            <a:ext cx="0" cy="36576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资金回调驱动退积分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Callback-driven Point Refund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6286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逆向退款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6678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异步联动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47069" y="475488"/>
            <a:ext cx="83896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总账在下游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资金退款成功回调驱动下游积分释放：钱先退、积分后返；积分生命周期绑定体检权益，总账由外部系统托管对账。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9846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961888"/>
            <a:ext cx="212140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现金通道与积分中心是异构结算主体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2191" y="5961888"/>
            <a:ext cx="194995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并发双边退款 → 单边账损失风险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0165" y="5961888"/>
            <a:ext cx="201396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HMSC 自建积分总账 → 双写不一致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86000"/>
            <a:ext cx="1600200" cy="77724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用户申请退款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（现金+积分混合单）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2286000"/>
            <a:ext cx="155448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向三方网关发起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资金退款请求</a:t>
            </a:r>
          </a:p>
        </p:txBody>
      </p:sp>
      <p:sp>
        <p:nvSpPr>
          <p:cNvPr id="17" name="Diamond 16"/>
          <p:cNvSpPr/>
          <p:nvPr/>
        </p:nvSpPr>
        <p:spPr>
          <a:xfrm>
            <a:off x="4343400" y="2194560"/>
            <a:ext cx="1417320" cy="9601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网关确认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退款成功?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286000"/>
            <a:ext cx="1737360" cy="777240"/>
          </a:xfrm>
          <a:prstGeom prst="roundRect">
            <a:avLst>
              <a:gd name="adj" fmla="val 16000"/>
            </a:avLst>
          </a:prstGeom>
          <a:solidFill>
            <a:srgbClr val="E1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回调方法内触发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释放退还积分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（福粒/信福通）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286000"/>
            <a:ext cx="1508760" cy="777240"/>
          </a:xfrm>
          <a:prstGeom prst="roundRect">
            <a:avLst>
              <a:gd name="adj" fmla="val 1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双边闭环完成</a:t>
            </a:r>
          </a:p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绝不单边死账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67128" y="267004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41648" y="267004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79008" y="267004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09259" y="2340863"/>
            <a:ext cx="8229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516585"/>
                </a:solidFill>
                <a:latin typeface="Microsoft YaHei"/>
                <a:ea typeface="Microsoft YaHei"/>
              </a:rPr>
              <a:t>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6408" y="267004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0" y="3977639"/>
            <a:ext cx="17830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回调事务抛异常回滚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47488" y="3172968"/>
            <a:ext cx="0" cy="786384"/>
          </a:xfrm>
          <a:prstGeom prst="line">
            <a:avLst/>
          </a:prstGeom>
          <a:ln w="20320">
            <a:solidFill>
              <a:srgbClr val="5165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60" y="3977639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45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网关重新推送通知重试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73368" y="4261104"/>
            <a:ext cx="37490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223760" y="3081528"/>
            <a:ext cx="365760" cy="877824"/>
          </a:xfrm>
          <a:prstGeom prst="line">
            <a:avLst/>
          </a:prstGeom>
          <a:ln w="20320">
            <a:solidFill>
              <a:srgbClr val="5165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69480" y="3502152"/>
            <a:ext cx="8229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516585"/>
                </a:solidFill>
                <a:latin typeface="Microsoft YaHei"/>
                <a:ea typeface="Microsoft YaHei"/>
              </a:rPr>
              <a:t>重新回调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77639"/>
            <a:ext cx="3657600" cy="566928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超过最大重试阈值 → 异常落标 · 人工介入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224528" y="4261104"/>
            <a:ext cx="32918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12680" y="2148840"/>
            <a:ext cx="1673352" cy="306324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积分架构定位</a:t>
            </a:r>
          </a:p>
          <a:p>
            <a:pPr algn="l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① 生命周期严格绑定权益有效期</a:t>
            </a:r>
          </a:p>
          <a:p>
            <a:pPr algn="l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② 总账下沉下游
HMSC 仅消费与调度</a:t>
            </a:r>
          </a:p>
          <a:p>
            <a:pPr algn="l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③ 正向：预冻结 → 回调转实扣</a:t>
            </a:r>
          </a:p>
          <a:p>
            <a:pPr algn="l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④ 逆向：待付取消原路释放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外部积分平台 × 核心镜像双冻结对账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Dual-Account Shadow Ledger &amp; Concurrent Freeze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25128" y="475488"/>
            <a:ext cx="83896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正向双冻结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2105" y="475488"/>
            <a:ext cx="7269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SKU 穿透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47069" y="475488"/>
            <a:ext cx="83896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F6DB3"/>
                </a:solidFill>
                <a:latin typeface="Microsoft YaHei"/>
                <a:ea typeface="Microsoft YaHei"/>
              </a:rPr>
              <a:t>逆向双释放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外部渠道冻结 + 核心镜像并发双冻结防超扣；子订单 SKU 级明细穿透 1:1 对应；并行双释放 + 异常补偿托底最终一致。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1558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779008"/>
            <a:ext cx="212826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多终端并发 / 重试 → 积分超扣风险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9049" y="5779008"/>
            <a:ext cx="224713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粗粒度总额扣减 → 无法还原 SKU 构成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4203" y="5779008"/>
            <a:ext cx="1421891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外部超时缺乏审计镜像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效果与影响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6272784"/>
            <a:ext cx="188823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高一致性：阻断超扣与重放抵扣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9019" y="6272784"/>
            <a:ext cx="165506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明细可溯：银行级财务对账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2099" y="6272784"/>
            <a:ext cx="194995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韧性托底：异常补偿 + 人工通道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93852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</a:rPr>
              <a:t>① 正向 · 并发双冻结（Stream 并发触发）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286000"/>
            <a:ext cx="1554480" cy="77724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IntegralStrategy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.freezeIntegral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2212848"/>
            <a:ext cx="214884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外部平台预冻结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FuLi / XinFuTong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2926080"/>
            <a:ext cx="214884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核心镜像冻结（Shadow）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CoreIntegralService 落流水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56032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双边实时对齐</a:t>
            </a:r>
          </a:p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本地水位锁 + 外部凭据 → 阻断超扣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286000"/>
            <a:ext cx="2651760" cy="960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24324E"/>
                </a:solidFill>
                <a:latin typeface="Microsoft YaHei"/>
                <a:ea typeface="Microsoft YaHei"/>
              </a:rPr>
              <a:t>子订单 → sku_items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F6DB3"/>
                </a:solidFill>
                <a:latin typeface="Microsoft YaHei"/>
                <a:ea typeface="Microsoft YaHei"/>
              </a:rPr>
              <a:t>{ partner_sku, quantity, unit_price }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与加项包颗粒度 1:1 穿透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121408" y="2450592"/>
            <a:ext cx="649224" cy="64008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21408" y="2834640"/>
            <a:ext cx="649224" cy="384048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56048" y="2487168"/>
            <a:ext cx="649224" cy="301752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56048" y="3035808"/>
            <a:ext cx="649224" cy="164592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385048" y="2788920"/>
            <a:ext cx="603504" cy="109728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3639312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D9722C"/>
                </a:solidFill>
                <a:latin typeface="Microsoft YaHei"/>
                <a:ea typeface="Microsoft YaHei"/>
              </a:rPr>
              <a:t>② 逆向 · 并行双释放与异常补偿（traceId 全链路透传）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77639"/>
            <a:ext cx="1828800" cy="82296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取消 / 超时未付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releaseIntegral 并行流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913632"/>
            <a:ext cx="205740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外部撤单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cancelIntegralOrder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599432"/>
            <a:ext cx="205740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核心镜像释放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（双边留痕）</a:t>
            </a:r>
          </a:p>
        </p:txBody>
      </p:sp>
      <p:sp>
        <p:nvSpPr>
          <p:cNvPr id="34" name="Diamond 33"/>
          <p:cNvSpPr/>
          <p:nvPr/>
        </p:nvSpPr>
        <p:spPr>
          <a:xfrm>
            <a:off x="5577840" y="4114800"/>
            <a:ext cx="1371600" cy="8229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外部撤单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成功?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3931920"/>
            <a:ext cx="210312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二次反查外部状态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（福粒 7 = 已撤销?）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4617720"/>
            <a:ext cx="2103120" cy="566928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仍失败 → EXCEPTION_LOG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异常补偿任务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4041648"/>
            <a:ext cx="1691640" cy="548640"/>
          </a:xfrm>
          <a:prstGeom prst="roundRect">
            <a:avLst>
              <a:gd name="adj" fmla="val 1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双边释放完成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2395728" y="4187952"/>
            <a:ext cx="603504" cy="64008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95728" y="4572000"/>
            <a:ext cx="603504" cy="301752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93208" y="4187952"/>
            <a:ext cx="466344" cy="246888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67728" y="4206240"/>
            <a:ext cx="466344" cy="22860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03720" y="3913632"/>
            <a:ext cx="45720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516585"/>
                </a:solidFill>
                <a:latin typeface="Microsoft YaHei"/>
                <a:ea typeface="Microsoft YaHei"/>
              </a:rPr>
              <a:t>否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03920" y="4498848"/>
            <a:ext cx="0" cy="18288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41080" y="4507992"/>
            <a:ext cx="1005840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1" i="0">
                <a:solidFill>
                  <a:srgbClr val="516585"/>
                </a:solidFill>
                <a:latin typeface="Microsoft YaHei"/>
                <a:ea typeface="Microsoft YaHei"/>
              </a:rPr>
              <a:t>仍未撤销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63640" y="4937760"/>
            <a:ext cx="0" cy="475488"/>
          </a:xfrm>
          <a:prstGeom prst="line">
            <a:avLst/>
          </a:prstGeom>
          <a:ln w="20320">
            <a:solidFill>
              <a:srgbClr val="5165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263640" y="5413248"/>
            <a:ext cx="4544568" cy="0"/>
          </a:xfrm>
          <a:prstGeom prst="line">
            <a:avLst/>
          </a:prstGeom>
          <a:ln w="20320">
            <a:solidFill>
              <a:srgbClr val="5165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808208" y="4608576"/>
            <a:ext cx="0" cy="804672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0" y="5431536"/>
            <a:ext cx="73152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850" b="1" i="0">
                <a:solidFill>
                  <a:srgbClr val="516585"/>
                </a:solidFill>
                <a:latin typeface="Microsoft YaHei"/>
                <a:ea typeface="Microsoft YaHei"/>
              </a:rPr>
              <a:t>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分院排期容量、改期边界与超期释放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Store Schedule, Capacity &amp; Reschedule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75904" y="475488"/>
            <a:ext cx="136702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供应商域 × 预约单域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0948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同店改期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21340" y="475488"/>
            <a:ext cx="9646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No-show 释放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同店改期约束 + 体检当天「禁退可改」不对称策略 + 线上线下双轨容量 + 超期未到检自动释放闭环。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1558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779008"/>
            <a:ext cx="271119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跨店改期 → 加项交集重算 + 跨系统分布式事务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1979" y="5779008"/>
            <a:ext cx="200939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当天任意退 → 试剂/排班空置损失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9389" y="5779008"/>
            <a:ext cx="172592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No-show 不清理 → 权益沉没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效果与影响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6272784"/>
            <a:ext cx="95554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履约边界清晰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6332" y="6272784"/>
            <a:ext cx="95554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兼顾供需利益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9896" y="6272784"/>
            <a:ext cx="95554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资源高效周转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01952"/>
            <a:ext cx="5349240" cy="16642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975104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容量双轨排期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304288"/>
            <a:ext cx="23774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线上民营机构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供应商 API 实时日历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304288"/>
            <a:ext cx="23774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线下公立医院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HMSCS 配额 · 提前 3~7 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90672"/>
            <a:ext cx="1136903" cy="329184"/>
          </a:xfrm>
          <a:prstGeom prst="roundRect">
            <a:avLst>
              <a:gd name="adj" fmla="val 50000"/>
            </a:avLst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0E7C86"/>
                </a:solidFill>
                <a:latin typeface="Microsoft YaHei"/>
                <a:ea typeface="Microsoft YaHei"/>
              </a:rPr>
              <a:t>项目级屏蔽日拦截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3090672"/>
            <a:ext cx="1467230" cy="329184"/>
          </a:xfrm>
          <a:prstGeom prst="roundRect">
            <a:avLst>
              <a:gd name="adj" fmla="val 50000"/>
            </a:avLst>
          </a:prstGeom>
          <a:solidFill>
            <a:srgbClr val="E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0E7C86"/>
                </a:solidFill>
                <a:latin typeface="Microsoft YaHei"/>
                <a:ea typeface="Microsoft YaHei"/>
              </a:rPr>
              <a:t>时段细分（可降级全天）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901952"/>
            <a:ext cx="5742432" cy="16642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975104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改期边界 · 原分院同店约束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2304288"/>
            <a:ext cx="118872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改期申请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304288"/>
            <a:ext cx="1965960" cy="658368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仅改日期 / 时段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（原门店内）✓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2304288"/>
            <a:ext cx="1417320" cy="658368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变更分院 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090672"/>
            <a:ext cx="3703320" cy="384048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换店唯一路径：取消预约 → 恢复待预约 → 重新选店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87768" y="2633472"/>
            <a:ext cx="283463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73768" y="2633472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579608" y="2980944"/>
            <a:ext cx="0" cy="91440"/>
          </a:xfrm>
          <a:prstGeom prst="line">
            <a:avLst/>
          </a:prstGeom>
          <a:ln w="20320">
            <a:solidFill>
              <a:srgbClr val="5165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365760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30752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体检当天不对称改退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096512"/>
            <a:ext cx="2377440" cy="777240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主动取消入口关闭 ✗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保护已配试剂与排班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096512"/>
            <a:ext cx="2377440" cy="777240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原店改期保留 ✓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可延后至后续可用日期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983480"/>
            <a:ext cx="512064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「禁退可改」：机构成本与员工救济的人性化平衡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3657600"/>
            <a:ext cx="5742432" cy="1691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730752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需协调特批 &amp; 超期自动释放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4096512"/>
            <a:ext cx="169164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日期标记「需协调」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096512"/>
            <a:ext cx="2011680" cy="658368"/>
          </a:xfrm>
          <a:prstGeom prst="roundRect">
            <a:avLst>
              <a:gd name="adj" fmla="val 16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客服特批 → 预约单 01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线下协调加号加配额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4864608"/>
            <a:ext cx="169164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No-show 超体检日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4828032"/>
            <a:ext cx="2514600" cy="621792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定时任务自动取消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释放占容 · 主单恢复待预约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90688" y="4370832"/>
            <a:ext cx="283464" cy="36576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90688" y="513892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287000" y="4160520"/>
            <a:ext cx="13716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850" b="0" i="0">
                <a:solidFill>
                  <a:srgbClr val="6B778C"/>
                </a:solidFill>
                <a:latin typeface="Microsoft YaHei"/>
                <a:ea typeface="Microsoft YaHei"/>
              </a:rPr>
              <a:t>权益有效期内</a:t>
            </a:r>
          </a:p>
          <a:p>
            <a:pPr algn="l">
              <a:lnSpc>
                <a:spcPct val="98000"/>
              </a:lnSpc>
            </a:pPr>
            <a:r>
              <a:rPr sz="850" b="0" i="0">
                <a:solidFill>
                  <a:srgbClr val="6B778C"/>
                </a:solidFill>
                <a:latin typeface="Microsoft YaHei"/>
                <a:ea typeface="Microsoft YaHei"/>
              </a:rPr>
              <a:t>可重新履约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合并履约、权益到期换店拦截与双轨同步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Bundled Fulfillment, Equity Expiry Guard &amp; Dual-Track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9458" y="475488"/>
            <a:ext cx="60579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履约域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13264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原子交付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63656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0E7C86"/>
                </a:solidFill>
                <a:latin typeface="Microsoft YaHei"/>
                <a:ea typeface="Microsoft YaHei"/>
              </a:rPr>
              <a:t>状态同步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预约单是主套餐 + 全部加项包的唯一履约容器；跨店换店唯一路径受权益到期熔断拦截；线上轮询 + 线下导入双轨推进状态。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9846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961888"/>
            <a:ext cx="2004821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加项须与主套餐同天同店统一采血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5605" y="5961888"/>
            <a:ext cx="218312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换店 = 先取消再重新预约的解耦动作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1" y="5961888"/>
            <a:ext cx="201396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民营 API vs 公立离线的行业现状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3852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① 主+加项合并原子交付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28600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E1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预约单 = 唯一履约容器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主套餐 + 全部自选加项包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329184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线上民营：同一笔外部预约单打包 · 单一就检编号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0208"/>
            <a:ext cx="329184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线下公立：对接 Excel 单条聚合记录交付医院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3291840" cy="548640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24324E"/>
                </a:solidFill>
                <a:latin typeface="Microsoft YaHei"/>
                <a:ea typeface="Microsoft YaHei"/>
              </a:rPr>
              <a:t>单人 · 单店 · 单次 一站式完成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4560" y="2990088"/>
            <a:ext cx="0" cy="192024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94560" y="3785615"/>
            <a:ext cx="0" cy="146305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94560" y="4535424"/>
            <a:ext cx="0" cy="201168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0520" y="193852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② 换店唯一路径 × 权益到期门禁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286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取消原预约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85292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释放原店排期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419856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主单恢复待预约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74920" y="2743200"/>
            <a:ext cx="0" cy="9144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74920" y="3310128"/>
            <a:ext cx="0" cy="9144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4297680" y="4023360"/>
            <a:ext cx="160020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权益已过期?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equityEndDate&lt;今日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74920" y="3877056"/>
            <a:ext cx="45720" cy="128016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60520" y="5029200"/>
            <a:ext cx="1691640" cy="603504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否 · 重新选新店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预约 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5029200"/>
            <a:ext cx="1600200" cy="603504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是 · 拦截新预约 ✗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（取消前强警示）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09160" y="4818888"/>
            <a:ext cx="137160" cy="192024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7840" y="4818888"/>
            <a:ext cx="1005840" cy="192024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01000" y="193852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E7C86"/>
                </a:solidFill>
                <a:latin typeface="Microsoft YaHei"/>
                <a:ea typeface="Microsoft YaHei"/>
              </a:rPr>
              <a:t>③ 双轨到检与报告同步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2286000"/>
            <a:ext cx="36118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线上民营 · 定时轮询拉取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PullAppointJsonReportHandler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3154680"/>
            <a:ext cx="36118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拉取到检名单 + 原版 PDF（LLM OCR 提取）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3931920"/>
            <a:ext cx="1060704" cy="475488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9AA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24324E"/>
                </a:solidFill>
                <a:latin typeface="Microsoft YaHei"/>
                <a:ea typeface="Microsoft YaHei"/>
              </a:rPr>
              <a:t>02 预约成功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62872" y="3931920"/>
            <a:ext cx="1060704" cy="475488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9AA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24324E"/>
                </a:solidFill>
                <a:latin typeface="Microsoft YaHei"/>
                <a:ea typeface="Microsoft YaHei"/>
              </a:rPr>
              <a:t>04 已到检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24744" y="3931920"/>
            <a:ext cx="1088136" cy="475488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9AA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24324E"/>
                </a:solidFill>
                <a:latin typeface="Microsoft YaHei"/>
                <a:ea typeface="Microsoft YaHei"/>
              </a:rPr>
              <a:t>05 已出报告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79992" y="4169663"/>
            <a:ext cx="16459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341864" y="4169663"/>
            <a:ext cx="16459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01000" y="4617720"/>
            <a:ext cx="361188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线下公立 · MIS 运营导入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Excel 名单 / 核销上传扫描件 → 人工推进同一状态机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802368" y="3611880"/>
            <a:ext cx="0" cy="128016"/>
          </a:xfrm>
          <a:prstGeom prst="line">
            <a:avLst/>
          </a:prstGeom>
          <a:ln w="20320">
            <a:solidFill>
              <a:srgbClr val="5165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套餐层级、家属积分共济与问卷推荐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Package Hierarchy, Family Points Sharing &amp;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9458" y="475488"/>
            <a:ext cx="60579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6D599C"/>
                </a:solidFill>
                <a:latin typeface="Microsoft YaHei"/>
                <a:ea typeface="Microsoft YaHei"/>
              </a:rPr>
              <a:t>产品域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13264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6D599C"/>
                </a:solidFill>
                <a:latin typeface="Microsoft YaHei"/>
                <a:ea typeface="Microsoft YaHei"/>
              </a:rPr>
              <a:t>单选互斥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63656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6D599C"/>
                </a:solidFill>
                <a:latin typeface="Microsoft YaHei"/>
                <a:ea typeface="Microsoft YaHei"/>
              </a:rPr>
              <a:t>适检门禁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主干套餐 1 of N 单选互斥、差额升舱；标准医学字典 + 适检属性门禁；家属包全额自费可用员工积分共济；问卷推荐自动勾选。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1558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779008"/>
            <a:ext cx="160019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统付 / 自费分界失真风险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5779008"/>
            <a:ext cx="235457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禁忌项目合规（如未婚女性经阴道超声）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83579" y="5779008"/>
            <a:ext cx="148361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千人一面 → 高风险漏筛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效果与影响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6272784"/>
            <a:ext cx="153847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层级严密厘清统付与自费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9262" y="6272784"/>
            <a:ext cx="1421891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全家共济提升积分活力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89170" y="6272784"/>
            <a:ext cx="1421891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精准预防提升早筛覆盖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93852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6D599C"/>
                </a:solidFill>
                <a:latin typeface="Microsoft YaHei"/>
                <a:ea typeface="Microsoft YaHei"/>
              </a:rPr>
              <a:t>主干套餐 · 单选互斥（1 of N）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33172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主干套餐</a:t>
            </a:r>
          </a:p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（必选其一）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2148840"/>
            <a:ext cx="26974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00 标准主套餐 · 企业统付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2852928"/>
            <a:ext cx="26974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02 升级套餐 · 仅付差额（售价−基准价）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557016"/>
            <a:ext cx="26974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03 加价套餐 · 网点溢价 extraPrice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532888" y="2395728"/>
            <a:ext cx="512064" cy="118872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2888" y="2697480"/>
            <a:ext cx="512064" cy="41148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32888" y="2880360"/>
            <a:ext cx="512064" cy="941831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063240" y="4370832"/>
            <a:ext cx="2697480" cy="603504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01 加项包 0~N · 医学互斥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受企业预算帽（Budget Cap）管控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07408" y="4142232"/>
            <a:ext cx="0" cy="210312"/>
          </a:xfrm>
          <a:prstGeom prst="line">
            <a:avLst/>
          </a:prstGeom>
          <a:ln w="20320">
            <a:solidFill>
              <a:srgbClr val="D97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3246120"/>
            <a:ext cx="228600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差额部分支持</a:t>
            </a:r>
          </a:p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现金自费 或</a:t>
            </a:r>
          </a:p>
          <a:p>
            <a:pPr algn="l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企业积分 1:1 抵扣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93852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6D599C"/>
                </a:solidFill>
                <a:latin typeface="Microsoft YaHei"/>
                <a:ea typeface="Microsoft YaHei"/>
              </a:rPr>
              <a:t>标准医学字典 × 适检门禁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286000"/>
            <a:ext cx="265176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平台标准医学字典库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爱康/美年/瑞慈/公立 → 入库映射对齐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286000"/>
            <a:ext cx="2633472" cy="777240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适检人群属性门禁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性别 × 婚姻状态 · 过滤+硬校验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96528" y="2670048"/>
            <a:ext cx="23774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0" y="3246120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6D599C"/>
                </a:solidFill>
                <a:latin typeface="Microsoft YaHei"/>
                <a:ea typeface="Microsoft YaHei"/>
              </a:rPr>
              <a:t>员工包 P × 家属包 G · 积分共济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584448"/>
            <a:ext cx="265176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员工产品包（P）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企业统付 / 升舱共付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3584448"/>
            <a:ext cx="2633472" cy="640080"/>
          </a:xfrm>
          <a:prstGeom prst="roundRect">
            <a:avLst>
              <a:gd name="adj" fmla="val 16000"/>
            </a:avLst>
          </a:prstGeom>
          <a:solidFill>
            <a:srgbClr val="E1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家属产品包（G）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全额自费 · 可扣员工福利积分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96528" y="3904487"/>
            <a:ext cx="23774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03920" y="3557015"/>
            <a:ext cx="8229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516585"/>
                </a:solidFill>
                <a:latin typeface="Microsoft YaHei"/>
                <a:ea typeface="Microsoft YaHei"/>
              </a:rPr>
              <a:t>积分划扣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434840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6D599C"/>
                </a:solidFill>
                <a:latin typeface="Microsoft YaHei"/>
                <a:ea typeface="Microsoft YaHei"/>
              </a:rPr>
              <a:t>问卷驱动智能推荐 · 自动勾选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773168"/>
            <a:ext cx="128016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健康问卷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病史/习惯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关注点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62088" y="4773168"/>
            <a:ext cx="128016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风险模型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动态计算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健康风险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4773168"/>
            <a:ext cx="128016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匹配推荐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主套餐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+ 加项包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33304" y="4773168"/>
            <a:ext cx="1252728" cy="777240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24324E"/>
                </a:solidFill>
                <a:latin typeface="Microsoft YaHei"/>
                <a:ea typeface="Microsoft YaHei"/>
              </a:rPr>
              <a:t>界面默认</a:t>
            </a:r>
          </a:p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24324E"/>
                </a:solidFill>
                <a:latin typeface="Microsoft YaHei"/>
                <a:ea typeface="Microsoft YaHei"/>
              </a:rPr>
              <a:t>自动勾选 ✓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24927" y="5157216"/>
            <a:ext cx="118873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860536" y="5157216"/>
            <a:ext cx="11887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296144" y="5157216"/>
            <a:ext cx="118872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报告解读增值服务流水线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Report Interpretation Pipeline &amp; HR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04504" y="475488"/>
            <a:ext cx="1133855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D9722C"/>
                </a:solidFill>
                <a:latin typeface="Microsoft YaHei"/>
                <a:ea typeface="Microsoft YaHei"/>
              </a:rPr>
              <a:t>档案域 × 活动域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66376" y="475488"/>
            <a:ext cx="6720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D9722C"/>
                </a:solidFill>
                <a:latin typeface="Microsoft YaHei"/>
                <a:ea typeface="Microsoft YaHei"/>
              </a:rPr>
              <a:t>LLM 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6" y="475488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D9722C"/>
                </a:solidFill>
                <a:latin typeface="Microsoft YaHei"/>
                <a:ea typeface="Microsoft YaHei"/>
              </a:rPr>
              <a:t>AI + 医生双轨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全域 PDF + 大模型 OCR 统一结构化（原生 JSON 弃用）；免费 AI 即时解读与异步三方医生解读双轨；C24/C59 随权益子产品导入。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1558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779008"/>
            <a:ext cx="189737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N 套私有 JSON 解析器维护灾难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8163" y="5779008"/>
            <a:ext cx="200939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即时科普 vs 深度研判的服务分层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35573" y="5779008"/>
            <a:ext cx="1719071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员工健康数据 PII 隐私合规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效果与影响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6272784"/>
            <a:ext cx="130530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全域指标大一统归档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06090" y="6272784"/>
            <a:ext cx="118871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服务分层各司其职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2826" y="6272784"/>
            <a:ext cx="142417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B 端健康管理黏性提升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12848"/>
            <a:ext cx="251460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报告归集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线上 API 轮询 PDF ｜ 线下 MIS 导入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212848"/>
            <a:ext cx="265176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大模型 OCR 统一结构化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项目/实测值/单位/参考区间/异常标识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212848"/>
            <a:ext cx="228600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映射平台标准医学字典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（原生 JSON 链路已弃用 ✗）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212848"/>
            <a:ext cx="2587752" cy="777240"/>
          </a:xfrm>
          <a:prstGeom prst="roundRect">
            <a:avLst>
              <a:gd name="adj" fmla="val 16000"/>
            </a:avLst>
          </a:prstGeom>
          <a:solidFill>
            <a:srgbClr val="E1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归档健康档案 HMES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支撑历年趋势比对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81528" y="2596896"/>
            <a:ext cx="32918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2596896"/>
            <a:ext cx="32918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50808" y="2596896"/>
            <a:ext cx="32918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3246120"/>
            <a:ext cx="4572000" cy="548640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外院自传历史报告 → 仅个人端查看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不入健康档案 · 不参与正式趋势比对 ✗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37360" y="3008376"/>
            <a:ext cx="0" cy="219456"/>
          </a:xfrm>
          <a:prstGeom prst="line">
            <a:avLst/>
          </a:prstGeom>
          <a:ln w="20320">
            <a:solidFill>
              <a:srgbClr val="5165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6400" y="3246120"/>
            <a:ext cx="6199632" cy="54864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官方履约档案只保留机构原件抽取结果，捍卫档案真实性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77639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2F6DB3"/>
                </a:solidFill>
                <a:latin typeface="Microsoft YaHei"/>
                <a:ea typeface="Microsoft YaHei"/>
              </a:rPr>
              <a:t>普惠 AI 即时解读 · 小诺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5394960" cy="822960"/>
          </a:xfrm>
          <a:prstGeom prst="roundRect">
            <a:avLst>
              <a:gd name="adj" fmla="val 16000"/>
            </a:avLst>
          </a:prstGeom>
          <a:solidFill>
            <a:srgbClr val="E8F0FA"/>
          </a:solidFill>
          <a:ln w="12700">
            <a:solidFill>
              <a:srgbClr val="2F6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项目启用 AI 开关后全员可用：免费 · 即时</a:t>
            </a:r>
          </a:p>
          <a:p>
            <a:pPr algn="ctr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指标成因分析 + 生活方式建议（广度科普）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977639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6D599C"/>
                </a:solidFill>
                <a:latin typeface="Microsoft YaHei"/>
                <a:ea typeface="Microsoft YaHei"/>
              </a:rPr>
              <a:t>异步三方医生解读 · 工单制（C24 / C59）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315968"/>
            <a:ext cx="5422392" cy="822960"/>
          </a:xfrm>
          <a:prstGeom prst="roundRect">
            <a:avLst>
              <a:gd name="adj" fmla="val 16000"/>
            </a:avLst>
          </a:prstGeom>
          <a:solidFill>
            <a:srgbClr val="EEEAF7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结构化数据+病史 → 推送三方解读中心 → 医生限时核阅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异步回调 → 结论以结构化数据回写权益与报告（深度研判）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21808"/>
            <a:ext cx="4343400" cy="502920"/>
          </a:xfrm>
          <a:prstGeom prst="roundRect">
            <a:avLst>
              <a:gd name="adj" fmla="val 16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C24/C59 非商城零售 · 随企业权益子产品导入赋权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5321808"/>
            <a:ext cx="3108960" cy="50292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9AA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B 端 HR 异常指标看板 · 脱敏合规授权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5321808"/>
            <a:ext cx="3319272" cy="50292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9AA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家庭报告归集员工账户 · 切换持有人查看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9184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56032"/>
            <a:ext cx="7863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商城多租户分类、卡密兑换与子产品边界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786384"/>
            <a:ext cx="78638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Shop Custom Categories &amp; Voucher Redemption to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4805" y="475488"/>
            <a:ext cx="1133855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6D599C"/>
                </a:solidFill>
                <a:latin typeface="Microsoft YaHei"/>
                <a:ea typeface="Microsoft YaHei"/>
              </a:rPr>
              <a:t>商品域 × 权益域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6677" y="475488"/>
            <a:ext cx="7223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6D599C"/>
                </a:solidFill>
                <a:latin typeface="Microsoft YaHei"/>
                <a:ea typeface="Microsoft YaHei"/>
              </a:rPr>
              <a:t>卡密核验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47069" y="475488"/>
            <a:ext cx="83896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6D599C"/>
                </a:solidFill>
                <a:latin typeface="Microsoft YaHei"/>
                <a:ea typeface="Microsoft YaHei"/>
              </a:rPr>
              <a:t>非商城零售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353312"/>
            <a:ext cx="11183112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24324E"/>
                </a:solidFill>
                <a:latin typeface="Microsoft YaHei"/>
                <a:ea typeface="Microsoft YaHei"/>
              </a:rPr>
              <a:t>项目级自定义分类实现千企千面；卡券经卡密核验在核心域生成体检权益；C24/C59 不零售、随权益导入；优惠套餐支付后直接转履约单。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82296" cy="548640"/>
          </a:xfrm>
          <a:prstGeom prst="rect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15584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背景与权衡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779008"/>
            <a:ext cx="153847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硬编码分类不适配多租户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9262" y="5779008"/>
            <a:ext cx="1188719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卡密盗刷套利风险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5997" y="5779008"/>
            <a:ext cx="1888235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直接生成裸订单会绕过权益校验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1" i="0">
                <a:solidFill>
                  <a:srgbClr val="6B778C"/>
                </a:solidFill>
                <a:latin typeface="Microsoft YaHei"/>
                <a:ea typeface="Microsoft YaHei"/>
              </a:rPr>
              <a:t>效果与影响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6272784"/>
            <a:ext cx="1655063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新大客户上线成本大幅降低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7" y="6272784"/>
            <a:ext cx="153847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以权益为契约沉淀至核心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2341" y="6272784"/>
            <a:ext cx="1949957" cy="329184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4A556C"/>
                </a:solidFill>
                <a:latin typeface="Microsoft YaHei"/>
                <a:ea typeface="Microsoft YaHei"/>
              </a:rPr>
              <a:t>客服审核 + 兑换锁死守住资金线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2212848"/>
            <a:ext cx="2404872" cy="1691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1" i="0">
                <a:solidFill>
                  <a:srgbClr val="6D599C"/>
                </a:solidFill>
                <a:latin typeface="Microsoft YaHei"/>
                <a:ea typeface="Microsoft YaHei"/>
              </a:rPr>
              <a:t>项目级自定义分类</a:t>
            </a:r>
          </a:p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企业项目配置动态类目
MIS 双轨标签：优惠套餐购买 /
健康商城分类
→ 千企千面商品橱窗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93852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6D599C"/>
                </a:solidFill>
                <a:latin typeface="Microsoft YaHei"/>
                <a:ea typeface="Microsoft YaHei"/>
              </a:rPr>
              <a:t>路径 A · 优惠套餐即时转单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249424"/>
            <a:ext cx="178308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体检端购买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优惠套餐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2249424"/>
            <a:ext cx="19202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支付成功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（积分 1:1 抵扣）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249424"/>
            <a:ext cx="1920240" cy="658368"/>
          </a:xfrm>
          <a:prstGeom prst="roundRect">
            <a:avLst>
              <a:gd name="adj" fmla="val 16000"/>
            </a:avLst>
          </a:prstGeom>
          <a:solidFill>
            <a:srgbClr val="EEEAF7"/>
          </a:solidFill>
          <a:ln w="12700">
            <a:solidFill>
              <a:srgbClr val="6D59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直接生成待预约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体检主订单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2249424"/>
            <a:ext cx="1783080" cy="658368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立即选分院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排期预约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50008" y="257860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90288" y="257860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30568" y="2578608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312724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6D599C"/>
                </a:solidFill>
                <a:latin typeface="Microsoft YaHei"/>
                <a:ea typeface="Microsoft YaHei"/>
              </a:rPr>
              <a:t>路径 B · 卡券兑换生成核心权益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456432"/>
            <a:ext cx="178308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商城购买体检卡券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获得卡密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3456432"/>
            <a:ext cx="19202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H5/PC 输入卡密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checkGardPassword 核验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3456432"/>
            <a:ext cx="1920240" cy="658368"/>
          </a:xfrm>
          <a:prstGeom prst="roundRect">
            <a:avLst>
              <a:gd name="adj" fmla="val 16000"/>
            </a:avLst>
          </a:prstGeom>
          <a:solidFill>
            <a:srgbClr val="E1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hmscs 核心域生成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正式体检权益 Benefit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3456432"/>
            <a:ext cx="1783080" cy="658368"/>
          </a:xfrm>
          <a:prstGeom prst="roundRect">
            <a:avLst>
              <a:gd name="adj" fmla="val 16000"/>
            </a:avLst>
          </a:prstGeom>
          <a:solidFill>
            <a:srgbClr val="E6F4EB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体检侧动态感知</a:t>
            </a:r>
          </a:p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→ 标准体检流程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50008" y="3785615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90288" y="3785615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30568" y="3785615"/>
            <a:ext cx="28346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" y="4434840"/>
            <a:ext cx="4846320" cy="530352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9AA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实物商品售后：未发货即时退 ｜ 已发货退货退款（寄回验收）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4434840"/>
            <a:ext cx="3291840" cy="530352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9AA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50" b="0" i="0">
                <a:solidFill>
                  <a:srgbClr val="24324E"/>
                </a:solidFill>
                <a:latin typeface="Microsoft YaHei"/>
                <a:ea typeface="Microsoft YaHei"/>
              </a:rPr>
              <a:t>混合退款：资金回调驱动退积分（双边一致）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38928"/>
            <a:ext cx="8366760" cy="502920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1" i="0">
                <a:solidFill>
                  <a:srgbClr val="24324E"/>
                </a:solidFill>
                <a:latin typeface="Microsoft YaHei"/>
                <a:ea typeface="Microsoft YaHei"/>
              </a:rPr>
              <a:t>边界红线：C24/C59 医疗增值服务不在商城零售 → 随权益子产品导入赋权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069080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1" i="0">
                <a:solidFill>
                  <a:srgbClr val="C0453E"/>
                </a:solidFill>
                <a:latin typeface="Microsoft YaHei"/>
                <a:ea typeface="Microsoft YaHei"/>
              </a:rPr>
              <a:t>卡券退款守卫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4389120"/>
            <a:ext cx="2404872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24324E"/>
                </a:solidFill>
                <a:latin typeface="Microsoft YaHei"/>
                <a:ea typeface="Microsoft YaHei"/>
              </a:rPr>
              <a:t>未兑换：关闭自助退款</a:t>
            </a:r>
          </a:p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24324E"/>
                </a:solidFill>
                <a:latin typeface="Microsoft YaHei"/>
                <a:ea typeface="Microsoft YaHei"/>
              </a:rPr>
              <a:t>客服介入 · MIS 核实原路退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81160" y="5029200"/>
            <a:ext cx="2404872" cy="530352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C04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24324E"/>
                </a:solidFill>
                <a:latin typeface="Microsoft YaHei"/>
                <a:ea typeface="Microsoft YaHei"/>
              </a:rPr>
              <a:t>已兑换生成权益</a:t>
            </a:r>
          </a:p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24324E"/>
                </a:solidFill>
                <a:latin typeface="Microsoft YaHei"/>
                <a:ea typeface="Microsoft YaHei"/>
              </a:rPr>
              <a:t>永久锁死 · 不可退款 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端到端主流程总览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91440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End-to-End Value Stream · 正向履约主线 × 逆向退款主线 × 关键护栏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89888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0E7C86"/>
                </a:solidFill>
                <a:latin typeface="Microsoft YaHei"/>
                <a:ea typeface="Microsoft YaHei"/>
              </a:rPr>
              <a:t>正向履约主线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1737360"/>
            <a:ext cx="1481328" cy="914400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企业权益获取</a:t>
            </a:r>
          </a:p>
        </p:txBody>
      </p:sp>
      <p:sp>
        <p:nvSpPr>
          <p:cNvPr id="7" name="Chevron 6"/>
          <p:cNvSpPr/>
          <p:nvPr/>
        </p:nvSpPr>
        <p:spPr>
          <a:xfrm>
            <a:off x="1929384" y="1737360"/>
            <a:ext cx="1481328" cy="914400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选套餐·加项</a:t>
            </a:r>
          </a:p>
        </p:txBody>
      </p:sp>
      <p:sp>
        <p:nvSpPr>
          <p:cNvPr id="8" name="Chevron 7"/>
          <p:cNvSpPr/>
          <p:nvPr/>
        </p:nvSpPr>
        <p:spPr>
          <a:xfrm>
            <a:off x="3310128" y="1737360"/>
            <a:ext cx="1481328" cy="914400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建单 1人1单</a:t>
            </a:r>
          </a:p>
        </p:txBody>
      </p:sp>
      <p:sp>
        <p:nvSpPr>
          <p:cNvPr id="9" name="Chevron 8"/>
          <p:cNvSpPr/>
          <p:nvPr/>
        </p:nvSpPr>
        <p:spPr>
          <a:xfrm>
            <a:off x="4690872" y="1737360"/>
            <a:ext cx="1481328" cy="914400"/>
          </a:xfrm>
          <a:prstGeom prst="chevron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混合支付</a:t>
            </a:r>
          </a:p>
        </p:txBody>
      </p:sp>
      <p:sp>
        <p:nvSpPr>
          <p:cNvPr id="10" name="Chevron 9"/>
          <p:cNvSpPr/>
          <p:nvPr/>
        </p:nvSpPr>
        <p:spPr>
          <a:xfrm>
            <a:off x="6071616" y="1737360"/>
            <a:ext cx="1481328" cy="914400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预约排期</a:t>
            </a:r>
          </a:p>
        </p:txBody>
      </p:sp>
      <p:sp>
        <p:nvSpPr>
          <p:cNvPr id="11" name="Chevron 10"/>
          <p:cNvSpPr/>
          <p:nvPr/>
        </p:nvSpPr>
        <p:spPr>
          <a:xfrm>
            <a:off x="7452360" y="1737360"/>
            <a:ext cx="1481328" cy="914400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到检</a:t>
            </a:r>
          </a:p>
        </p:txBody>
      </p:sp>
      <p:sp>
        <p:nvSpPr>
          <p:cNvPr id="12" name="Chevron 11"/>
          <p:cNvSpPr/>
          <p:nvPr/>
        </p:nvSpPr>
        <p:spPr>
          <a:xfrm>
            <a:off x="8833104" y="1737360"/>
            <a:ext cx="1481328" cy="914400"/>
          </a:xfrm>
          <a:prstGeom prst="chevron">
            <a:avLst/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报告 OCR</a:t>
            </a:r>
          </a:p>
        </p:txBody>
      </p:sp>
      <p:sp>
        <p:nvSpPr>
          <p:cNvPr id="13" name="Chevron 12"/>
          <p:cNvSpPr/>
          <p:nvPr/>
        </p:nvSpPr>
        <p:spPr>
          <a:xfrm>
            <a:off x="10213848" y="1737360"/>
            <a:ext cx="1481328" cy="914400"/>
          </a:xfrm>
          <a:prstGeom prst="chevron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增值解读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724912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6B778C"/>
                </a:solidFill>
                <a:latin typeface="Microsoft YaHei"/>
                <a:ea typeface="Microsoft YaHei"/>
              </a:rPr>
              <a:t>组合单瞬态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724912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6B778C"/>
                </a:solidFill>
                <a:latin typeface="Microsoft YaHei"/>
                <a:ea typeface="Microsoft YaHei"/>
              </a:rPr>
              <a:t>双冻结+回调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724912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6B778C"/>
                </a:solidFill>
                <a:latin typeface="Microsoft YaHei"/>
                <a:ea typeface="Microsoft YaHei"/>
              </a:rPr>
              <a:t>容量双轨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724912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6B778C"/>
                </a:solidFill>
                <a:latin typeface="Microsoft YaHei"/>
                <a:ea typeface="Microsoft YaHei"/>
              </a:rPr>
              <a:t>状态双轨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724912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8000"/>
              </a:lnSpc>
            </a:pPr>
            <a:r>
              <a:rPr sz="800" b="0" i="0">
                <a:solidFill>
                  <a:srgbClr val="6B778C"/>
                </a:solidFill>
                <a:latin typeface="Microsoft YaHei"/>
                <a:ea typeface="Microsoft YaHei"/>
              </a:rPr>
              <a:t>LLM 结构化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D9722C"/>
                </a:solidFill>
                <a:latin typeface="Microsoft YaHei"/>
                <a:ea typeface="Microsoft YaHei"/>
              </a:rPr>
              <a:t>逆向退款主线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47872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申请取消 / 退款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547872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级联取消预约 · 释放排期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547872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主单状态收敛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199" y="3547872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资金退款成功回调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547872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释放下游积分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39" y="3547872"/>
            <a:ext cx="1828800" cy="777240"/>
          </a:xfrm>
          <a:prstGeom prst="roundRect">
            <a:avLst>
              <a:gd name="adj" fmla="val 16000"/>
            </a:avLst>
          </a:prstGeom>
          <a:solidFill>
            <a:srgbClr val="FBEEE2"/>
          </a:solidFill>
          <a:ln w="12700">
            <a:solidFill>
              <a:srgbClr val="D9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00" b="0" i="0">
                <a:solidFill>
                  <a:srgbClr val="24324E"/>
                </a:solidFill>
                <a:latin typeface="Microsoft YaHei"/>
                <a:ea typeface="Microsoft YaHei"/>
              </a:rPr>
              <a:t>对账 · 异常补偿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395728" y="3931920"/>
            <a:ext cx="914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270248" y="3931920"/>
            <a:ext cx="9144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144767" y="3931920"/>
            <a:ext cx="9145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019288" y="3931920"/>
            <a:ext cx="9143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893807" y="3931920"/>
            <a:ext cx="9145" cy="0"/>
          </a:xfrm>
          <a:prstGeom prst="line">
            <a:avLst/>
          </a:prstGeom>
          <a:ln w="20320">
            <a:solidFill>
              <a:srgbClr val="5165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617720"/>
            <a:ext cx="5943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B8860B"/>
                </a:solidFill>
                <a:latin typeface="Microsoft YaHei"/>
                <a:ea typeface="Microsoft YaHei"/>
              </a:rPr>
              <a:t>关键护栏（贯穿全程）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56048"/>
            <a:ext cx="1310512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1 积分 = 1 元等值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3744" y="4956048"/>
            <a:ext cx="1117472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子订单分摊落标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5809" y="4956048"/>
            <a:ext cx="1117472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双账本镜像对账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87875" y="4956048"/>
            <a:ext cx="1117472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权益有效期门禁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69940" y="4956048"/>
            <a:ext cx="748284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同店改期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82816" y="4956048"/>
            <a:ext cx="994409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当天禁退可改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1818" y="4956048"/>
            <a:ext cx="1428749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异常补偿 + 人工托底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35160" y="4956048"/>
            <a:ext cx="994409" cy="402336"/>
          </a:xfrm>
          <a:prstGeom prst="roundRect">
            <a:avLst>
              <a:gd name="adj" fmla="val 50000"/>
            </a:avLst>
          </a:prstGeom>
          <a:solidFill>
            <a:srgbClr val="FAF3D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950" b="1" i="0">
                <a:solidFill>
                  <a:srgbClr val="7A590B"/>
                </a:solidFill>
                <a:latin typeface="Microsoft YaHei"/>
                <a:ea typeface="Microsoft YaHei"/>
              </a:rPr>
              <a:t>家庭报告共聚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23560"/>
            <a:ext cx="11137392" cy="77724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24324E"/>
                </a:solidFill>
                <a:latin typeface="Microsoft YaHei"/>
                <a:ea typeface="Microsoft YaHei"/>
              </a:rPr>
              <a:t>主线契约：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24324E"/>
                </a:solidFill>
                <a:latin typeface="Microsoft YaHei"/>
                <a:ea typeface="Microsoft YaHei"/>
              </a:rPr>
              <a:t>商城/卡券/企业导入统一沉淀为「权益（Benefit）」→ 履约以「主订单 1:1 持有人」为基石 → 资金以「回调驱动 + 镜像对账」保一致 → 数据以「LLM OCR + 标准字典」大一统归档。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2300" b="1" i="0">
                <a:solidFill>
                  <a:srgbClr val="24324E"/>
                </a:solidFill>
                <a:latin typeface="Microsoft YaHei"/>
                <a:ea typeface="Microsoft YaHei"/>
              </a:rPr>
              <a:t>效果与影响 · 四大价值面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91440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6B778C"/>
                </a:solidFill>
                <a:latin typeface="Microsoft YaHei"/>
                <a:ea typeface="Microsoft YaHei"/>
              </a:rPr>
              <a:t>Outcomes · 11 项决策叠加后的系统性收益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2700">
            <a:solidFill>
              <a:srgbClr val="D8E0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554480"/>
            <a:ext cx="266090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60904" cy="82296"/>
          </a:xfrm>
          <a:prstGeom prst="rect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F6DB3"/>
                </a:solidFill>
                <a:latin typeface="Microsoft YaHei"/>
                <a:ea typeface="Microsoft YaHei"/>
              </a:rPr>
              <a:t>交易与资金安全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350008"/>
            <a:ext cx="91440" cy="914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9424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双账本镜像对账，阻断超扣与单边账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191256"/>
            <a:ext cx="91440" cy="914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90672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回调驱动退积分，资金-积分异步联动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32504"/>
            <a:ext cx="91440" cy="91440"/>
          </a:xfrm>
          <a:prstGeom prst="ellipse">
            <a:avLst/>
          </a:prstGeom>
          <a:solidFill>
            <a:srgbClr val="2F6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31920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子订单落标，退款/发票原子级溯源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1554480"/>
            <a:ext cx="266090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6" y="1554480"/>
            <a:ext cx="2660904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75564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0E7C86"/>
                </a:solidFill>
                <a:latin typeface="Microsoft YaHei"/>
                <a:ea typeface="Microsoft YaHei"/>
              </a:rPr>
              <a:t>履约边界与体验</a:t>
            </a:r>
          </a:p>
        </p:txBody>
      </p:sp>
      <p:sp>
        <p:nvSpPr>
          <p:cNvPr id="17" name="Oval 16"/>
          <p:cNvSpPr/>
          <p:nvPr/>
        </p:nvSpPr>
        <p:spPr>
          <a:xfrm>
            <a:off x="3511296" y="2350008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2249424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同店改期 + 当天禁退可改，边界清晰</a:t>
            </a:r>
          </a:p>
        </p:txBody>
      </p:sp>
      <p:sp>
        <p:nvSpPr>
          <p:cNvPr id="19" name="Oval 18"/>
          <p:cNvSpPr/>
          <p:nvPr/>
        </p:nvSpPr>
        <p:spPr>
          <a:xfrm>
            <a:off x="3511296" y="3191256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3090672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主套餐+加项合并原子交付不漏检</a:t>
            </a:r>
          </a:p>
        </p:txBody>
      </p:sp>
      <p:sp>
        <p:nvSpPr>
          <p:cNvPr id="21" name="Oval 20"/>
          <p:cNvSpPr/>
          <p:nvPr/>
        </p:nvSpPr>
        <p:spPr>
          <a:xfrm>
            <a:off x="3511296" y="4032504"/>
            <a:ext cx="91440" cy="914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931920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超期 No-show 自动释放，权益不沉没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1554480"/>
            <a:ext cx="266090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1554480"/>
            <a:ext cx="2660904" cy="82296"/>
          </a:xfrm>
          <a:prstGeom prst="rect">
            <a:avLst/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175564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D9722C"/>
                </a:solidFill>
                <a:latin typeface="Microsoft YaHei"/>
                <a:ea typeface="Microsoft YaHei"/>
              </a:rPr>
              <a:t>数据与档案资产</a:t>
            </a:r>
          </a:p>
        </p:txBody>
      </p:sp>
      <p:sp>
        <p:nvSpPr>
          <p:cNvPr id="26" name="Oval 25"/>
          <p:cNvSpPr/>
          <p:nvPr/>
        </p:nvSpPr>
        <p:spPr>
          <a:xfrm>
            <a:off x="6336792" y="2350008"/>
            <a:ext cx="91440" cy="91440"/>
          </a:xfrm>
          <a:prstGeom prst="ellipse">
            <a:avLst/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249424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LLM OCR 大一统，公立医院无障碍归档</a:t>
            </a:r>
          </a:p>
        </p:txBody>
      </p:sp>
      <p:sp>
        <p:nvSpPr>
          <p:cNvPr id="28" name="Oval 27"/>
          <p:cNvSpPr/>
          <p:nvPr/>
        </p:nvSpPr>
        <p:spPr>
          <a:xfrm>
            <a:off x="6336792" y="3191256"/>
            <a:ext cx="91440" cy="91440"/>
          </a:xfrm>
          <a:prstGeom prst="ellipse">
            <a:avLst/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90672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标准医学字典跨机构可比对齐</a:t>
            </a:r>
          </a:p>
        </p:txBody>
      </p:sp>
      <p:sp>
        <p:nvSpPr>
          <p:cNvPr id="30" name="Oval 29"/>
          <p:cNvSpPr/>
          <p:nvPr/>
        </p:nvSpPr>
        <p:spPr>
          <a:xfrm>
            <a:off x="6336792" y="4032504"/>
            <a:ext cx="91440" cy="91440"/>
          </a:xfrm>
          <a:prstGeom prst="ellipse">
            <a:avLst/>
          </a:prstGeom>
          <a:solidFill>
            <a:srgbClr val="D9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931920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官方档案纯净，外院报告隔离存放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408" y="1554480"/>
            <a:ext cx="266090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8979408" y="1554480"/>
            <a:ext cx="2660904" cy="82296"/>
          </a:xfrm>
          <a:prstGeom prst="rect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755648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6D599C"/>
                </a:solidFill>
                <a:latin typeface="Microsoft YaHei"/>
                <a:ea typeface="Microsoft YaHei"/>
              </a:rPr>
              <a:t>B 端与家庭价值</a:t>
            </a:r>
          </a:p>
        </p:txBody>
      </p:sp>
      <p:sp>
        <p:nvSpPr>
          <p:cNvPr id="35" name="Oval 34"/>
          <p:cNvSpPr/>
          <p:nvPr/>
        </p:nvSpPr>
        <p:spPr>
          <a:xfrm>
            <a:off x="9162288" y="2350008"/>
            <a:ext cx="91440" cy="91440"/>
          </a:xfrm>
          <a:prstGeom prst="ellipse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3456" y="2249424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千企千面橱窗，大客户上线降本</a:t>
            </a:r>
          </a:p>
        </p:txBody>
      </p:sp>
      <p:sp>
        <p:nvSpPr>
          <p:cNvPr id="37" name="Oval 36"/>
          <p:cNvSpPr/>
          <p:nvPr/>
        </p:nvSpPr>
        <p:spPr>
          <a:xfrm>
            <a:off x="9162288" y="3191256"/>
            <a:ext cx="91440" cy="91440"/>
          </a:xfrm>
          <a:prstGeom prst="ellipse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3090672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HR 异常指标看板，健康干预决策</a:t>
            </a:r>
          </a:p>
        </p:txBody>
      </p:sp>
      <p:sp>
        <p:nvSpPr>
          <p:cNvPr id="39" name="Oval 38"/>
          <p:cNvSpPr/>
          <p:nvPr/>
        </p:nvSpPr>
        <p:spPr>
          <a:xfrm>
            <a:off x="9162288" y="4032504"/>
            <a:ext cx="91440" cy="91440"/>
          </a:xfrm>
          <a:prstGeom prst="ellipse">
            <a:avLst/>
          </a:prstGeom>
          <a:solidFill>
            <a:srgbClr val="6D5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000" b="0" i="0">
                <a:solidFill>
                  <a:srgbClr val="24324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3931920"/>
            <a:ext cx="2148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24324E"/>
                </a:solidFill>
                <a:latin typeface="Microsoft YaHei"/>
                <a:ea typeface="Microsoft YaHei"/>
              </a:rPr>
              <a:t>家属积分共济 + 家庭报告共聚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" y="5257800"/>
            <a:ext cx="9628632" cy="777240"/>
          </a:xfrm>
          <a:prstGeom prst="roundRect">
            <a:avLst>
              <a:gd name="adj" fmla="val 16000"/>
            </a:avLst>
          </a:prstGeom>
          <a:solidFill>
            <a:srgbClr val="E1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</a:pPr>
            <a:r>
              <a:rPr sz="1300" b="1" i="0">
                <a:solidFill>
                  <a:srgbClr val="0A5C64"/>
                </a:solidFill>
                <a:latin typeface="Microsoft YaHei"/>
                <a:ea typeface="Microsoft YaHei"/>
              </a:rPr>
              <a:t>以「权益」为中心 · 以「主订单 1:1 持有人」为基石 · 以「回调驱动 + 镜像对账」保一致</a:t>
            </a:r>
          </a:p>
          <a:p>
            <a:pPr algn="ctr">
              <a:lnSpc>
                <a:spcPct val="98000"/>
              </a:lnSpc>
            </a:pPr>
            <a:r>
              <a:rPr sz="1300" b="1" i="0">
                <a:solidFill>
                  <a:srgbClr val="0A5C64"/>
                </a:solidFill>
                <a:latin typeface="Microsoft YaHei"/>
                <a:ea typeface="Microsoft YaHei"/>
              </a:rPr>
              <a:t>支撑企业健康福利的规模化、可审计、可追溯履约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73952"/>
            <a:ext cx="77724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lnSpc>
                <a:spcPct val="98000"/>
              </a:lnSpc>
            </a:pPr>
            <a:r>
              <a:rPr sz="900" b="0" i="0">
                <a:solidFill>
                  <a:srgbClr val="6B778C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体检平台架构决策与核心流程</dc:title>
  <dc:subject/>
  <dc:creator>HMSC 架构组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