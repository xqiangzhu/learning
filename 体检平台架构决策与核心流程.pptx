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" name="Oval 3"/>
          <p:cNvSpPr/>
          <p:nvPr/>
        </p:nvSpPr>
        <p:spPr>
          <a:xfrm>
            <a:off x="-1188720" y="4754880"/>
            <a:ext cx="3474720" cy="3474720"/>
          </a:xfrm>
          <a:prstGeom prst="ellipse">
            <a:avLst/>
          </a:prstGeom>
          <a:solidFill>
            <a:srgbClr val="24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48640"/>
            <a:ext cx="73152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8FB4E3"/>
                </a:solidFill>
                <a:latin typeface="Microsoft YaHei"/>
                <a:ea typeface="Microsoft YaHei"/>
              </a:rPr>
              <a:t>HMSC · 企业健康体检平台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972800" cy="9601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 i="0">
                <a:solidFill>
                  <a:srgbClr val="FFFFFF"/>
                </a:solidFill>
                <a:latin typeface="Microsoft YaHei"/>
                <a:ea typeface="Microsoft YaHei"/>
              </a:rPr>
              <a:t>体检平台架构决策与核心流程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606040"/>
            <a:ext cx="109728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500" b="0" i="0">
                <a:solidFill>
                  <a:srgbClr val="9FC3E8"/>
                </a:solidFill>
                <a:latin typeface="Microsoft YaHei"/>
                <a:ea typeface="Microsoft YaHei"/>
              </a:rPr>
              <a:t>统一语言词表 × 11 项关键机制决策 × 端到端流程全景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46120"/>
            <a:ext cx="4937760" cy="0"/>
          </a:xfrm>
          <a:prstGeom prst="line">
            <a:avLst/>
          </a:prstGeom>
          <a:ln w="31750">
            <a:solidFill>
              <a:srgbClr val="0E7C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商城 / 卡券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74520" y="4992624"/>
            <a:ext cx="182880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075688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权益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64408" y="4992624"/>
            <a:ext cx="182880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65576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下单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4992624"/>
            <a:ext cx="182880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55464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支付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44184" y="4992624"/>
            <a:ext cx="182880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45352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预约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34071" y="4992624"/>
            <a:ext cx="182881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635240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到检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23959" y="4992624"/>
            <a:ext cx="182881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025128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报告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213847" y="4992624"/>
            <a:ext cx="182881" cy="0"/>
          </a:xfrm>
          <a:prstGeom prst="line">
            <a:avLst/>
          </a:prstGeom>
          <a:ln w="17780">
            <a:solidFill>
              <a:srgbClr val="5F7FA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415015" y="4709160"/>
            <a:ext cx="1170432" cy="566928"/>
          </a:xfrm>
          <a:prstGeom prst="roundRect">
            <a:avLst>
              <a:gd name="adj" fmla="val 24000"/>
            </a:avLst>
          </a:prstGeom>
          <a:noFill/>
          <a:ln w="12700">
            <a:solidFill>
              <a:srgbClr val="5F7F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CFE0F5"/>
                </a:solidFill>
                <a:latin typeface="Microsoft YaHei"/>
                <a:ea typeface="Microsoft YaHei"/>
              </a:rPr>
              <a:t>增值解读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6172200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7C93B8"/>
                </a:solidFill>
                <a:latin typeface="Microsoft YaHei"/>
                <a:ea typeface="Microsoft YaHei"/>
              </a:rPr>
              <a:t>需求评审版 ·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建立统一语言 · 体检业务核心域名词表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Ubiquitous Language · 59 Terms in 7 Groups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48622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99013" y="475488"/>
            <a:ext cx="66751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59 词条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94541" y="475488"/>
            <a:ext cx="4914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7 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体检业务核心域：负责体检权益与预约履约全生命周期管理 —— 权益发放与购买 → 分院预约排期 → 到检核销 → 报告交付 → 健康解读增值服务。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1284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12848"/>
            <a:ext cx="2660904" cy="6400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33172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权益与交易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642615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Entitlements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871215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F6DB3"/>
                </a:solidFill>
                <a:latin typeface="Microsoft YaHei"/>
                <a:ea typeface="Microsoft YaHei"/>
              </a:rPr>
              <a:t>6 词条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12724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Order · SubOrder · Holder · Refund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28416" y="221284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3328416" y="2212848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33172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机构、门店与履约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864" y="2642615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Supplier, Store &amp; Fulfillment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2871215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</a:rPr>
              <a:t>15 词条 · 2 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864" y="312724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Appointment · Same-Store Reschedule · Bundled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221284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6153912" y="2212848"/>
            <a:ext cx="2660904" cy="6400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33172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报告与解读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642615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Reporting &amp; VAS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871215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D9722C"/>
                </a:solidFill>
                <a:latin typeface="Microsoft YaHei"/>
                <a:ea typeface="Microsoft YaHei"/>
              </a:rPr>
              <a:t>13 词条 · 2 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12724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Report · LLM-OCR · AI / 医生解读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79408" y="221284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8979408" y="2212848"/>
            <a:ext cx="2660904" cy="640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233172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购物车与合并结算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2642615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Cart &amp; Checkout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856" y="2871215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E8B57"/>
                </a:solidFill>
                <a:latin typeface="Microsoft YaHei"/>
                <a:ea typeface="Microsoft YaHei"/>
              </a:rPr>
              <a:t>3 词条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856" y="312724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Combination Order · Capacity Hold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76732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767328"/>
            <a:ext cx="2660904" cy="6400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388620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积分与福利结算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197096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Points &amp; Welfare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4425696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B8860B"/>
                </a:solidFill>
                <a:latin typeface="Microsoft YaHei"/>
                <a:ea typeface="Microsoft YaHei"/>
              </a:rPr>
              <a:t>8 词条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68172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Point Parity · Shadow Ledger · Callback Refund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328416" y="376732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3328416" y="3767328"/>
            <a:ext cx="2660904" cy="6400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388620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套餐与项目模型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3864" y="4197096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Packages &amp; Items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83864" y="4425696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6D599C"/>
                </a:solidFill>
                <a:latin typeface="Microsoft YaHei"/>
                <a:ea typeface="Microsoft YaHei"/>
              </a:rPr>
              <a:t>9 词条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83864" y="468172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Single-Core Invariant · Demographic Guard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53912" y="376732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6153912" y="3767328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3886200"/>
            <a:ext cx="242316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健康商城与卡券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4197096"/>
            <a:ext cx="242316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Shop &amp; Vouchers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425696"/>
            <a:ext cx="24231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0E7C86"/>
                </a:solidFill>
                <a:latin typeface="Microsoft YaHei"/>
                <a:ea typeface="Microsoft YaHei"/>
              </a:rPr>
              <a:t>5 词条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4681728"/>
            <a:ext cx="2395728" cy="402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Card Voucher Redemption · Non-Refundable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79408" y="3767328"/>
            <a:ext cx="2660904" cy="137160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25712" y="3886200"/>
            <a:ext cx="24231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C0453E"/>
                </a:solidFill>
                <a:latin typeface="Microsoft YaHei"/>
                <a:ea typeface="Microsoft YaHei"/>
              </a:rPr>
              <a:t>✗ Avoid = 沟通禁用叫法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4856" y="4206240"/>
            <a:ext cx="2395728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4A556C"/>
                </a:solidFill>
                <a:latin typeface="Microsoft YaHei"/>
                <a:ea typeface="Microsoft YaHei"/>
              </a:rPr>
              <a:t>每词条 = 标准定义 + 避免叫法。防止「预约单≠订单」「退款≠取消预约」等混用歧义，评审与编码统一引用本词表。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440680"/>
            <a:ext cx="1115568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6B778C"/>
                </a:solidFill>
                <a:latin typeface="Microsoft YaHei"/>
                <a:ea typeface="Microsoft YaHei"/>
              </a:rPr>
              <a:t>配套阅读：P13 – P23 · 11 项架构决策流程图详解（词条与决策机制一一呼应）</a:t>
            </a:r>
          </a:p>
        </p:txBody>
      </p:sp>
      <p:sp>
        <p:nvSpPr>
          <p:cNvPr id="57" name="Chevron 56"/>
          <p:cNvSpPr/>
          <p:nvPr/>
        </p:nvSpPr>
        <p:spPr>
          <a:xfrm>
            <a:off x="548640" y="5897880"/>
            <a:ext cx="1444752" cy="457200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权益</a:t>
            </a:r>
          </a:p>
        </p:txBody>
      </p:sp>
      <p:sp>
        <p:nvSpPr>
          <p:cNvPr id="58" name="Chevron 57"/>
          <p:cNvSpPr/>
          <p:nvPr/>
        </p:nvSpPr>
        <p:spPr>
          <a:xfrm>
            <a:off x="1929384" y="5897880"/>
            <a:ext cx="1444752" cy="457200"/>
          </a:xfrm>
          <a:prstGeom prst="chevron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选购</a:t>
            </a:r>
          </a:p>
        </p:txBody>
      </p:sp>
      <p:sp>
        <p:nvSpPr>
          <p:cNvPr id="59" name="Chevron 58"/>
          <p:cNvSpPr/>
          <p:nvPr/>
        </p:nvSpPr>
        <p:spPr>
          <a:xfrm>
            <a:off x="3310128" y="5897880"/>
            <a:ext cx="1444752" cy="4572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建单</a:t>
            </a:r>
          </a:p>
        </p:txBody>
      </p:sp>
      <p:sp>
        <p:nvSpPr>
          <p:cNvPr id="60" name="Chevron 59"/>
          <p:cNvSpPr/>
          <p:nvPr/>
        </p:nvSpPr>
        <p:spPr>
          <a:xfrm>
            <a:off x="4690872" y="5897880"/>
            <a:ext cx="1444752" cy="457200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支付</a:t>
            </a:r>
          </a:p>
        </p:txBody>
      </p:sp>
      <p:sp>
        <p:nvSpPr>
          <p:cNvPr id="61" name="Chevron 60"/>
          <p:cNvSpPr/>
          <p:nvPr/>
        </p:nvSpPr>
        <p:spPr>
          <a:xfrm>
            <a:off x="6071616" y="5897880"/>
            <a:ext cx="1444752" cy="4572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预约</a:t>
            </a:r>
          </a:p>
        </p:txBody>
      </p:sp>
      <p:sp>
        <p:nvSpPr>
          <p:cNvPr id="62" name="Chevron 61"/>
          <p:cNvSpPr/>
          <p:nvPr/>
        </p:nvSpPr>
        <p:spPr>
          <a:xfrm>
            <a:off x="7452360" y="5897880"/>
            <a:ext cx="1444752" cy="4572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到检</a:t>
            </a:r>
          </a:p>
        </p:txBody>
      </p:sp>
      <p:sp>
        <p:nvSpPr>
          <p:cNvPr id="63" name="Chevron 62"/>
          <p:cNvSpPr/>
          <p:nvPr/>
        </p:nvSpPr>
        <p:spPr>
          <a:xfrm>
            <a:off x="8833104" y="5897880"/>
            <a:ext cx="1444752" cy="457200"/>
          </a:xfrm>
          <a:prstGeom prst="chevron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报告</a:t>
            </a:r>
          </a:p>
        </p:txBody>
      </p:sp>
      <p:sp>
        <p:nvSpPr>
          <p:cNvPr id="64" name="Chevron 63"/>
          <p:cNvSpPr/>
          <p:nvPr/>
        </p:nvSpPr>
        <p:spPr>
          <a:xfrm>
            <a:off x="10213848" y="5897880"/>
            <a:ext cx="1444752" cy="457200"/>
          </a:xfrm>
          <a:prstGeom prst="chevron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解读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权益与交易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Entitlements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6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界定体检资格与资金交易的凭据体系：一笔主订单严格对应一位持有人，子订单承载费用归属与套餐性质。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主订单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Order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体检资格与支付结算的交易凭据：支付成功即持有待预约权益；取消预约后权益恢复可再约；到检/出报告后闭环。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预约单、挂号单、采购单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212848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子订单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SubOrder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主订单项下具体项目包实例，区分费用归属（统付/自费）与套餐性质（主套餐、加项、升级），随主单统一履约。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主订单、项目明细、订单项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212848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加项包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Add-on Package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主套餐外额外叠加的单项/组合项目，通常员工自选自费或积分兑换，履约时随主套餐打包提交分院。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升级包、附加服务、附加险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13631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升级包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Upgrade Package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将原有主套餐整体置换升舱为更高规格套餐的差价凭据。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加项包、换购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913631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持有人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Holder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实际享有并执行体检资格的自然人；业务严格约束一笔主订单仅对应一位持有人。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购买人、下单人、客户、用户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913631"/>
            <a:ext cx="68580" cy="157276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退款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Refund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已支付主订单款项原路返还：可取消预约后独立发起，也可直接申请并由系统级联取消关联预约单。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取消预约、换单、废单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机构、门店与预约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Supplier, Store &amp; Appointment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6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区分供应商两类接入形态（API 直连 / 公立人工确认）与门店实体；预约单是依附主订单存在的履约凭据。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线上直连供应商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Online Supplier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美年、爱康、瑞慈、中科、嘉会等具备 API 直连的民营连锁；预约时实时排期锁单，直接预约成功。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线下供应商、合作商、第三方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线下医院供应商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Offline Supplier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公立医院体检中心，每家为独立 Supplier；无实时排期接口，走「申请成功→确认预约」人工确认链路。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线上供应商、虚拟机构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体检分院 / 门店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Store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供应商在具体地理位置设立的实体网点，具备地址、营业时间、停业状态与适用套餐包清单。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供应商、机构、医院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13631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套餐门店交集匹配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Intersection Matching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可履约门店必须严格满足主套餐 + 全部自选加项包的设备与服务能力交集；支持先选套餐或先选门店双向流程。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自由搭配、任意门店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913631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停业展示策略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Suspension Visibility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企业项目维度配置停业分院的展示规则：完全过滤隐藏，或保留展示但置灰提示暂停服务不可约。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门店下架、物理删除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913631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预约单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Appointment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持有人锁定供应商、分院与就检日期的履约凭据，依附主订单，包含主套餐与所有加项包。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订单、排期、挂号单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履约规则与边界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Fulfillment Rules &amp;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E8B57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E8B57"/>
                </a:solidFill>
                <a:latin typeface="Microsoft YaHei"/>
                <a:ea typeface="Microsoft YaHei"/>
              </a:rPr>
              <a:t>9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约定改期、取消、屏蔽日、特批与超期释放等履约边界：同店改期、当日禁退可改、主+加项合并原子交付。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21408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原分院同店改期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Same-Store Reschedule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仅在原预约分院范围内变更日期/时段；原单编号不变、不建新单、不影响主订单，禁止跨店。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重新预约、换店改期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121408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取消预约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Cancel Appointment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释放机构已锁定档期，主订单恢复可再次预约；体检日当天默认禁止用户主动取消。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退单、退款、废单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121408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项目屏蔽日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Blackout Dates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MIS 在企业项目维度配置的排期阻断日（长假、封网日），员工端命中日期统一屏蔽不可选。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机构停业、排期约满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1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排期时间段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Schedule Period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同一就检日内的预约时间窗（如 08:00-09:00）；项目开关控制，未启用降级为全天。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预约轮次、挂号时段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364991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特批协调排期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Coordination Mode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日期标记「需协调」时触发客服特批：生成「申请成功」预约单，线下人工对接医院加号加配额。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线上直连锁单、自动驳回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364991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当日不对称改退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Asymmetric Day-of Policy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体检当天禁止主动取消（保机构医疗备料），但允许原分院内改期至后续可用日期。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全面锁单、任意退约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08575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超期未到检自动释放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Overdue Cancellation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No-show 超体检日由定时任务自动取消预约单、释放占容，主订单恢复「待预约」。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权益作废、永久占用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3296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4273296" y="4608575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合并原子履约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Bundled Fulfillment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主套餐 + 全部加项包不可分割整体交付（线上单一外部单挂子项 / 线下单条 Excel），单店单次完成。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拆分预约、跨院分拆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3672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043672" y="4608575"/>
            <a:ext cx="68580" cy="111556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9120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权益到期拦截门禁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Equity Expiry Guard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权益过期后现存预约单虽可取消，但无法再次选店发起新预约，锁死企业福利预算敞口。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宽限期补约、过期换店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报告同步与档案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Reporting &amp; Health Record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D9722C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D9722C"/>
                </a:solidFill>
                <a:latin typeface="Microsoft YaHei"/>
                <a:ea typeface="Microsoft YaHei"/>
              </a:rPr>
              <a:t>6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到检与报告的回传归档机制：双轨状态同步、大模型 OCR 统一结构化、外院报告隔离与家庭共查。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体检报告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Report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体检中心到检后出具的总检成果数据与原件文件，标志体检履约链路的终态闭环。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解读结果、结论单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212848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异常指标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Abnormal Findings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报告中超出参考值区间或专科医生提示阳性体征的具体指标项。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疾病、确诊、异常报告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212848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双轨到检报告同步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Dual-Track Ingestion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线上民营定时轮询拉取到检+PDF（原生 JSON 已弃用）；线下公立由 MIS 导入名单或核销上传。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全自动回调、纯手工维护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13631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大模型OCR结构化解析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LLM-OCR Ingestion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全域原版 PDF 统一经大模型 OCR 抽取检测值与异常指标，映射标准字典后归档健康档案 HMES。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人工录入、机构私有 JSON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913631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自主外院报告隔离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Past Report Isolation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用户自传外院历史报告仅个人端可查，不推送健康档案、不参与正式历年趋势比对。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混合档案、污染主档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913631"/>
            <a:ext cx="68580" cy="157276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家庭报告共用查看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Family Report Aggregation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员工账号可直接查阅本人及出资家属的体检报告，界面切换持有人，不设跨账号强制授权。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强制账号隔离、家属独立鉴权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解读增值服务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Interpretation Value-Added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7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分层解读服务：免费普惠 AI 即时解读与异步三方医生解读并行；C24/C59 随权益导入而非商城零售。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报告解读增值服务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Report Interpretation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系统配置启用的三方机构增值解读：报告推送专业机构深度分析，异步回传结论供用户查阅。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AI问答、医生问诊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AI智能解读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AI Interpretation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基于结构化指标由算法/大模型即时输出成因与生活建议，与人工咨询独立平行、互不干扰。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医生咨询、人工解读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医生咨询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Doctor Consultation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用户就健康问题或指标向专业医生发起一对一图文/电话问诊，独立于 AI 解读存在。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报告解读、AI客服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异步三方医生解读流水线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Async Physician Pipeline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工单制：报告+病史异步推送三方专科医生，限时核阅后结构化结论回调回写，挂载权益与报告项下。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实时通讯、电话直拨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权益子产品导入赋权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Benefit-Imported Sub-Product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C24/C59 不在商城销售：随企业权益包作为子产品导入，出报告后核验权益开放解读入口。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商城零售单买、事后加购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项目级普惠AI解读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Universal AI Interpretation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项目开关开启后，所有出报告员工均可即时、免费查阅指标成因与调理建议。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付费AI、专享AI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08575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B端异常指标监控看板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B2B Dashboard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面向企业 HR 的团队异常指标分布与健康监控看板，脱敏合规，服务雇主健康干预决策。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个人短信报警、粗暴推弹窗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购物车与合并结算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Cart &amp; Aggregate Checkout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E8B57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E8B57"/>
                </a:solidFill>
                <a:latin typeface="Microsoft YaHei"/>
                <a:ea typeface="Microsoft YaHei"/>
              </a:rPr>
              <a:t>3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购物车到收银台的瞬态结算链路：合单不占容、支付即解体、超时自动释放占容回退购物车。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87168"/>
            <a:ext cx="364236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87168"/>
            <a:ext cx="68580" cy="1874519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487168"/>
            <a:ext cx="3368040" cy="1874519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购物车项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Cart Item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单个持有人意向体检的草稿容器：承载 1 位持有人 + 主套餐 + 加项包 + 意向门店日期；不占名额，超时回退，支付回调后物理清理。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购物车商品、预订单、挂单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487168"/>
            <a:ext cx="364236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487168"/>
            <a:ext cx="68580" cy="1874519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487168"/>
            <a:ext cx="3368040" cy="1874519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组合订单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Combination Order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多购物车项合并结算的瞬态聚合凭据：仅用于收银台合并扣减积分与调起支付网关；支付成功即解体为各自独立主订单，不承载售后。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合并订单、大订单、批量订单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487168"/>
            <a:ext cx="364236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487168"/>
            <a:ext cx="68580" cy="1874519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487168"/>
            <a:ext cx="3368040" cy="1874519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排期临时占容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Capacity Hold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下单时对意向分院时段的临时占座：15 分钟未支付由定时任务自动取消并释放；支付成功回调后正式扣减确立。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锁库存、排期占座、预约挂号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积分与福利结算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Points &amp; Welfare Settlement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B8860B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B8860B"/>
                </a:solidFill>
                <a:latin typeface="Microsoft YaHei"/>
                <a:ea typeface="Microsoft YaHei"/>
              </a:rPr>
              <a:t>8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1:1 等值抵扣与两阶段结算：先升舱后加项、子订单分摊落标、双账本镜像防超扣与回调驱动退积分。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21408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积分等值比例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Point Parity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积分与法定货币严格 1:1 等值（1 积分=1 元），忽略动态汇率配置，支持 100% 全额抵扣。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动态积分比例、浮动汇率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121408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积分抵扣优先级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Point Deduction Priority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混合结算的法定扣减顺序：先主套餐升级/加价，后自选加项包。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加项优先、随机抵扣、均摊抵扣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121408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积分子订单分摊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SubOrder Allocation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整单积分与现金按优先级精确写入对应子订单记账，支付结构透明可溯。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主单汇总记账、模糊分摊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1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权益附随积分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Benefit-bound Points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额度与生命周期完全依附体检权益起止日期；总账由下游积分平台托管，HMSC 不设独立钱包。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平台代币、独立钱包、永久积分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364991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回调驱动退积分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Callback-driven Refund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资金退款异步成功回调驱动退还积分；下游失败回滚重试，超限流转人工介入。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同步退积分、资金前置返还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364991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两阶段冻结转实扣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Two-phase Settlement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正向「下单预冻结→支付回调实扣」；逆向「取消待付原路解冻→退款回调解冻」。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直接扣减、立即核销、单步扣款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08575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双边镜像账本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Shadow Ledger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外部平台冻结的同时在核心本地并发记录镜像预冻结流水：防超扣、双边留痕、端到端对账。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本地独立钱包、单边记账、虚账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3296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4273296" y="4608575"/>
            <a:ext cx="68580" cy="111556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明细级SKU穿透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SKU-level Mapping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向外部平台提交扣减时将子订单精细映射为商品行项目（sku/数量/单价），拒绝订单级总额粗扣。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订单级总额抵扣、粗粒度扣减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套餐与项目模型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Packages, Items &amp; Customization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9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套餐层级与医学规约：主干单选互斥、差额升舱、适检门禁、标准医学字典与家属积分共济。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主干套餐单选互斥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Single-Core Invariant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标准主套餐(00)/升级套餐(02)/加价套餐(03)必须且只能选其一作为履约基础。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多选主套餐、仅选加项包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升级换购补差价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Upgrade Price Difference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升级套餐按「升级售价 − 统付基准价」差额算价；差价支持自费或积分 1:1 全额抵扣。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升级全额自费、独立双套餐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121408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121408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121408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加价套餐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Price-markup Package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原套餐项目不变、因分院溢价产生的附加价套餐(03)：编码与主套餐一致，补付 extraPrice。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升级套餐、加项包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加项包互斥与限额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Exclusivity &amp; Budget Cap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自选加项包(01)叠加约束：同类冲突项目医学互斥禁兼选，受企业金额/额度上限严格管控。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无限加选、冲突混选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适检人口属性门禁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Demographic Guard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基于持有人性别与婚姻状态做前端展示过滤与下单硬拦截，杜绝禁忌项目开单。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通用体检包、人群免检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3672" y="3364991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043672" y="3364991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9120" y="3364991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受益人范围划分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Beneficiary Scope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员工专属产品包(P) 与家属产品包(G) 分区，对应不同统付额度、自费补贴与可约分院清单。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统一大包、混龄包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08575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平台标准医学字典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Standard Medical Taxonomy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平台统一维护科目与临床项目字典：各供应商异构项目入库统一映射对齐，保证跨机构可比。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供应商私有字典、随意录入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3296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4273296" y="4608575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8744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家属积分共济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Family Points Sharing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家属包企业不统付：员工全额自费或纯积分购买，可直扣员工本人福利积分账户。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企业统付家属、独立家属积分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3672" y="4608575"/>
            <a:ext cx="3642360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8043672" y="4608575"/>
            <a:ext cx="68580" cy="111556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9120" y="4608575"/>
            <a:ext cx="3368040" cy="11155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问卷推荐自动勾选  </a:t>
            </a: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Auto-Recommendation</a:t>
            </a:r>
          </a:p>
          <a:p>
            <a:pPr algn="l">
              <a:lnSpc>
                <a:spcPct val="98000"/>
              </a:lnSpc>
            </a:pPr>
            <a:r>
              <a:rPr sz="800" b="0" i="0">
                <a:solidFill>
                  <a:srgbClr val="333E52"/>
                </a:solidFill>
                <a:latin typeface="Microsoft YaHei"/>
                <a:ea typeface="Microsoft YaHei"/>
              </a:rPr>
              <a:t>基于生活习惯与家族病史问卷计算健康风险，推荐套餐与加项包并默认自动勾选。</a:t>
            </a:r>
          </a:p>
          <a:p>
            <a:pPr algn="l">
              <a:lnSpc>
                <a:spcPct val="98000"/>
              </a:lnSpc>
            </a:pPr>
            <a:r>
              <a:rPr sz="7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750" b="0" i="0">
                <a:solidFill>
                  <a:srgbClr val="C0453E"/>
                </a:solidFill>
                <a:latin typeface="Microsoft YaHei"/>
                <a:ea typeface="Microsoft YaHei"/>
              </a:rPr>
              <a:t>纯文本建议、盲目自选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词9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健康商城与卡券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Health Shop &amp; Vouchers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27563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统一语言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7955" y="475488"/>
            <a:ext cx="6080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5 词条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多租户商城与卡券风控：项目级自定义分类、卡密兑换生成核心权益、兑换后锁死不可退款。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项目自定义分类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Project Custom Categorization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按企业项目维度配置商品分类，双轨标签区分「优惠套餐购买/健康商城分类」，前端动态过滤，千企千面橱窗隔离。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平台硬编码分类、大一统类目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3296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273296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744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卡券卡密兑换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Card Voucher Redemption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商城卡券在企业体检端经 checkGardPassword 核验，在下游核心域生成正式权益（Benefit）后进入标准履约流程。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跨域直生待预约单、绕过核心权益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3672" y="2212848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43672" y="2212848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9120" y="2212848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优惠套餐即时转单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Discount Package Order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自费优惠套餐支付成功直接生成待预约主订单（支持积分 1:1 抵扣），免卡券兑换环节，可立即选分院排期。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优惠卡密、延迟入账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13631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卡密核销锁死边界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Non-Refundable Boundary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未兑换期关闭前台自助退款，须客服 MIS 审核原路退；一旦兑换生成核心权益即永久锁死不可退。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自助秒退卡密、兑换后退卡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3296" y="3913631"/>
            <a:ext cx="364236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143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4273296" y="3913631"/>
            <a:ext cx="68580" cy="157276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744" y="3913631"/>
            <a:ext cx="3368040" cy="15727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实物商品退款级序  </a:t>
            </a: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Physical Goods Refund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333E52"/>
                </a:solidFill>
                <a:latin typeface="Microsoft YaHei"/>
                <a:ea typeface="Microsoft YaHei"/>
              </a:rPr>
              <a:t>未发货可自主即时退款；发货后须退货退款闭环（寄回验收）；混合退款由资金回调驱动释放积分。</a:t>
            </a:r>
          </a:p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C0453E"/>
                </a:solidFill>
                <a:latin typeface="Microsoft YaHei"/>
                <a:ea typeface="Microsoft YaHei"/>
              </a:rPr>
              <a:t>避免叫法：</a:t>
            </a:r>
            <a:r>
              <a:rPr sz="850" b="0" i="0">
                <a:solidFill>
                  <a:srgbClr val="C0453E"/>
                </a:solidFill>
                <a:latin typeface="Microsoft YaHei"/>
                <a:ea typeface="Microsoft YaHei"/>
              </a:rPr>
              <a:t>发货后直接退款、同步退积分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100584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词条格式：标准定义 ＋ 避免叫法 —— 评审、需求、代码命名与外部供应商沟通统一使用标准名词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11 项决策全景导航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22960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ADR Map · 每张卡片对应一张流程图详解页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417320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545336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0E7C8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1563624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单一持有人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84248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下单拆单 → 1 人 1 单 → 独立闭环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1417320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328416" y="1417320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1545336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0E7C8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86784" y="1563624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双轨取消退款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1984248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先取消后退款 ／ 退款级联取消预约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417320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1417320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1545336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0E7C86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563624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排期与改期边界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8504" y="1984248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同店改期 · 当天禁退可改 · 超期释放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9408" y="1417320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979408" y="1417320"/>
            <a:ext cx="266090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712" y="1545336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0E7C86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563624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合并履约与权益门禁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1984248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主套餐+加项原子交付 · 到期拦截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944368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944368"/>
            <a:ext cx="2660904" cy="6400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" y="3072384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2F6DB3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3090672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组合订单瞬态包装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3511296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合单收银 → 支付后解体为主订单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28416" y="2944368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3328416" y="2944368"/>
            <a:ext cx="2660904" cy="6400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3072384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2F6DB3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6784" y="3090672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积分抵扣分摊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3511296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1:1 等值 → 先升舱后加项 → 落子单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53912" y="2944368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6153912" y="2944368"/>
            <a:ext cx="2660904" cy="6400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3072384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2F6DB3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3090672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回调驱动退积分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3511296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资金退款回调 → 释放下游积分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79408" y="2944368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8979408" y="2944368"/>
            <a:ext cx="2660904" cy="64008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5712" y="3072384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2F6DB3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37776" y="3090672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双账本镜像对账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3511296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并发双冻结 → SKU 穿透 → 双释放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471416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471416"/>
            <a:ext cx="2660904" cy="6400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" y="4599431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6D599C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61288" y="4617720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套餐层级与智能推荐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" y="5038344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单选互斥 · 差额升舱 · 问卷推荐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28416" y="4471416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3328416" y="4471416"/>
            <a:ext cx="2660904" cy="64008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74720" y="4599431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6D599C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86784" y="4617720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商城分类与卡券兑换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93008" y="5038344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千企千面橱窗 · 卡密生成权益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53912" y="4471416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6153912" y="4471416"/>
            <a:ext cx="2660904" cy="64008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0216" y="4599431"/>
            <a:ext cx="566928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400" b="1" i="0">
                <a:solidFill>
                  <a:srgbClr val="D9722C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12280" y="4617720"/>
            <a:ext cx="1883664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24324E"/>
                </a:solidFill>
                <a:latin typeface="Microsoft YaHei"/>
                <a:ea typeface="Microsoft YaHei"/>
              </a:rPr>
              <a:t>报告解读增值流水线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18504" y="5038344"/>
            <a:ext cx="2368296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LLM OCR → AI / 医生双轨解读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79408" y="4471416"/>
            <a:ext cx="2660904" cy="138988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25712" y="4581144"/>
            <a:ext cx="21945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24324E"/>
                </a:solidFill>
                <a:latin typeface="Microsoft YaHei"/>
                <a:ea typeface="Microsoft YaHei"/>
              </a:rPr>
              <a:t>流程图图例</a:t>
            </a:r>
          </a:p>
        </p:txBody>
      </p:sp>
      <p:sp>
        <p:nvSpPr>
          <p:cNvPr id="62" name="Oval 61"/>
          <p:cNvSpPr/>
          <p:nvPr/>
        </p:nvSpPr>
        <p:spPr>
          <a:xfrm>
            <a:off x="9162288" y="4937759"/>
            <a:ext cx="164592" cy="164592"/>
          </a:xfrm>
          <a:prstGeom prst="ellipse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00032" y="4892040"/>
            <a:ext cx="21945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圆角框 = 动作 / 系统处理</a:t>
            </a:r>
          </a:p>
        </p:txBody>
      </p:sp>
      <p:sp>
        <p:nvSpPr>
          <p:cNvPr id="64" name="Oval 63"/>
          <p:cNvSpPr/>
          <p:nvPr/>
        </p:nvSpPr>
        <p:spPr>
          <a:xfrm>
            <a:off x="9162288" y="5184647"/>
            <a:ext cx="164592" cy="164592"/>
          </a:xfrm>
          <a:prstGeom prst="ellipse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00032" y="5138927"/>
            <a:ext cx="21945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菱形 = 判断分支</a:t>
            </a:r>
          </a:p>
        </p:txBody>
      </p:sp>
      <p:sp>
        <p:nvSpPr>
          <p:cNvPr id="66" name="Oval 65"/>
          <p:cNvSpPr/>
          <p:nvPr/>
        </p:nvSpPr>
        <p:spPr>
          <a:xfrm>
            <a:off x="9162288" y="5431535"/>
            <a:ext cx="164592" cy="164592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00032" y="5385815"/>
            <a:ext cx="21945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绿色 = 结果闭环</a:t>
            </a:r>
          </a:p>
        </p:txBody>
      </p:sp>
      <p:sp>
        <p:nvSpPr>
          <p:cNvPr id="68" name="Oval 67"/>
          <p:cNvSpPr/>
          <p:nvPr/>
        </p:nvSpPr>
        <p:spPr>
          <a:xfrm>
            <a:off x="9162288" y="5678423"/>
            <a:ext cx="164592" cy="164592"/>
          </a:xfrm>
          <a:prstGeom prst="ellipse">
            <a:avLst/>
          </a:prstGeom>
          <a:solidFill>
            <a:srgbClr val="C045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00032" y="5632703"/>
            <a:ext cx="21945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红色 = 拦截 / 风险</a:t>
            </a:r>
          </a:p>
        </p:txBody>
      </p:sp>
      <p:sp>
        <p:nvSpPr>
          <p:cNvPr id="70" name="Chevron 69"/>
          <p:cNvSpPr/>
          <p:nvPr/>
        </p:nvSpPr>
        <p:spPr>
          <a:xfrm>
            <a:off x="548640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权益获取</a:t>
            </a:r>
          </a:p>
        </p:txBody>
      </p:sp>
      <p:sp>
        <p:nvSpPr>
          <p:cNvPr id="71" name="Chevron 70"/>
          <p:cNvSpPr/>
          <p:nvPr/>
        </p:nvSpPr>
        <p:spPr>
          <a:xfrm>
            <a:off x="1929384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选购</a:t>
            </a:r>
          </a:p>
        </p:txBody>
      </p:sp>
      <p:sp>
        <p:nvSpPr>
          <p:cNvPr id="72" name="Chevron 71"/>
          <p:cNvSpPr/>
          <p:nvPr/>
        </p:nvSpPr>
        <p:spPr>
          <a:xfrm>
            <a:off x="3310128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建单</a:t>
            </a:r>
          </a:p>
        </p:txBody>
      </p:sp>
      <p:sp>
        <p:nvSpPr>
          <p:cNvPr id="73" name="Chevron 72"/>
          <p:cNvSpPr/>
          <p:nvPr/>
        </p:nvSpPr>
        <p:spPr>
          <a:xfrm>
            <a:off x="4690872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混合支付</a:t>
            </a:r>
          </a:p>
        </p:txBody>
      </p:sp>
      <p:sp>
        <p:nvSpPr>
          <p:cNvPr id="74" name="Chevron 73"/>
          <p:cNvSpPr/>
          <p:nvPr/>
        </p:nvSpPr>
        <p:spPr>
          <a:xfrm>
            <a:off x="6071616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预约履约</a:t>
            </a:r>
          </a:p>
        </p:txBody>
      </p:sp>
      <p:sp>
        <p:nvSpPr>
          <p:cNvPr id="75" name="Chevron 74"/>
          <p:cNvSpPr/>
          <p:nvPr/>
        </p:nvSpPr>
        <p:spPr>
          <a:xfrm>
            <a:off x="7452360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到检</a:t>
            </a:r>
          </a:p>
        </p:txBody>
      </p:sp>
      <p:sp>
        <p:nvSpPr>
          <p:cNvPr id="76" name="Chevron 75"/>
          <p:cNvSpPr/>
          <p:nvPr/>
        </p:nvSpPr>
        <p:spPr>
          <a:xfrm>
            <a:off x="8833104" y="6053328"/>
            <a:ext cx="1444752" cy="512064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报告</a:t>
            </a:r>
          </a:p>
        </p:txBody>
      </p:sp>
      <p:sp>
        <p:nvSpPr>
          <p:cNvPr id="77" name="Chevron 76"/>
          <p:cNvSpPr/>
          <p:nvPr/>
        </p:nvSpPr>
        <p:spPr>
          <a:xfrm>
            <a:off x="10213848" y="6053328"/>
            <a:ext cx="1444752" cy="512064"/>
          </a:xfrm>
          <a:prstGeom prst="chevron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增值解读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单笔体检订单仅绑定单一持有人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Single Holder per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29215" y="475488"/>
            <a:ext cx="6057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订单域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63022" y="475488"/>
            <a:ext cx="6057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强约束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96828" y="475488"/>
            <a:ext cx="48920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拆单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一笔主订单仅对应一个体检人；多人购买在下单时拆分为多笔独立主订单，预约、改期、取消与退款各自全生命周期独立流转。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961888"/>
            <a:ext cx="177393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早期家庭套餐：1 单多体检人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19" y="5961888"/>
            <a:ext cx="200939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部分取消/退款 → 主单状态难收敛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12129" y="5961888"/>
            <a:ext cx="206425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爱康/美年等回传无法整单原子闭环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04403" y="5961888"/>
            <a:ext cx="177164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部分退款与财务对账逻辑分裂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286000"/>
            <a:ext cx="1783080" cy="914400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购买家庭套餐</a:t>
            </a:r>
          </a:p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或多人批量购买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2286000"/>
            <a:ext cx="1965960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下单引擎自动拆单</a:t>
            </a:r>
          </a:p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1 个体检人 → 1 笔主订单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286000"/>
            <a:ext cx="2148840" cy="9144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主订单 ↔ 持有人</a:t>
            </a:r>
          </a:p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严格 1 :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2286000"/>
            <a:ext cx="1920240" cy="914400"/>
          </a:xfrm>
          <a:prstGeom prst="roundRect">
            <a:avLst>
              <a:gd name="adj" fmla="val 16000"/>
            </a:avLst>
          </a:prstGeom>
          <a:solidFill>
            <a:srgbClr val="EEEAF7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N 笔独立主订单</a:t>
            </a:r>
          </a:p>
          <a:p>
            <a:pPr algn="ctr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（各绑一张预约单）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350008" y="2743200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681728" y="2743200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196328" y="2743200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03920" y="3218688"/>
            <a:ext cx="0" cy="694944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63640" y="3950208"/>
            <a:ext cx="4526280" cy="77724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100" b="1" i="0">
                <a:solidFill>
                  <a:srgbClr val="2E8B57"/>
                </a:solidFill>
                <a:latin typeface="Microsoft YaHei"/>
                <a:ea typeface="Microsoft YaHei"/>
              </a:rPr>
              <a:t>预约 / 改期 / 取消 / 到检 / 退款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每单独立闭环 · 互不阻塞 · 状态可收敛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50208"/>
            <a:ext cx="5257800" cy="777240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C0453E"/>
                </a:solidFill>
                <a:latin typeface="Microsoft YaHei"/>
                <a:ea typeface="Microsoft YaHei"/>
              </a:rPr>
              <a:t>反例：若 1 单多持有人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部分人取消/改期 → 主单状态无法收敛，供应商回传无法整单闭环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892040"/>
            <a:ext cx="45262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6B778C"/>
                </a:solidFill>
                <a:latin typeface="Microsoft YaHei"/>
                <a:ea typeface="Microsoft YaHei"/>
              </a:rPr>
              <a:t>多人员体检（家庭套餐 / 批量购买）在下单时直接拆单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92040"/>
            <a:ext cx="52578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6B778C"/>
                </a:solidFill>
                <a:latin typeface="Microsoft YaHei"/>
                <a:ea typeface="Microsoft YaHei"/>
              </a:rPr>
              <a:t>数据库 MEMBER_EWP_ORDER_HOLDER 物理可 1:N —— 业务上锁死 1:1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预约取消与退款的双轨联动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Dual-Path Refund &amp; Appointment Cancellation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85198" y="475488"/>
            <a:ext cx="1250441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订单域 × 预约单域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63656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级联编排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支持「先取消预约、后续再退款」与「直接退款、系统自动级联取消预约」两条路径，确保外部机构档期释放与退款闭环。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72768" y="5961888"/>
            <a:ext cx="346557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预约成功即同步外部供应商（爱康/美年/瑞慈/中科）锁定排期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59" y="5961888"/>
            <a:ext cx="194767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用户心智①：仅改计划、保留权益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42047" y="5961888"/>
            <a:ext cx="159791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用户心智②：一键退单退钱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01168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</a:rPr>
              <a:t>路径一 · 先取消预约，后申请退款（分步独立）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325880" cy="77724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用户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取消预约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2331720"/>
            <a:ext cx="164592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取消预约接口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释放分院排期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2331720"/>
            <a:ext cx="137160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预约单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03 已取消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2331720"/>
            <a:ext cx="1874519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主单维持 02 待预约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体检权益完好保留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7" y="2724912"/>
            <a:ext cx="283465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858768" y="272491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550408" y="272491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83879" y="2084831"/>
            <a:ext cx="2377440" cy="54864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可随时重新预约（权益保留）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2852928"/>
            <a:ext cx="237744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再发起申请退款 → 06/07 闭环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7744968" y="2377440"/>
            <a:ext cx="420624" cy="22860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744968" y="2834640"/>
            <a:ext cx="420624" cy="27432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384048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D9722C"/>
                </a:solidFill>
                <a:latin typeface="Microsoft YaHei"/>
                <a:ea typeface="Microsoft YaHei"/>
              </a:rPr>
              <a:t>路径二 · 直接申请退款，系统级联取消预约（一键）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160520"/>
            <a:ext cx="150876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用户直接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申请退款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77440" y="4160520"/>
            <a:ext cx="164592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检测关联</a:t>
            </a:r>
          </a:p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预约单状态</a:t>
            </a:r>
          </a:p>
        </p:txBody>
      </p:sp>
      <p:sp>
        <p:nvSpPr>
          <p:cNvPr id="29" name="Diamond 28"/>
          <p:cNvSpPr/>
          <p:nvPr/>
        </p:nvSpPr>
        <p:spPr>
          <a:xfrm>
            <a:off x="4343400" y="4069080"/>
            <a:ext cx="1463040" cy="9601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预约单是否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已取消?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4160520"/>
            <a:ext cx="224028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自动编排 cancelOrderAppoint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释放外部机构排期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160520"/>
            <a:ext cx="169164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推进主单退款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06 退款中 / 07 成功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07040" y="4160520"/>
            <a:ext cx="1078992" cy="777240"/>
          </a:xfrm>
          <a:prstGeom prst="roundRect">
            <a:avLst>
              <a:gd name="adj" fmla="val 16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一键同步</a:t>
            </a:r>
          </a:p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闭环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75688" y="455371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041648" y="455371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824728" y="4480560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64708" y="4151376"/>
            <a:ext cx="8229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否 · 未取消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85048" y="455371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396728" y="4553712"/>
            <a:ext cx="19202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074920" y="5047488"/>
            <a:ext cx="0" cy="393192"/>
          </a:xfrm>
          <a:prstGeom prst="line">
            <a:avLst/>
          </a:prstGeom>
          <a:ln w="20320">
            <a:solidFill>
              <a:srgbClr val="5165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74920" y="5440680"/>
            <a:ext cx="4453128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528048" y="4956048"/>
            <a:ext cx="0" cy="484632"/>
          </a:xfrm>
          <a:prstGeom prst="line">
            <a:avLst/>
          </a:prstGeom>
          <a:ln w="20320">
            <a:solidFill>
              <a:srgbClr val="5165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30368" y="5120640"/>
            <a:ext cx="14630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是 · 已取消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组合订单：支付瞬态包装器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Combination Order as Ephemeral Payment Wrapper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06255" y="475488"/>
            <a:ext cx="1017269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订单域 × 商城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1541" y="475488"/>
            <a:ext cx="6057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收银台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85347" y="475488"/>
            <a:ext cx="9006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15 分钟超时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组合订单仅在支付结算期内存在：聚合多笔主订单一次性扣款，支付成功即刻解体，不承担任何履约与售后职责。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961888"/>
            <a:ext cx="177164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员工为多位家属合单合并付款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2434" y="5961888"/>
            <a:ext cx="171678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长生命周期大单 → 状态爆炸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17235" y="5961888"/>
            <a:ext cx="247802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购物车项仅支付回调后物理清理（DELETE）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202996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购物车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4" y="202996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下单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41848" y="202996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收银台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202996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回调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32136" y="2029968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支付后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395728"/>
            <a:ext cx="1956816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购物车暂存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多持有人合单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不占名额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43784" y="2395728"/>
            <a:ext cx="1956816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生成组合订单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combinationOrderCode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触发临时占容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38928" y="2395728"/>
            <a:ext cx="1956816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聚合应付金额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三方网关合并扣款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招行 / 微信 / 支付宝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2395728"/>
            <a:ext cx="1956816" cy="960120"/>
          </a:xfrm>
          <a:prstGeom prst="roundRect">
            <a:avLst>
              <a:gd name="adj" fmla="val 16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Microsoft YaHei"/>
                <a:ea typeface="Microsoft YaHei"/>
              </a:rPr>
              <a:t>支付成功回调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29216" y="2395728"/>
            <a:ext cx="1956816" cy="96012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组合订单解体 → N 笔独立主订单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DELETE 购物车项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23744" y="2880360"/>
            <a:ext cx="30175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18888" y="2880360"/>
            <a:ext cx="30175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14032" y="2880360"/>
            <a:ext cx="30175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409176" y="2880360"/>
            <a:ext cx="30175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527048" y="3374136"/>
            <a:ext cx="0" cy="850392"/>
          </a:xfrm>
          <a:prstGeom prst="line">
            <a:avLst/>
          </a:prstGeom>
          <a:ln w="20320">
            <a:solidFill>
              <a:srgbClr val="516585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3913632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C0453E"/>
                </a:solidFill>
                <a:latin typeface="Microsoft YaHei"/>
                <a:ea typeface="Microsoft YaHei"/>
              </a:rPr>
              <a:t>异常分支 · 15 分钟未支付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224528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定时任务自动取消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待支付订单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46120" y="4224528"/>
            <a:ext cx="20116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释放分院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排期容量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77840" y="4224528"/>
            <a:ext cx="20116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对应项回退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用户购物车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944368" y="4572000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276088" y="4572000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001000" y="4224528"/>
            <a:ext cx="3685032" cy="6858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用户端「我的订单」/ 后台管理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仅呈现解体后的 N 笔主订单，各显各人、各持预约单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积分抵扣与子订单分摊落标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Point Deduction &amp; SubOrder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06255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结算引擎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56647" y="475488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1 : 1 等值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30483" y="475488"/>
            <a:ext cx="955547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先套餐后加项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锁死 1 积分 = 1 元；积分先抵主套餐升舱/加价差额，再抵自选加项；积分与现金精确分摊落标到每个子订单。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961888"/>
            <a:ext cx="194995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浮动兑换比例 → 对账与开票争议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0741" y="5961888"/>
            <a:ext cx="212597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主单笼统记账 → 退订/拆票无法溯源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04737" y="5961888"/>
            <a:ext cx="154533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支持 100% 全额积分抵扣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212848"/>
            <a:ext cx="2377440" cy="658368"/>
          </a:xfrm>
          <a:prstGeom prst="roundRect">
            <a:avLst>
              <a:gd name="adj" fmla="val 16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1 积分 = 1 元 绝对等值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忽略后台浮动比例配置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27248"/>
            <a:ext cx="2377440" cy="658368"/>
          </a:xfrm>
          <a:prstGeom prst="roundRect">
            <a:avLst>
              <a:gd name="adj" fmla="val 16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packageIntegralLimit=01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支持 100% 全额抵扣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041648"/>
            <a:ext cx="2377440" cy="658368"/>
          </a:xfrm>
          <a:prstGeom prst="roundRect">
            <a:avLst>
              <a:gd name="adj" fmla="val 16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不设强制自费比例门槛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37360" y="2871216"/>
            <a:ext cx="0" cy="256032"/>
          </a:xfrm>
          <a:prstGeom prst="line">
            <a:avLst/>
          </a:prstGeom>
          <a:ln w="15240">
            <a:solidFill>
              <a:srgbClr val="B8860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37360" y="3785615"/>
            <a:ext cx="0" cy="256033"/>
          </a:xfrm>
          <a:prstGeom prst="line">
            <a:avLst/>
          </a:prstGeom>
          <a:ln w="15240">
            <a:solidFill>
              <a:srgbClr val="B8860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91840" y="1956816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D9722C"/>
                </a:solidFill>
                <a:latin typeface="Microsoft YaHei"/>
                <a:ea typeface="Microsoft YaHei"/>
              </a:rPr>
              <a:t>法定抵扣优先级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2267712"/>
            <a:ext cx="2834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>混合应付（现金 + 积分）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3108960"/>
            <a:ext cx="2834640" cy="603504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① 抵扣主套餐升级 / 加价差额（02/03）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950208"/>
            <a:ext cx="2834640" cy="603504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② 剩余积分抵扣自选加项包（01）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791456"/>
            <a:ext cx="2834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余额现金 payCurrencyValue 补足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09160" y="2871216"/>
            <a:ext cx="0" cy="219456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709160" y="3712463"/>
            <a:ext cx="0" cy="219457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709160" y="4553712"/>
            <a:ext cx="0" cy="219456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75120" y="1956816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2F6DB3"/>
                </a:solidFill>
                <a:latin typeface="Microsoft YaHei"/>
                <a:ea typeface="Microsoft YaHei"/>
              </a:rPr>
              <a:t>子订单精细落标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2267712"/>
            <a:ext cx="4983480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2340864"/>
            <a:ext cx="46634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2F6DB3"/>
                </a:solidFill>
                <a:latin typeface="Microsoft YaHei"/>
                <a:ea typeface="Microsoft YaHei"/>
              </a:rPr>
              <a:t>MEMBER_EWP_ORDER_SUB（每个子项独立记账）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3720" y="2670048"/>
            <a:ext cx="4526280" cy="475488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子订单 A · 升级套餐　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F6DB3"/>
                </a:solidFill>
                <a:latin typeface="Microsoft YaHei"/>
                <a:ea typeface="Microsoft YaHei"/>
              </a:rPr>
              <a:t>积分 300 ＋ 现金 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3218688"/>
            <a:ext cx="4526280" cy="475488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子订单 B · 加项胃镜　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F6DB3"/>
                </a:solidFill>
                <a:latin typeface="Microsoft YaHei"/>
                <a:ea typeface="Microsoft YaHei"/>
              </a:rPr>
              <a:t>积分 100 ＋ 现金 100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03720" y="3767328"/>
            <a:ext cx="4526280" cy="475488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子订单 C · 加项腹部超声　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F6DB3"/>
                </a:solidFill>
                <a:latin typeface="Microsoft YaHei"/>
                <a:ea typeface="Microsoft YaHei"/>
              </a:rPr>
              <a:t>积分 0 ＋ 现金 200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144768" y="3383280"/>
            <a:ext cx="512064" cy="18288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349240" y="3639312"/>
            <a:ext cx="137160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1" i="0">
                <a:solidFill>
                  <a:srgbClr val="516585"/>
                </a:solidFill>
                <a:latin typeface="Microsoft YaHei"/>
                <a:ea typeface="Microsoft YaHei"/>
              </a:rPr>
              <a:t>scoreValue 分摊写入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791456"/>
            <a:ext cx="4983480" cy="603504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24324E"/>
                </a:solidFill>
                <a:latin typeface="Microsoft YaHei"/>
                <a:ea typeface="Microsoft YaHei"/>
              </a:rPr>
              <a:t>财务分账 · 发票拆分 · 售后退款 —— 每笔构成原子级可溯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62288" y="4407408"/>
            <a:ext cx="0" cy="36576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资金回调驱动退积分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Callback-driven Point Refund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6286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逆向退款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96678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异步联动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47069" y="475488"/>
            <a:ext cx="83896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总账在下游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资金退款成功回调驱动下游积分释放：钱先退、积分后返；积分生命周期绑定体检权益，总账由外部系统托管对账。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961888"/>
            <a:ext cx="212140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现金通道与积分中心是异构结算主体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22191" y="5961888"/>
            <a:ext cx="194995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并发双边退款 → 单边账损失风险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00165" y="5961888"/>
            <a:ext cx="201396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HMSC 自建积分总账 → 双写不一致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286000"/>
            <a:ext cx="1600200" cy="777240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用户申请退款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（现金+积分混合单）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80" y="2286000"/>
            <a:ext cx="155448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向三方网关发起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资金退款请求</a:t>
            </a:r>
          </a:p>
        </p:txBody>
      </p:sp>
      <p:sp>
        <p:nvSpPr>
          <p:cNvPr id="17" name="Diamond 16"/>
          <p:cNvSpPr/>
          <p:nvPr/>
        </p:nvSpPr>
        <p:spPr>
          <a:xfrm>
            <a:off x="4343400" y="2194560"/>
            <a:ext cx="1417320" cy="9601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网关确认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退款成功?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2286000"/>
            <a:ext cx="1737360" cy="77724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回调方法内触发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释放退还积分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（福粒/信福通）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286000"/>
            <a:ext cx="1508760" cy="777240"/>
          </a:xfrm>
          <a:prstGeom prst="roundRect">
            <a:avLst>
              <a:gd name="adj" fmla="val 16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双边闭环完成</a:t>
            </a:r>
          </a:p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绝不单边死账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67128" y="267004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041648" y="267004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779008" y="267004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509259" y="2340863"/>
            <a:ext cx="8229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是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6408" y="267004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572000" y="3977639"/>
            <a:ext cx="17830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回调事务抛异常回滚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47488" y="3172968"/>
            <a:ext cx="0" cy="786384"/>
          </a:xfrm>
          <a:prstGeom prst="line">
            <a:avLst/>
          </a:prstGeom>
          <a:ln w="20320">
            <a:solidFill>
              <a:srgbClr val="516585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766560" y="3977639"/>
            <a:ext cx="164592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网关重新推送通知重试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73368" y="4261104"/>
            <a:ext cx="37490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7223760" y="3081528"/>
            <a:ext cx="365760" cy="877824"/>
          </a:xfrm>
          <a:prstGeom prst="line">
            <a:avLst/>
          </a:prstGeom>
          <a:ln w="20320">
            <a:solidFill>
              <a:srgbClr val="516585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69480" y="3502152"/>
            <a:ext cx="8229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重新回调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977639"/>
            <a:ext cx="3657600" cy="566928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超过最大重试阈值 → 异常落标 · 人工介入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4224528" y="4261104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012680" y="2148840"/>
            <a:ext cx="1673352" cy="306324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积分架构定位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① 生命周期严格绑定权益有效期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② 总账下沉下游
HMSC 仅消费与调度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③ 正向：预冻结 → 回调转实扣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④ 逆向：待付取消原路释放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外部积分平台 × 核心镜像双冻结对账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Dual-Account Shadow Ledger &amp; Concurrent Freeze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25128" y="475488"/>
            <a:ext cx="83896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正向双冻结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92105" y="475488"/>
            <a:ext cx="7269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SKU 穿透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47069" y="475488"/>
            <a:ext cx="83896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F6DB3"/>
                </a:solidFill>
                <a:latin typeface="Microsoft YaHei"/>
                <a:ea typeface="Microsoft YaHei"/>
              </a:rPr>
              <a:t>逆向双释放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外部渠道冻结 + 核心镜像并发双冻结防超扣；子订单 SKU 级明细穿透 1:1 对应；并行双释放 + 异常补偿托底最终一致。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1558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779008"/>
            <a:ext cx="212826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多终端并发 / 重试 → 积分超扣风险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29049" y="5779008"/>
            <a:ext cx="224713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粗粒度总额扣减 → 无法还原 SKU 构成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4203" y="5779008"/>
            <a:ext cx="142189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外部超时缺乏审计镜像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效果与影响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6272784"/>
            <a:ext cx="188823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高一致性：阻断超扣与重放抵扣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89019" y="6272784"/>
            <a:ext cx="165506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明细可溯：银行级财务对账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72099" y="6272784"/>
            <a:ext cx="194995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韧性托底：异常补偿 + 人工通道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</a:rPr>
              <a:t>① 正向 · 并发双冻结（Stream 并发触发）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286000"/>
            <a:ext cx="1554480" cy="777240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IntegralStrategy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.freezeIntegral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2212848"/>
            <a:ext cx="214884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外部平台预冻结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FuLi / XinFuTong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88920" y="2926080"/>
            <a:ext cx="214884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核心镜像冻结（Shadow）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CoreIntegralService 落流水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23560" y="2560320"/>
            <a:ext cx="2743200" cy="6858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FFFFFF"/>
                </a:solidFill>
                <a:latin typeface="Microsoft YaHei"/>
                <a:ea typeface="Microsoft YaHei"/>
              </a:rPr>
              <a:t>双边实时对齐</a:t>
            </a:r>
          </a:p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FFFFFF"/>
                </a:solidFill>
                <a:latin typeface="Microsoft YaHei"/>
                <a:ea typeface="Microsoft YaHei"/>
              </a:rPr>
              <a:t>本地水位锁 + 外部凭据 → 阻断超扣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2286000"/>
            <a:ext cx="2651760" cy="9601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子订单 → sku_items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F6DB3"/>
                </a:solidFill>
                <a:latin typeface="Microsoft YaHei"/>
                <a:ea typeface="Microsoft YaHei"/>
              </a:rPr>
              <a:t>{ partner_sku, quantity, unit_price }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与加项包颗粒度 1:1 穿透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121408" y="2450592"/>
            <a:ext cx="649224" cy="6400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121408" y="2834640"/>
            <a:ext cx="649224" cy="38404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56048" y="2487168"/>
            <a:ext cx="649224" cy="301752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56048" y="3035808"/>
            <a:ext cx="649224" cy="164592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385048" y="2788920"/>
            <a:ext cx="603504" cy="10972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3639312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D9722C"/>
                </a:solidFill>
                <a:latin typeface="Microsoft YaHei"/>
                <a:ea typeface="Microsoft YaHei"/>
              </a:rPr>
              <a:t>② 逆向 · 并行双释放与异常补偿（traceId 全链路透传）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977639"/>
            <a:ext cx="1828800" cy="82296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取消 / 超时未付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releaseIntegral 并行流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017520" y="3913632"/>
            <a:ext cx="205740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外部撤单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cancelIntegralOrder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017520" y="4599432"/>
            <a:ext cx="205740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核心镜像释放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（双边留痕）</a:t>
            </a:r>
          </a:p>
        </p:txBody>
      </p:sp>
      <p:sp>
        <p:nvSpPr>
          <p:cNvPr id="34" name="Diamond 33"/>
          <p:cNvSpPr/>
          <p:nvPr/>
        </p:nvSpPr>
        <p:spPr>
          <a:xfrm>
            <a:off x="5577840" y="4114800"/>
            <a:ext cx="1371600" cy="82296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外部撤单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成功?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52360" y="3931920"/>
            <a:ext cx="210312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二次反查外部状态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（福粒 7 = 已撤销?）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4617720"/>
            <a:ext cx="2103120" cy="566928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仍失败 → EXCEPTION_LOG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异常补偿任务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66960" y="4041648"/>
            <a:ext cx="1691640" cy="548640"/>
          </a:xfrm>
          <a:prstGeom prst="roundRect">
            <a:avLst>
              <a:gd name="adj" fmla="val 16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双边释放完成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395728" y="4187952"/>
            <a:ext cx="603504" cy="6400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395728" y="4572000"/>
            <a:ext cx="603504" cy="301752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093208" y="4187952"/>
            <a:ext cx="466344" cy="24688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967728" y="4206240"/>
            <a:ext cx="466344" cy="22860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903720" y="3913632"/>
            <a:ext cx="457200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否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503920" y="4498848"/>
            <a:ext cx="0" cy="18288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641080" y="4507992"/>
            <a:ext cx="1005840" cy="1828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00" b="1" i="0">
                <a:solidFill>
                  <a:srgbClr val="516585"/>
                </a:solidFill>
                <a:latin typeface="Microsoft YaHei"/>
                <a:ea typeface="Microsoft YaHei"/>
              </a:rPr>
              <a:t>仍未撤销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263640" y="4937760"/>
            <a:ext cx="0" cy="475488"/>
          </a:xfrm>
          <a:prstGeom prst="line">
            <a:avLst/>
          </a:prstGeom>
          <a:ln w="20320">
            <a:solidFill>
              <a:srgbClr val="5165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263640" y="5413248"/>
            <a:ext cx="4544568" cy="0"/>
          </a:xfrm>
          <a:prstGeom prst="line">
            <a:avLst/>
          </a:prstGeom>
          <a:ln w="20320">
            <a:solidFill>
              <a:srgbClr val="5165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0808208" y="4608576"/>
            <a:ext cx="0" cy="804672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00800" y="5431536"/>
            <a:ext cx="73152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是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分院排期容量、改期边界与超期释放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Store Schedule, Capacity &amp; Reschedule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75904" y="475488"/>
            <a:ext cx="1367027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供应商域 × 预约单域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0948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同店改期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21340" y="475488"/>
            <a:ext cx="96469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No-show 释放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同店改期约束 + 体检当天「禁退可改」不对称策略 + 线上线下双轨容量 + 超期未到检自动释放闭环。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1558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779008"/>
            <a:ext cx="271119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跨店改期 → 加项交集重算 + 跨系统分布式事务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1979" y="5779008"/>
            <a:ext cx="200939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当天任意退 → 试剂/排班空置损失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49389" y="5779008"/>
            <a:ext cx="172592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No-show 不清理 → 权益沉没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效果与影响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6272784"/>
            <a:ext cx="95554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履约边界清晰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6332" y="6272784"/>
            <a:ext cx="95554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兼顾供需利益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39896" y="6272784"/>
            <a:ext cx="95554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资源高效周转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1901952"/>
            <a:ext cx="5349240" cy="16642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1975104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容量双轨排期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304288"/>
            <a:ext cx="237744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线上民营机构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供应商 API 实时日历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2304288"/>
            <a:ext cx="237744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线下公立医院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HMSCS 配额 · 提前 3~7 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090672"/>
            <a:ext cx="1136903" cy="329184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0E7C86"/>
                </a:solidFill>
                <a:latin typeface="Microsoft YaHei"/>
                <a:ea typeface="Microsoft YaHei"/>
              </a:rPr>
              <a:t>项目级屏蔽日拦截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7440" y="3090672"/>
            <a:ext cx="1467230" cy="329184"/>
          </a:xfrm>
          <a:prstGeom prst="roundRect">
            <a:avLst>
              <a:gd name="adj" fmla="val 50000"/>
            </a:avLst>
          </a:prstGeom>
          <a:solidFill>
            <a:srgbClr val="E1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0E7C86"/>
                </a:solidFill>
                <a:latin typeface="Microsoft YaHei"/>
                <a:ea typeface="Microsoft YaHei"/>
              </a:rPr>
              <a:t>时段细分（可降级全天）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0" y="1901952"/>
            <a:ext cx="5742432" cy="16642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975104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改期边界 · 原分院同店约束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2304288"/>
            <a:ext cx="118872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改期申请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2304288"/>
            <a:ext cx="1965960" cy="658368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仅改日期 / 时段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（原门店内）✓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304288"/>
            <a:ext cx="1417320" cy="658368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变更分院 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0" y="3090672"/>
            <a:ext cx="3703320" cy="384048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换店唯一路径：取消预约 → 恢复待预约 → 重新选店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287768" y="2633472"/>
            <a:ext cx="283463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573768" y="2633472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579608" y="2980944"/>
            <a:ext cx="0" cy="91440"/>
          </a:xfrm>
          <a:prstGeom prst="line">
            <a:avLst/>
          </a:prstGeom>
          <a:ln w="20320">
            <a:solidFill>
              <a:srgbClr val="516585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57200" y="365760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730752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体检当天不对称改退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096512"/>
            <a:ext cx="2377440" cy="777240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主动取消入口关闭 ✗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保护已配试剂与排班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096512"/>
            <a:ext cx="2377440" cy="77724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原店改期保留 ✓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可延后至后续可用日期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4983480"/>
            <a:ext cx="512064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「禁退可改」：机构成本与员工救济的人性化平衡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0" y="3657600"/>
            <a:ext cx="5742432" cy="16916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730752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需协调特批 &amp; 超期自动释放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80760" y="4096512"/>
            <a:ext cx="169164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日期标记「需协调」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92440" y="4096512"/>
            <a:ext cx="2011680" cy="658368"/>
          </a:xfrm>
          <a:prstGeom prst="roundRect">
            <a:avLst>
              <a:gd name="adj" fmla="val 16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客服特批 → 预约单 01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线下协调加号加配额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4864608"/>
            <a:ext cx="169164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No-show 超体检日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92440" y="4828032"/>
            <a:ext cx="2514600" cy="621792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定时任务自动取消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释放占容 · 主单恢复待预约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790688" y="4370832"/>
            <a:ext cx="283464" cy="36576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790688" y="513892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287000" y="4160520"/>
            <a:ext cx="137160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权益有效期内</a:t>
            </a:r>
          </a:p>
          <a:p>
            <a:pPr algn="l">
              <a:lnSpc>
                <a:spcPct val="98000"/>
              </a:lnSpc>
            </a:pPr>
            <a:r>
              <a:rPr sz="850" b="0" i="0">
                <a:solidFill>
                  <a:srgbClr val="6B778C"/>
                </a:solidFill>
                <a:latin typeface="Microsoft YaHei"/>
                <a:ea typeface="Microsoft YaHei"/>
              </a:rPr>
              <a:t>可重新履约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合并履约、权益到期换店拦截与双轨同步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Bundled Fulfillment, Equity Expiry Guard &amp; Dual-Track Ingestion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79458" y="475488"/>
            <a:ext cx="6057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履约域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13264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原子交付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63656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0E7C86"/>
                </a:solidFill>
                <a:latin typeface="Microsoft YaHei"/>
                <a:ea typeface="Microsoft YaHei"/>
              </a:rPr>
              <a:t>状态同步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预约单是主套餐 + 全部加项包的唯一履约容器；跨店换店唯一路径受权益到期熔断拦截；线上轮询 + 线下导入双轨推进状态。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9846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961888"/>
            <a:ext cx="200482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加项须与主套餐同天同店统一采血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5605" y="5961888"/>
            <a:ext cx="218312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换店 = 先取消再重新预约的解耦动作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1" y="5961888"/>
            <a:ext cx="201396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民营 API vs 公立离线的行业现状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① 主+加项合并原子交付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286000"/>
            <a:ext cx="3291840" cy="68580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预约单 = 唯一履约容器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主套餐 + 全部自选加项包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00400"/>
            <a:ext cx="329184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线上民营：同一笔外部预约单打包 · 单一就检编号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50208"/>
            <a:ext cx="329184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线下公立：对接 Excel 单条聚合记录交付医院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3291840" cy="54864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24324E"/>
                </a:solidFill>
                <a:latin typeface="Microsoft YaHei"/>
                <a:ea typeface="Microsoft YaHei"/>
              </a:rPr>
              <a:t>单人 · 单店 · 单次 一站式完成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4560" y="2990088"/>
            <a:ext cx="0" cy="192024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194560" y="3785615"/>
            <a:ext cx="0" cy="146305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194560" y="4535424"/>
            <a:ext cx="0" cy="201168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6052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② 换店唯一路径 × 权益到期门禁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228600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取消原预约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60520" y="285292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释放原店排期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3419856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主单恢复待预约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74920" y="2743200"/>
            <a:ext cx="0" cy="9144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074920" y="3310128"/>
            <a:ext cx="0" cy="9144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iamond 28"/>
          <p:cNvSpPr/>
          <p:nvPr/>
        </p:nvSpPr>
        <p:spPr>
          <a:xfrm>
            <a:off x="4297680" y="4023360"/>
            <a:ext cx="1600200" cy="77724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权益已过期?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equityEndDate&lt;今日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74920" y="3877056"/>
            <a:ext cx="45720" cy="128016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60520" y="5029200"/>
            <a:ext cx="1691640" cy="603504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否 · 重新选新店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预约 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5029200"/>
            <a:ext cx="1600200" cy="603504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是 · 拦截新预约 ✗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（取消前强警示）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709160" y="4818888"/>
            <a:ext cx="137160" cy="192024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7840" y="4818888"/>
            <a:ext cx="1005840" cy="192024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0100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0E7C86"/>
                </a:solidFill>
                <a:latin typeface="Microsoft YaHei"/>
                <a:ea typeface="Microsoft YaHei"/>
              </a:rPr>
              <a:t>③ 双轨到检与报告同步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2286000"/>
            <a:ext cx="36118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线上民营 · 定时轮询拉取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PullAppointJsonReportHandler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01000" y="3154680"/>
            <a:ext cx="36118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拉取到检名单 + 原版 PDF（LLM OCR 提取）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01000" y="3931920"/>
            <a:ext cx="1060704" cy="475488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02 预约成功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62872" y="3931920"/>
            <a:ext cx="1060704" cy="475488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04 已到检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24744" y="3931920"/>
            <a:ext cx="1088136" cy="475488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05 已出报告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079992" y="4169663"/>
            <a:ext cx="16459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341864" y="4169663"/>
            <a:ext cx="16459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8001000" y="4617720"/>
            <a:ext cx="3611880" cy="6400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线下公立 · MIS 运营导入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Excel 名单 / 核销上传扫描件 → 人工推进同一状态机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802368" y="3611880"/>
            <a:ext cx="0" cy="128016"/>
          </a:xfrm>
          <a:prstGeom prst="line">
            <a:avLst/>
          </a:prstGeom>
          <a:ln w="20320">
            <a:solidFill>
              <a:srgbClr val="516585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套餐层级、家属积分共济与问卷推荐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Package Hierarchy, Family Points Sharing &amp;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79458" y="475488"/>
            <a:ext cx="60579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产品域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13264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单选互斥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63656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适检门禁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主干套餐 1 of N 单选互斥、差额升舱；标准医学字典 + 适检属性门禁；家属包全额自费可用员工积分共济；问卷推荐自动勾选。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1558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779008"/>
            <a:ext cx="160019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统付 / 自费分界失真风险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0984" y="5779008"/>
            <a:ext cx="235457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禁忌项目合规（如未婚女性经阴道超声）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83579" y="5779008"/>
            <a:ext cx="148361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千人一面 → 高风险漏筛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效果与影响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6272784"/>
            <a:ext cx="153847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层级严密厘清统付与自费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39262" y="6272784"/>
            <a:ext cx="142189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全家共济提升积分活力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89170" y="6272784"/>
            <a:ext cx="142189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精准预防提升早筛覆盖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主干套餐 · 单选互斥（1 of N）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331720"/>
            <a:ext cx="1965960" cy="685800"/>
          </a:xfrm>
          <a:prstGeom prst="roundRect">
            <a:avLst>
              <a:gd name="adj" fmla="val 16000"/>
            </a:avLst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主干套餐</a:t>
            </a:r>
          </a:p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</a:rPr>
              <a:t>（必选其一）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63240" y="2148840"/>
            <a:ext cx="26974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00 标准主套餐 · 企业统付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2852928"/>
            <a:ext cx="26974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02 升级套餐 · 仅付差额（售价−基准价）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63240" y="3557016"/>
            <a:ext cx="269748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03 加价套餐 · 网点溢价 extraPrice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2532888" y="2395728"/>
            <a:ext cx="512064" cy="118872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532888" y="2697480"/>
            <a:ext cx="512064" cy="41148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532888" y="2880360"/>
            <a:ext cx="512064" cy="941831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063240" y="4370832"/>
            <a:ext cx="2697480" cy="603504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01 加项包 0~N · 医学互斥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受企业预算帽（Budget Cap）管控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407408" y="4142232"/>
            <a:ext cx="0" cy="210312"/>
          </a:xfrm>
          <a:prstGeom prst="line">
            <a:avLst/>
          </a:prstGeom>
          <a:ln w="20320">
            <a:solidFill>
              <a:srgbClr val="D972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3246120"/>
            <a:ext cx="2286000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差额部分支持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现金自费 或</a:t>
            </a:r>
          </a:p>
          <a:p>
            <a:pPr algn="l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企业积分 1:1 抵扣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标准医学字典 × 适检门禁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2286000"/>
            <a:ext cx="265176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平台标准医学字典库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爱康/美年/瑞慈/公立 → 入库映射对齐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52560" y="2286000"/>
            <a:ext cx="2633472" cy="777240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适检人群属性门禁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性别 × 婚姻状态 · 过滤+硬校验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796528" y="2670048"/>
            <a:ext cx="23774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126480" y="324612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员工包 P × 家属包 G · 积分共济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3584448"/>
            <a:ext cx="2651760" cy="6400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员工产品包（P）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企业统付 / 升舱共付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3584448"/>
            <a:ext cx="2633472" cy="64008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家属产品包（G）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全额自费 · 可扣员工福利积分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796528" y="3904487"/>
            <a:ext cx="23774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503920" y="3557015"/>
            <a:ext cx="822960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516585"/>
                </a:solidFill>
                <a:latin typeface="Microsoft YaHei"/>
                <a:ea typeface="Microsoft YaHei"/>
              </a:rPr>
              <a:t>积分划扣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443484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问卷驱动智能推荐 · 自动勾选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26480" y="4773168"/>
            <a:ext cx="128016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健康问卷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病史/习惯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关注点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62088" y="4773168"/>
            <a:ext cx="128016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风险模型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动态计算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健康风险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97696" y="4773168"/>
            <a:ext cx="128016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匹配推荐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主套餐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+ 加项包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433304" y="4773168"/>
            <a:ext cx="1252728" cy="777240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界面默认</a:t>
            </a:r>
          </a:p>
          <a:p>
            <a:pPr algn="ctr">
              <a:lnSpc>
                <a:spcPct val="98000"/>
              </a:lnSpc>
            </a:pPr>
            <a:r>
              <a:rPr sz="850" b="1" i="0">
                <a:solidFill>
                  <a:srgbClr val="24324E"/>
                </a:solidFill>
                <a:latin typeface="Microsoft YaHei"/>
                <a:ea typeface="Microsoft YaHei"/>
              </a:rPr>
              <a:t>自动勾选 ✓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24927" y="5157216"/>
            <a:ext cx="118873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860536" y="5157216"/>
            <a:ext cx="11887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296144" y="5157216"/>
            <a:ext cx="118872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报告解读增值服务流水线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Report Interpretation Pipeline &amp; HR Monitoring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04504" y="475488"/>
            <a:ext cx="1133855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D9722C"/>
                </a:solidFill>
                <a:latin typeface="Microsoft YaHei"/>
                <a:ea typeface="Microsoft YaHei"/>
              </a:rPr>
              <a:t>档案域 × 活动域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66376" y="475488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D9722C"/>
                </a:solidFill>
                <a:latin typeface="Microsoft YaHei"/>
                <a:ea typeface="Microsoft YaHei"/>
              </a:rPr>
              <a:t>LLM OCR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66476" y="475488"/>
            <a:ext cx="101955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D9722C"/>
                </a:solidFill>
                <a:latin typeface="Microsoft YaHei"/>
                <a:ea typeface="Microsoft YaHei"/>
              </a:rPr>
              <a:t>AI + 医生双轨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全域 PDF + 大模型 OCR 统一结构化（原生 JSON 弃用）；免费 AI 即时解读与异步三方医生解读双轨；C24/C59 随权益子产品导入。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1558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779008"/>
            <a:ext cx="189737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N 套私有 JSON 解析器维护灾难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8163" y="5779008"/>
            <a:ext cx="200939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即时科普 vs 深度研判的服务分层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35573" y="5779008"/>
            <a:ext cx="1719071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员工健康数据 PII 隐私合规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效果与影响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6272784"/>
            <a:ext cx="130530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全域指标大一统归档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06090" y="6272784"/>
            <a:ext cx="118871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服务分层各司其职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2826" y="6272784"/>
            <a:ext cx="142417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B 端健康管理黏性提升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12848"/>
            <a:ext cx="251460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报告归集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线上 API 轮询 PDF ｜ 线下 MIS 导入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2212848"/>
            <a:ext cx="265176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大模型 OCR 统一结构化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项目/实测值/单位/参考区间/异常标识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212848"/>
            <a:ext cx="2286000" cy="777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映射平台标准医学字典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（原生 JSON 链路已弃用 ✗）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212848"/>
            <a:ext cx="2587752" cy="77724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归档健康档案 HMES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支撑历年趋势比对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81528" y="2596896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9048" y="2596896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50808" y="2596896"/>
            <a:ext cx="32918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3246120"/>
            <a:ext cx="4572000" cy="548640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外院自传历史报告 → 仅个人端查看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不入健康档案 · 不参与正式趋势比对 ✗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37360" y="3008376"/>
            <a:ext cx="0" cy="219456"/>
          </a:xfrm>
          <a:prstGeom prst="line">
            <a:avLst/>
          </a:prstGeom>
          <a:ln w="20320">
            <a:solidFill>
              <a:srgbClr val="516585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486400" y="3246120"/>
            <a:ext cx="6199632" cy="54864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官方履约档案只保留机构原件抽取结果，捍卫档案真实性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977639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2F6DB3"/>
                </a:solidFill>
                <a:latin typeface="Microsoft YaHei"/>
                <a:ea typeface="Microsoft YaHei"/>
              </a:rPr>
              <a:t>普惠 AI 即时解读 · 小诺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315968"/>
            <a:ext cx="5394960" cy="822960"/>
          </a:xfrm>
          <a:prstGeom prst="roundRect">
            <a:avLst>
              <a:gd name="adj" fmla="val 16000"/>
            </a:avLst>
          </a:prstGeom>
          <a:solidFill>
            <a:srgbClr val="E8F0FA"/>
          </a:solidFill>
          <a:ln w="12700">
            <a:solidFill>
              <a:srgbClr val="2F6D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项目启用 AI 开关后全员可用：免费 · 即时</a:t>
            </a:r>
          </a:p>
          <a:p>
            <a:pPr algn="ctr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指标成因分析 + 生活方式建议（广度科普）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977639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异步三方医生解读 · 工单制（C24 / C59）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315968"/>
            <a:ext cx="5422392" cy="822960"/>
          </a:xfrm>
          <a:prstGeom prst="roundRect">
            <a:avLst>
              <a:gd name="adj" fmla="val 16000"/>
            </a:avLst>
          </a:prstGeom>
          <a:solidFill>
            <a:srgbClr val="EEEAF7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结构化数据+病史 → 推送三方解读中心 → 医生限时核阅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异步回调 → 结论以结构化数据回写权益与报告（深度研判）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321808"/>
            <a:ext cx="4343400" cy="502920"/>
          </a:xfrm>
          <a:prstGeom prst="roundRect">
            <a:avLst>
              <a:gd name="adj" fmla="val 16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C24/C59 非商城零售 · 随企业权益子产品导入赋权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74920" y="5321808"/>
            <a:ext cx="3108960" cy="50292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B 端 HR 异常指标看板 · 脱敏合规授权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5321808"/>
            <a:ext cx="3319272" cy="50292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家庭报告归集员工账户 · 切换持有人查看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9184"/>
            <a:ext cx="621792" cy="621792"/>
          </a:xfrm>
          <a:prstGeom prst="roundRect">
            <a:avLst>
              <a:gd name="adj" fmla="val 22000"/>
            </a:avLst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900" b="1" i="0">
                <a:solidFill>
                  <a:srgbClr val="FFFFFF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98448" y="256032"/>
            <a:ext cx="78638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商城多租户分类、卡密兑换与子产品边界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6736" y="786384"/>
            <a:ext cx="78638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Shop Custom Categories &amp; Voucher Redemption to Benefits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4805" y="475488"/>
            <a:ext cx="1133855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商品域 × 权益域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96677" y="475488"/>
            <a:ext cx="7223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卡密核验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47069" y="475488"/>
            <a:ext cx="838962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6D599C"/>
                </a:solidFill>
                <a:latin typeface="Microsoft YaHei"/>
                <a:ea typeface="Microsoft YaHei"/>
              </a:rPr>
              <a:t>非商城零售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02920" y="1353312"/>
            <a:ext cx="11183112" cy="5486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200" b="1" i="0">
                <a:solidFill>
                  <a:srgbClr val="24324E"/>
                </a:solidFill>
                <a:latin typeface="Microsoft YaHei"/>
                <a:ea typeface="Microsoft YaHei"/>
              </a:rPr>
              <a:t>项目级自定义分类实现千企千面；卡券经卡密核验在核心域生成体检权益；C24/C59 不零售、随权益导入；优惠套餐支付后直接转履约单。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82296" cy="548640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15584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背景与权衡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72768" y="5779008"/>
            <a:ext cx="153847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硬编码分类不适配多租户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39262" y="5779008"/>
            <a:ext cx="1188719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卡密盗刷套利风险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55997" y="5779008"/>
            <a:ext cx="1888235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直接生成裸订单会绕过权益校验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1887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1" i="0">
                <a:solidFill>
                  <a:srgbClr val="6B778C"/>
                </a:solidFill>
                <a:latin typeface="Microsoft YaHei"/>
                <a:ea typeface="Microsoft YaHei"/>
              </a:rPr>
              <a:t>效果与影响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72768" y="6272784"/>
            <a:ext cx="1655063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新大客户上线成本大幅降低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5847" y="6272784"/>
            <a:ext cx="153847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以权益为契约沉淀至核心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2341" y="6272784"/>
            <a:ext cx="1949957" cy="329184"/>
          </a:xfrm>
          <a:prstGeom prst="roundRect">
            <a:avLst>
              <a:gd name="adj" fmla="val 50000"/>
            </a:avLst>
          </a:prstGeom>
          <a:solidFill>
            <a:srgbClr val="F4F7FB"/>
          </a:solidFill>
          <a:ln w="12700">
            <a:solidFill>
              <a:srgbClr val="D5DD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4A556C"/>
                </a:solidFill>
                <a:latin typeface="Microsoft YaHei"/>
                <a:ea typeface="Microsoft YaHei"/>
              </a:rPr>
              <a:t>客服审核 + 兑换锁死守住资金线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60" y="2212848"/>
            <a:ext cx="2404872" cy="1691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1" i="0">
                <a:solidFill>
                  <a:srgbClr val="6D599C"/>
                </a:solidFill>
                <a:latin typeface="Microsoft YaHei"/>
                <a:ea typeface="Microsoft YaHei"/>
              </a:rPr>
              <a:t>项目级自定义分类</a:t>
            </a:r>
          </a:p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企业项目配置动态类目
MIS 双轨标签：优惠套餐购买 /
健康商城分类
→ 千企千面商品橱窗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93852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路径 A · 优惠套餐即时转单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249424"/>
            <a:ext cx="178308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体检端购买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优惠套餐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2249424"/>
            <a:ext cx="192024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支付成功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（积分 1:1 抵扣）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2249424"/>
            <a:ext cx="1920240" cy="658368"/>
          </a:xfrm>
          <a:prstGeom prst="roundRect">
            <a:avLst>
              <a:gd name="adj" fmla="val 16000"/>
            </a:avLst>
          </a:prstGeom>
          <a:solidFill>
            <a:srgbClr val="EEEAF7"/>
          </a:solidFill>
          <a:ln w="12700">
            <a:solidFill>
              <a:srgbClr val="6D59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直接生成待预约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体检主订单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2249424"/>
            <a:ext cx="1783080" cy="658368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立即选分院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排期预约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350008" y="257860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590288" y="257860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30568" y="2578608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312724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6D599C"/>
                </a:solidFill>
                <a:latin typeface="Microsoft YaHei"/>
                <a:ea typeface="Microsoft YaHei"/>
              </a:rPr>
              <a:t>路径 B · 卡券兑换生成核心权益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456432"/>
            <a:ext cx="178308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商城购买体检卡券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获得卡密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51760" y="3456432"/>
            <a:ext cx="1920240" cy="6583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H5/PC 输入卡密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checkGardPassword 核验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92040" y="3456432"/>
            <a:ext cx="1920240" cy="658368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hmscs 核心域生成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正式体检权益 Benefit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0" y="3456432"/>
            <a:ext cx="1783080" cy="658368"/>
          </a:xfrm>
          <a:prstGeom prst="roundRect">
            <a:avLst>
              <a:gd name="adj" fmla="val 16000"/>
            </a:avLst>
          </a:prstGeom>
          <a:solidFill>
            <a:srgbClr val="E6F4EB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体检侧动态感知</a:t>
            </a:r>
          </a:p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→ 标准体检流程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50008" y="3785615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590288" y="3785615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830568" y="3785615"/>
            <a:ext cx="28346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48640" y="4434840"/>
            <a:ext cx="4846320" cy="530352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实物商品售后：未发货即时退 ｜ 已发货退货退款（寄回验收）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23560" y="4434840"/>
            <a:ext cx="3291840" cy="530352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12700">
            <a:solidFill>
              <a:srgbClr val="9AAA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50" b="0" i="0">
                <a:solidFill>
                  <a:srgbClr val="24324E"/>
                </a:solidFill>
                <a:latin typeface="Microsoft YaHei"/>
                <a:ea typeface="Microsoft YaHei"/>
              </a:rPr>
              <a:t>混合退款：资金回调驱动退积分（双边一致）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138928"/>
            <a:ext cx="8366760" cy="502920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1" i="0">
                <a:solidFill>
                  <a:srgbClr val="24324E"/>
                </a:solidFill>
                <a:latin typeface="Microsoft YaHei"/>
                <a:ea typeface="Microsoft YaHei"/>
              </a:rPr>
              <a:t>边界红线：C24/C59 医疗增值服务不在商城零售 → 随权益子产品导入赋权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406908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00" b="1" i="0">
                <a:solidFill>
                  <a:srgbClr val="C0453E"/>
                </a:solidFill>
                <a:latin typeface="Microsoft YaHei"/>
                <a:ea typeface="Microsoft YaHei"/>
              </a:rPr>
              <a:t>卡券退款守卫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81160" y="4389120"/>
            <a:ext cx="2404872" cy="53035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未兑换：关闭自助退款</a:t>
            </a:r>
          </a:p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客服介入 · MIS 核实原路退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281160" y="5029200"/>
            <a:ext cx="2404872" cy="530352"/>
          </a:xfrm>
          <a:prstGeom prst="roundRect">
            <a:avLst>
              <a:gd name="adj" fmla="val 16000"/>
            </a:avLst>
          </a:prstGeom>
          <a:solidFill>
            <a:srgbClr val="FBE9E8"/>
          </a:solidFill>
          <a:ln w="12700">
            <a:solidFill>
              <a:srgbClr val="C04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已兑换生成权益</a:t>
            </a:r>
          </a:p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24324E"/>
                </a:solidFill>
                <a:latin typeface="Microsoft YaHei"/>
                <a:ea typeface="Microsoft YaHei"/>
              </a:rPr>
              <a:t>永久锁死 · 不可退款 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91440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端到端主流程总览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22960"/>
            <a:ext cx="91440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End-to-End Value Stream · 正向履约主线 × 逆向退款主线 × 关键护栏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89888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0E7C86"/>
                </a:solidFill>
                <a:latin typeface="Microsoft YaHei"/>
                <a:ea typeface="Microsoft YaHei"/>
              </a:rPr>
              <a:t>正向履约主线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1737360"/>
            <a:ext cx="1481328" cy="914400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企业权益获取</a:t>
            </a:r>
          </a:p>
        </p:txBody>
      </p:sp>
      <p:sp>
        <p:nvSpPr>
          <p:cNvPr id="7" name="Chevron 6"/>
          <p:cNvSpPr/>
          <p:nvPr/>
        </p:nvSpPr>
        <p:spPr>
          <a:xfrm>
            <a:off x="1929384" y="1737360"/>
            <a:ext cx="1481328" cy="914400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选套餐·加项</a:t>
            </a:r>
          </a:p>
        </p:txBody>
      </p:sp>
      <p:sp>
        <p:nvSpPr>
          <p:cNvPr id="8" name="Chevron 7"/>
          <p:cNvSpPr/>
          <p:nvPr/>
        </p:nvSpPr>
        <p:spPr>
          <a:xfrm>
            <a:off x="3310128" y="1737360"/>
            <a:ext cx="1481328" cy="9144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建单 1人1单</a:t>
            </a:r>
          </a:p>
        </p:txBody>
      </p:sp>
      <p:sp>
        <p:nvSpPr>
          <p:cNvPr id="9" name="Chevron 8"/>
          <p:cNvSpPr/>
          <p:nvPr/>
        </p:nvSpPr>
        <p:spPr>
          <a:xfrm>
            <a:off x="4690872" y="1737360"/>
            <a:ext cx="1481328" cy="914400"/>
          </a:xfrm>
          <a:prstGeom prst="chevron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混合支付</a:t>
            </a:r>
          </a:p>
        </p:txBody>
      </p:sp>
      <p:sp>
        <p:nvSpPr>
          <p:cNvPr id="10" name="Chevron 9"/>
          <p:cNvSpPr/>
          <p:nvPr/>
        </p:nvSpPr>
        <p:spPr>
          <a:xfrm>
            <a:off x="6071616" y="1737360"/>
            <a:ext cx="1481328" cy="9144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预约排期</a:t>
            </a:r>
          </a:p>
        </p:txBody>
      </p:sp>
      <p:sp>
        <p:nvSpPr>
          <p:cNvPr id="11" name="Chevron 10"/>
          <p:cNvSpPr/>
          <p:nvPr/>
        </p:nvSpPr>
        <p:spPr>
          <a:xfrm>
            <a:off x="7452360" y="1737360"/>
            <a:ext cx="1481328" cy="914400"/>
          </a:xfrm>
          <a:prstGeom prst="chevron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到检</a:t>
            </a:r>
          </a:p>
        </p:txBody>
      </p:sp>
      <p:sp>
        <p:nvSpPr>
          <p:cNvPr id="12" name="Chevron 11"/>
          <p:cNvSpPr/>
          <p:nvPr/>
        </p:nvSpPr>
        <p:spPr>
          <a:xfrm>
            <a:off x="8833104" y="1737360"/>
            <a:ext cx="1481328" cy="914400"/>
          </a:xfrm>
          <a:prstGeom prst="chevron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报告 OCR</a:t>
            </a:r>
          </a:p>
        </p:txBody>
      </p:sp>
      <p:sp>
        <p:nvSpPr>
          <p:cNvPr id="13" name="Chevron 12"/>
          <p:cNvSpPr/>
          <p:nvPr/>
        </p:nvSpPr>
        <p:spPr>
          <a:xfrm>
            <a:off x="10213848" y="1737360"/>
            <a:ext cx="1481328" cy="914400"/>
          </a:xfrm>
          <a:prstGeom prst="chevron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增值解读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2724912"/>
            <a:ext cx="13716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组合单瞬态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2724912"/>
            <a:ext cx="13716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双冻结+回调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25512" y="2724912"/>
            <a:ext cx="13716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容量双轨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6256" y="2724912"/>
            <a:ext cx="13716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状态双轨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2724912"/>
            <a:ext cx="137160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8000"/>
              </a:lnSpc>
            </a:pPr>
            <a:r>
              <a:rPr sz="800" b="0" i="0">
                <a:solidFill>
                  <a:srgbClr val="6B778C"/>
                </a:solidFill>
                <a:latin typeface="Microsoft YaHei"/>
                <a:ea typeface="Microsoft YaHei"/>
              </a:rPr>
              <a:t>LLM 结构化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0040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D9722C"/>
                </a:solidFill>
                <a:latin typeface="Microsoft YaHei"/>
                <a:ea typeface="Microsoft YaHei"/>
              </a:rPr>
              <a:t>逆向退款主线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申请取消 / 退款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23160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级联取消预约 · 释放排期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主单状态收敛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199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资金退款成功回调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释放下游积分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21239" y="3547872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FBEEE2"/>
          </a:solidFill>
          <a:ln w="12700">
            <a:solidFill>
              <a:srgbClr val="D972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00" b="0" i="0">
                <a:solidFill>
                  <a:srgbClr val="24324E"/>
                </a:solidFill>
                <a:latin typeface="Microsoft YaHei"/>
                <a:ea typeface="Microsoft YaHei"/>
              </a:rPr>
              <a:t>对账 · 异常补偿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2395728" y="3931920"/>
            <a:ext cx="914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4270248" y="3931920"/>
            <a:ext cx="9144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144767" y="3931920"/>
            <a:ext cx="9145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019288" y="3931920"/>
            <a:ext cx="9143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9893807" y="3931920"/>
            <a:ext cx="9145" cy="0"/>
          </a:xfrm>
          <a:prstGeom prst="line">
            <a:avLst/>
          </a:prstGeom>
          <a:ln w="20320">
            <a:solidFill>
              <a:srgbClr val="5165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4617720"/>
            <a:ext cx="5943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B8860B"/>
                </a:solidFill>
                <a:latin typeface="Microsoft YaHei"/>
                <a:ea typeface="Microsoft YaHei"/>
              </a:rPr>
              <a:t>关键护栏（贯穿全程）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956048"/>
            <a:ext cx="1310512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1 积分 = 1 元等值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023744" y="4956048"/>
            <a:ext cx="1117472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子订单分摊落标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5809" y="4956048"/>
            <a:ext cx="1117472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双账本镜像对账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87875" y="4956048"/>
            <a:ext cx="1117472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权益有效期门禁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69940" y="4956048"/>
            <a:ext cx="748284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同店改期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82816" y="4956048"/>
            <a:ext cx="994409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当天禁退可改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41818" y="4956048"/>
            <a:ext cx="1428749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异常补偿 + 人工托底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35160" y="4956048"/>
            <a:ext cx="994409" cy="402336"/>
          </a:xfrm>
          <a:prstGeom prst="roundRect">
            <a:avLst>
              <a:gd name="adj" fmla="val 50000"/>
            </a:avLst>
          </a:prstGeom>
          <a:solidFill>
            <a:srgbClr val="FAF3DF"/>
          </a:solidFill>
          <a:ln w="1270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950" b="1" i="0">
                <a:solidFill>
                  <a:srgbClr val="7A590B"/>
                </a:solidFill>
                <a:latin typeface="Microsoft YaHei"/>
                <a:ea typeface="Microsoft YaHei"/>
              </a:rPr>
              <a:t>家庭报告共聚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623560"/>
            <a:ext cx="11137392" cy="77724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98000"/>
              </a:lnSpc>
            </a:pPr>
            <a:r>
              <a:rPr sz="1050" b="1" i="0">
                <a:solidFill>
                  <a:srgbClr val="24324E"/>
                </a:solidFill>
                <a:latin typeface="Microsoft YaHei"/>
                <a:ea typeface="Microsoft YaHei"/>
              </a:rPr>
              <a:t>主线契约：</a:t>
            </a:r>
          </a:p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24324E"/>
                </a:solidFill>
                <a:latin typeface="Microsoft YaHei"/>
                <a:ea typeface="Microsoft YaHei"/>
              </a:rPr>
              <a:t>商城/卡券/企业导入统一沉淀为「权益（Benefit）」→ 履约以「主订单 1:1 持有人」为基石 → 资金以「回调驱动 + 镜像对账」保一致 → 数据以「LLM OCR + 标准字典」大一统归档。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91440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2300" b="1" i="0">
                <a:solidFill>
                  <a:srgbClr val="24324E"/>
                </a:solidFill>
                <a:latin typeface="Microsoft YaHei"/>
                <a:ea typeface="Microsoft YaHei"/>
              </a:rPr>
              <a:t>效果与影响 · 四大价值面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22960"/>
            <a:ext cx="91440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6B778C"/>
                </a:solidFill>
                <a:latin typeface="Microsoft YaHei"/>
                <a:ea typeface="Microsoft YaHei"/>
              </a:rPr>
              <a:t>Outcomes · 11 项决策叠加后的系统性收益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12700">
            <a:solidFill>
              <a:srgbClr val="D8E0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02920" y="1554480"/>
            <a:ext cx="266090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2660904" cy="82296"/>
          </a:xfrm>
          <a:prstGeom prst="rect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75564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F6DB3"/>
                </a:solidFill>
                <a:latin typeface="Microsoft YaHei"/>
                <a:ea typeface="Microsoft YaHei"/>
              </a:rPr>
              <a:t>交易与资金安全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350008"/>
            <a:ext cx="91440" cy="91440"/>
          </a:xfrm>
          <a:prstGeom prst="ellipse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49424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双账本镜像对账，阻断超扣与单边账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191256"/>
            <a:ext cx="91440" cy="91440"/>
          </a:xfrm>
          <a:prstGeom prst="ellipse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090672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回调驱动退积分，资金-积分异步联动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032504"/>
            <a:ext cx="91440" cy="91440"/>
          </a:xfrm>
          <a:prstGeom prst="ellipse">
            <a:avLst/>
          </a:prstGeom>
          <a:solidFill>
            <a:srgbClr val="2F6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93192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子订单落标，退款/发票原子级溯源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1554480"/>
            <a:ext cx="266090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3328416" y="1554480"/>
            <a:ext cx="2660904" cy="82296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175564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0E7C86"/>
                </a:solidFill>
                <a:latin typeface="Microsoft YaHei"/>
                <a:ea typeface="Microsoft YaHei"/>
              </a:rPr>
              <a:t>履约边界与体验</a:t>
            </a:r>
          </a:p>
        </p:txBody>
      </p:sp>
      <p:sp>
        <p:nvSpPr>
          <p:cNvPr id="17" name="Oval 16"/>
          <p:cNvSpPr/>
          <p:nvPr/>
        </p:nvSpPr>
        <p:spPr>
          <a:xfrm>
            <a:off x="3511296" y="2350008"/>
            <a:ext cx="91440" cy="9144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2464" y="2249424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同店改期 + 当天禁退可改，边界清晰</a:t>
            </a:r>
          </a:p>
        </p:txBody>
      </p:sp>
      <p:sp>
        <p:nvSpPr>
          <p:cNvPr id="19" name="Oval 18"/>
          <p:cNvSpPr/>
          <p:nvPr/>
        </p:nvSpPr>
        <p:spPr>
          <a:xfrm>
            <a:off x="3511296" y="3191256"/>
            <a:ext cx="91440" cy="9144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2464" y="3090672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主套餐+加项合并原子交付不漏检</a:t>
            </a:r>
          </a:p>
        </p:txBody>
      </p:sp>
      <p:sp>
        <p:nvSpPr>
          <p:cNvPr id="21" name="Oval 20"/>
          <p:cNvSpPr/>
          <p:nvPr/>
        </p:nvSpPr>
        <p:spPr>
          <a:xfrm>
            <a:off x="3511296" y="4032504"/>
            <a:ext cx="91440" cy="9144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2464" y="393192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超期 No-show 自动释放，权益不沉没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1554480"/>
            <a:ext cx="266090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6153912" y="1554480"/>
            <a:ext cx="2660904" cy="82296"/>
          </a:xfrm>
          <a:prstGeom prst="rect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175564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D9722C"/>
                </a:solidFill>
                <a:latin typeface="Microsoft YaHei"/>
                <a:ea typeface="Microsoft YaHei"/>
              </a:rPr>
              <a:t>数据与档案资产</a:t>
            </a:r>
          </a:p>
        </p:txBody>
      </p:sp>
      <p:sp>
        <p:nvSpPr>
          <p:cNvPr id="26" name="Oval 25"/>
          <p:cNvSpPr/>
          <p:nvPr/>
        </p:nvSpPr>
        <p:spPr>
          <a:xfrm>
            <a:off x="6336792" y="2350008"/>
            <a:ext cx="91440" cy="91440"/>
          </a:xfrm>
          <a:prstGeom prst="ellipse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249424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LLM OCR 大一统，公立医院无障碍归档</a:t>
            </a:r>
          </a:p>
        </p:txBody>
      </p:sp>
      <p:sp>
        <p:nvSpPr>
          <p:cNvPr id="28" name="Oval 27"/>
          <p:cNvSpPr/>
          <p:nvPr/>
        </p:nvSpPr>
        <p:spPr>
          <a:xfrm>
            <a:off x="6336792" y="3191256"/>
            <a:ext cx="91440" cy="91440"/>
          </a:xfrm>
          <a:prstGeom prst="ellipse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090672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标准医学字典跨机构可比对齐</a:t>
            </a:r>
          </a:p>
        </p:txBody>
      </p:sp>
      <p:sp>
        <p:nvSpPr>
          <p:cNvPr id="30" name="Oval 29"/>
          <p:cNvSpPr/>
          <p:nvPr/>
        </p:nvSpPr>
        <p:spPr>
          <a:xfrm>
            <a:off x="6336792" y="4032504"/>
            <a:ext cx="91440" cy="91440"/>
          </a:xfrm>
          <a:prstGeom prst="ellipse">
            <a:avLst/>
          </a:prstGeom>
          <a:solidFill>
            <a:srgbClr val="D97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93192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官方档案纯净，外院报告隔离存放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79408" y="1554480"/>
            <a:ext cx="266090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8979408" y="1554480"/>
            <a:ext cx="2660904" cy="82296"/>
          </a:xfrm>
          <a:prstGeom prst="rect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1755648"/>
            <a:ext cx="23774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6D599C"/>
                </a:solidFill>
                <a:latin typeface="Microsoft YaHei"/>
                <a:ea typeface="Microsoft YaHei"/>
              </a:rPr>
              <a:t>B 端与家庭价值</a:t>
            </a:r>
          </a:p>
        </p:txBody>
      </p:sp>
      <p:sp>
        <p:nvSpPr>
          <p:cNvPr id="35" name="Oval 34"/>
          <p:cNvSpPr/>
          <p:nvPr/>
        </p:nvSpPr>
        <p:spPr>
          <a:xfrm>
            <a:off x="9162288" y="2350008"/>
            <a:ext cx="91440" cy="91440"/>
          </a:xfrm>
          <a:prstGeom prst="ellipse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63456" y="2249424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千企千面橱窗，大客户上线降本</a:t>
            </a:r>
          </a:p>
        </p:txBody>
      </p:sp>
      <p:sp>
        <p:nvSpPr>
          <p:cNvPr id="37" name="Oval 36"/>
          <p:cNvSpPr/>
          <p:nvPr/>
        </p:nvSpPr>
        <p:spPr>
          <a:xfrm>
            <a:off x="9162288" y="3191256"/>
            <a:ext cx="91440" cy="91440"/>
          </a:xfrm>
          <a:prstGeom prst="ellipse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3456" y="3090672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HR 异常指标看板，健康干预决策</a:t>
            </a:r>
          </a:p>
        </p:txBody>
      </p:sp>
      <p:sp>
        <p:nvSpPr>
          <p:cNvPr id="39" name="Oval 38"/>
          <p:cNvSpPr/>
          <p:nvPr/>
        </p:nvSpPr>
        <p:spPr>
          <a:xfrm>
            <a:off x="9162288" y="4032504"/>
            <a:ext cx="91440" cy="91440"/>
          </a:xfrm>
          <a:prstGeom prst="ellipse">
            <a:avLst/>
          </a:prstGeom>
          <a:solidFill>
            <a:srgbClr val="6D5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000" b="0" i="0">
                <a:solidFill>
                  <a:srgbClr val="24324E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63456" y="3931920"/>
            <a:ext cx="214884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24324E"/>
                </a:solidFill>
                <a:latin typeface="Microsoft YaHei"/>
                <a:ea typeface="Microsoft YaHei"/>
              </a:rPr>
              <a:t>家属积分共济 + 家庭报告共聚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80160" y="5257800"/>
            <a:ext cx="9628632" cy="777240"/>
          </a:xfrm>
          <a:prstGeom prst="roundRect">
            <a:avLst>
              <a:gd name="adj" fmla="val 16000"/>
            </a:avLst>
          </a:prstGeom>
          <a:solidFill>
            <a:srgbClr val="E1F1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0A5C64"/>
                </a:solidFill>
                <a:latin typeface="Microsoft YaHei"/>
                <a:ea typeface="Microsoft YaHei"/>
              </a:rPr>
              <a:t>以「权益」为中心 · 以「主订单 1:1 持有人」为基石 · 以「回调驱动 + 镜像对账」保一致</a:t>
            </a:r>
          </a:p>
          <a:p>
            <a:pPr algn="ctr">
              <a:lnSpc>
                <a:spcPct val="98000"/>
              </a:lnSpc>
            </a:pPr>
            <a:r>
              <a:rPr sz="1300" b="1" i="0">
                <a:solidFill>
                  <a:srgbClr val="0A5C64"/>
                </a:solidFill>
                <a:latin typeface="Microsoft YaHei"/>
                <a:ea typeface="Microsoft YaHei"/>
              </a:rPr>
              <a:t>支撑企业健康福利的规模化、可审计、可追溯履约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92840" y="6473952"/>
            <a:ext cx="777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98000"/>
              </a:lnSpc>
            </a:pPr>
            <a:r>
              <a:rPr sz="900" b="0" i="0">
                <a:solidFill>
                  <a:srgbClr val="6B778C"/>
                </a:solidFill>
                <a:latin typeface="Microsoft YaHei"/>
                <a:ea typeface="Microsoft YaHe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体检平台架构决策与核心流程</dc:title>
  <dc:subject/>
  <dc:creator>HMSC 架构组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